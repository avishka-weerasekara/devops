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1"/>
  </p:sldMasterIdLst>
  <p:notesMasterIdLst>
    <p:notesMasterId r:id="rId57"/>
  </p:notesMasterIdLst>
  <p:handoutMasterIdLst>
    <p:handoutMasterId r:id="rId58"/>
  </p:handoutMasterIdLst>
  <p:sldIdLst>
    <p:sldId id="256" r:id="rId2"/>
    <p:sldId id="280" r:id="rId3"/>
    <p:sldId id="332" r:id="rId4"/>
    <p:sldId id="357" r:id="rId5"/>
    <p:sldId id="313" r:id="rId6"/>
    <p:sldId id="281" r:id="rId7"/>
    <p:sldId id="291" r:id="rId8"/>
    <p:sldId id="292" r:id="rId9"/>
    <p:sldId id="288" r:id="rId10"/>
    <p:sldId id="289" r:id="rId11"/>
    <p:sldId id="290" r:id="rId12"/>
    <p:sldId id="293" r:id="rId13"/>
    <p:sldId id="298" r:id="rId14"/>
    <p:sldId id="299" r:id="rId15"/>
    <p:sldId id="259" r:id="rId16"/>
    <p:sldId id="300" r:id="rId17"/>
    <p:sldId id="301" r:id="rId18"/>
    <p:sldId id="302" r:id="rId19"/>
    <p:sldId id="303" r:id="rId20"/>
    <p:sldId id="333" r:id="rId21"/>
    <p:sldId id="304" r:id="rId22"/>
    <p:sldId id="305" r:id="rId23"/>
    <p:sldId id="306" r:id="rId24"/>
    <p:sldId id="307" r:id="rId25"/>
    <p:sldId id="263" r:id="rId26"/>
    <p:sldId id="336" r:id="rId27"/>
    <p:sldId id="312" r:id="rId28"/>
    <p:sldId id="311" r:id="rId29"/>
    <p:sldId id="308" r:id="rId30"/>
    <p:sldId id="309" r:id="rId31"/>
    <p:sldId id="310" r:id="rId32"/>
    <p:sldId id="297" r:id="rId33"/>
    <p:sldId id="314" r:id="rId34"/>
    <p:sldId id="315" r:id="rId35"/>
    <p:sldId id="316" r:id="rId36"/>
    <p:sldId id="318" r:id="rId37"/>
    <p:sldId id="346" r:id="rId38"/>
    <p:sldId id="337" r:id="rId39"/>
    <p:sldId id="341" r:id="rId40"/>
    <p:sldId id="339" r:id="rId41"/>
    <p:sldId id="342" r:id="rId42"/>
    <p:sldId id="343" r:id="rId43"/>
    <p:sldId id="344" r:id="rId44"/>
    <p:sldId id="345" r:id="rId45"/>
    <p:sldId id="274" r:id="rId46"/>
    <p:sldId id="347" r:id="rId47"/>
    <p:sldId id="348" r:id="rId48"/>
    <p:sldId id="349" r:id="rId49"/>
    <p:sldId id="352" r:id="rId50"/>
    <p:sldId id="353" r:id="rId51"/>
    <p:sldId id="354" r:id="rId52"/>
    <p:sldId id="355" r:id="rId53"/>
    <p:sldId id="356" r:id="rId54"/>
    <p:sldId id="350" r:id="rId55"/>
    <p:sldId id="351" r:id="rId56"/>
  </p:sldIdLst>
  <p:sldSz cx="9144000" cy="6858000" type="screen4x3"/>
  <p:notesSz cx="9223375" cy="700405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autoAdjust="0"/>
    <p:restoredTop sz="95897" autoAdjust="0"/>
  </p:normalViewPr>
  <p:slideViewPr>
    <p:cSldViewPr>
      <p:cViewPr varScale="1">
        <p:scale>
          <a:sx n="114" d="100"/>
          <a:sy n="114" d="100"/>
        </p:scale>
        <p:origin x="1560" y="1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C5DF21E-326D-F5F0-D008-977DA9F37FB6}"/>
              </a:ext>
            </a:extLst>
          </p:cNvPr>
          <p:cNvSpPr>
            <a:spLocks noGrp="1" noChangeArrowheads="1"/>
          </p:cNvSpPr>
          <p:nvPr>
            <p:ph type="hdr" sz="quarter"/>
          </p:nvPr>
        </p:nvSpPr>
        <p:spPr bwMode="auto">
          <a:xfrm>
            <a:off x="0"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0963" name="Rectangle 3">
            <a:extLst>
              <a:ext uri="{FF2B5EF4-FFF2-40B4-BE49-F238E27FC236}">
                <a16:creationId xmlns:a16="http://schemas.microsoft.com/office/drawing/2014/main" id="{19F62E7A-4CBD-7D70-E741-7872722A2EBC}"/>
              </a:ext>
            </a:extLst>
          </p:cNvPr>
          <p:cNvSpPr>
            <a:spLocks noGrp="1" noChangeArrowheads="1"/>
          </p:cNvSpPr>
          <p:nvPr>
            <p:ph type="dt" sz="quarter" idx="1"/>
          </p:nvPr>
        </p:nvSpPr>
        <p:spPr bwMode="auto">
          <a:xfrm>
            <a:off x="5224463"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r>
              <a:rPr lang="en-US"/>
              <a:t>13 November 2008</a:t>
            </a:r>
          </a:p>
        </p:txBody>
      </p:sp>
      <p:sp>
        <p:nvSpPr>
          <p:cNvPr id="40964" name="Rectangle 4">
            <a:extLst>
              <a:ext uri="{FF2B5EF4-FFF2-40B4-BE49-F238E27FC236}">
                <a16:creationId xmlns:a16="http://schemas.microsoft.com/office/drawing/2014/main" id="{1AAE9BCC-3755-58A5-EA7D-1F4AB74E6456}"/>
              </a:ext>
            </a:extLst>
          </p:cNvPr>
          <p:cNvSpPr>
            <a:spLocks noGrp="1" noChangeArrowheads="1"/>
          </p:cNvSpPr>
          <p:nvPr>
            <p:ph type="ftr" sz="quarter" idx="2"/>
          </p:nvPr>
        </p:nvSpPr>
        <p:spPr bwMode="auto">
          <a:xfrm>
            <a:off x="0" y="6651625"/>
            <a:ext cx="3997325" cy="350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0965" name="Rectangle 5">
            <a:extLst>
              <a:ext uri="{FF2B5EF4-FFF2-40B4-BE49-F238E27FC236}">
                <a16:creationId xmlns:a16="http://schemas.microsoft.com/office/drawing/2014/main" id="{FA90CA61-4657-025F-C588-5C5290BEC235}"/>
              </a:ext>
            </a:extLst>
          </p:cNvPr>
          <p:cNvSpPr>
            <a:spLocks noGrp="1" noChangeArrowheads="1"/>
          </p:cNvSpPr>
          <p:nvPr>
            <p:ph type="sldNum" sz="quarter" idx="3"/>
          </p:nvPr>
        </p:nvSpPr>
        <p:spPr bwMode="auto">
          <a:xfrm>
            <a:off x="5224463" y="6651625"/>
            <a:ext cx="3997325" cy="350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BFE6DD28-11D2-4941-B4D3-EE9C53DEAE9B}"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F0D1AC53-771B-EC34-A0CA-C533A55455B1}"/>
              </a:ext>
            </a:extLst>
          </p:cNvPr>
          <p:cNvSpPr>
            <a:spLocks noGrp="1" noChangeArrowheads="1"/>
          </p:cNvSpPr>
          <p:nvPr>
            <p:ph type="hdr" sz="quarter"/>
          </p:nvPr>
        </p:nvSpPr>
        <p:spPr bwMode="auto">
          <a:xfrm>
            <a:off x="0"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9155" name="Rectangle 3">
            <a:extLst>
              <a:ext uri="{FF2B5EF4-FFF2-40B4-BE49-F238E27FC236}">
                <a16:creationId xmlns:a16="http://schemas.microsoft.com/office/drawing/2014/main" id="{3F22C25C-0F0D-430B-C124-79DCF8D3B86E}"/>
              </a:ext>
            </a:extLst>
          </p:cNvPr>
          <p:cNvSpPr>
            <a:spLocks noGrp="1" noChangeArrowheads="1"/>
          </p:cNvSpPr>
          <p:nvPr>
            <p:ph type="dt" idx="1"/>
          </p:nvPr>
        </p:nvSpPr>
        <p:spPr bwMode="auto">
          <a:xfrm>
            <a:off x="5224463"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r>
              <a:rPr lang="en-US"/>
              <a:t>13 November 2008</a:t>
            </a:r>
          </a:p>
        </p:txBody>
      </p:sp>
      <p:sp>
        <p:nvSpPr>
          <p:cNvPr id="13316" name="Rectangle 4">
            <a:extLst>
              <a:ext uri="{FF2B5EF4-FFF2-40B4-BE49-F238E27FC236}">
                <a16:creationId xmlns:a16="http://schemas.microsoft.com/office/drawing/2014/main" id="{14E8C9D5-57F1-241F-7D37-D1ED3D98A09A}"/>
              </a:ext>
            </a:extLst>
          </p:cNvPr>
          <p:cNvSpPr>
            <a:spLocks noRot="1" noChangeArrowheads="1" noTextEdit="1"/>
          </p:cNvSpPr>
          <p:nvPr>
            <p:ph type="sldImg" idx="2"/>
          </p:nvPr>
        </p:nvSpPr>
        <p:spPr bwMode="auto">
          <a:xfrm>
            <a:off x="2860675" y="525463"/>
            <a:ext cx="3502025" cy="2625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7" name="Rectangle 5">
            <a:extLst>
              <a:ext uri="{FF2B5EF4-FFF2-40B4-BE49-F238E27FC236}">
                <a16:creationId xmlns:a16="http://schemas.microsoft.com/office/drawing/2014/main" id="{2C0E7B08-9C1D-47D7-53DD-A4C418F256D6}"/>
              </a:ext>
            </a:extLst>
          </p:cNvPr>
          <p:cNvSpPr>
            <a:spLocks noGrp="1" noChangeArrowheads="1"/>
          </p:cNvSpPr>
          <p:nvPr>
            <p:ph type="body" sz="quarter" idx="3"/>
          </p:nvPr>
        </p:nvSpPr>
        <p:spPr bwMode="auto">
          <a:xfrm>
            <a:off x="922338" y="3327400"/>
            <a:ext cx="7378700" cy="3151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6">
            <a:extLst>
              <a:ext uri="{FF2B5EF4-FFF2-40B4-BE49-F238E27FC236}">
                <a16:creationId xmlns:a16="http://schemas.microsoft.com/office/drawing/2014/main" id="{67B4BDD4-0421-B2A0-1D8F-769556DA484C}"/>
              </a:ext>
            </a:extLst>
          </p:cNvPr>
          <p:cNvSpPr>
            <a:spLocks noGrp="1" noChangeArrowheads="1"/>
          </p:cNvSpPr>
          <p:nvPr>
            <p:ph type="ftr" sz="quarter" idx="4"/>
          </p:nvPr>
        </p:nvSpPr>
        <p:spPr bwMode="auto">
          <a:xfrm>
            <a:off x="0" y="6653213"/>
            <a:ext cx="3997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9159" name="Rectangle 7">
            <a:extLst>
              <a:ext uri="{FF2B5EF4-FFF2-40B4-BE49-F238E27FC236}">
                <a16:creationId xmlns:a16="http://schemas.microsoft.com/office/drawing/2014/main" id="{41ABCCBA-FFA0-36FC-641A-4165E0C773FC}"/>
              </a:ext>
            </a:extLst>
          </p:cNvPr>
          <p:cNvSpPr>
            <a:spLocks noGrp="1" noChangeArrowheads="1"/>
          </p:cNvSpPr>
          <p:nvPr>
            <p:ph type="sldNum" sz="quarter" idx="5"/>
          </p:nvPr>
        </p:nvSpPr>
        <p:spPr bwMode="auto">
          <a:xfrm>
            <a:off x="5224463" y="6653213"/>
            <a:ext cx="3997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3ABBA58F-0F99-B54C-8863-2E08519B1D8C}"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C8A2A05A-D1CD-6748-9068-ABFD31AF05F4}"/>
              </a:ext>
            </a:extLst>
          </p:cNvPr>
          <p:cNvSpPr>
            <a:spLocks noGrp="1" noRot="1" noChangeAspect="1" noTextEdit="1"/>
          </p:cNvSpPr>
          <p:nvPr>
            <p:ph type="sldImg"/>
          </p:nvPr>
        </p:nvSpPr>
        <p:spPr>
          <a:ln/>
        </p:spPr>
      </p:sp>
      <p:sp>
        <p:nvSpPr>
          <p:cNvPr id="16386" name="Notes Placeholder 2">
            <a:extLst>
              <a:ext uri="{FF2B5EF4-FFF2-40B4-BE49-F238E27FC236}">
                <a16:creationId xmlns:a16="http://schemas.microsoft.com/office/drawing/2014/main" id="{3B29522A-3365-7ADF-66D1-45F095651D0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6387" name="Date Placeholder 3">
            <a:extLst>
              <a:ext uri="{FF2B5EF4-FFF2-40B4-BE49-F238E27FC236}">
                <a16:creationId xmlns:a16="http://schemas.microsoft.com/office/drawing/2014/main" id="{54A05C2A-497C-2A61-2DD8-B291A4A24D7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16388" name="Slide Number Placeholder 4">
            <a:extLst>
              <a:ext uri="{FF2B5EF4-FFF2-40B4-BE49-F238E27FC236}">
                <a16:creationId xmlns:a16="http://schemas.microsoft.com/office/drawing/2014/main" id="{196834BA-1E69-06CB-A880-A8891B12B2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532A9E-76CE-2A4E-8873-23460EF6DD33}"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id="{7369FAEC-0500-975E-689D-0B36DCD944C3}"/>
              </a:ext>
            </a:extLst>
          </p:cNvPr>
          <p:cNvSpPr>
            <a:spLocks noGrp="1" noRot="1" noChangeAspect="1" noTextEdit="1"/>
          </p:cNvSpPr>
          <p:nvPr>
            <p:ph type="sldImg"/>
          </p:nvPr>
        </p:nvSpPr>
        <p:spPr>
          <a:ln/>
        </p:spPr>
      </p:sp>
      <p:sp>
        <p:nvSpPr>
          <p:cNvPr id="27650" name="Notes Placeholder 2">
            <a:extLst>
              <a:ext uri="{FF2B5EF4-FFF2-40B4-BE49-F238E27FC236}">
                <a16:creationId xmlns:a16="http://schemas.microsoft.com/office/drawing/2014/main" id="{88DF22E6-F4D1-69A3-B990-1656AE202B8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Singleton</a:t>
            </a:r>
          </a:p>
          <a:p>
            <a:r>
              <a:rPr lang="en-US" altLang="en-US">
                <a:latin typeface="Arial" panose="020B0604020202020204" pitchFamily="34" charset="0"/>
              </a:rPr>
              <a:t>Template</a:t>
            </a:r>
          </a:p>
          <a:p>
            <a:r>
              <a:rPr lang="en-US" altLang="en-US">
                <a:latin typeface="Arial" panose="020B0604020202020204" pitchFamily="34" charset="0"/>
              </a:rPr>
              <a:t>Strategy</a:t>
            </a:r>
          </a:p>
        </p:txBody>
      </p:sp>
      <p:sp>
        <p:nvSpPr>
          <p:cNvPr id="27651" name="Date Placeholder 3">
            <a:extLst>
              <a:ext uri="{FF2B5EF4-FFF2-40B4-BE49-F238E27FC236}">
                <a16:creationId xmlns:a16="http://schemas.microsoft.com/office/drawing/2014/main" id="{57D8D53E-9FA6-57E5-1727-F80F386974B1}"/>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27652" name="Slide Number Placeholder 4">
            <a:extLst>
              <a:ext uri="{FF2B5EF4-FFF2-40B4-BE49-F238E27FC236}">
                <a16:creationId xmlns:a16="http://schemas.microsoft.com/office/drawing/2014/main" id="{8D06E9DB-B486-965E-7865-7CF3714EE91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DB76BD6-17B3-BA40-96AB-3FE937BD777A}" type="slidenum">
              <a:rPr lang="en-US" altLang="en-US"/>
              <a:pPr/>
              <a:t>5</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66E231F-D1F1-59FC-C002-592A0CC03B0E}"/>
              </a:ext>
            </a:extLst>
          </p:cNvPr>
          <p:cNvSpPr>
            <a:spLocks noGrp="1" noRot="1" noChangeAspect="1" noTextEdit="1"/>
          </p:cNvSpPr>
          <p:nvPr>
            <p:ph type="sldImg"/>
          </p:nvPr>
        </p:nvSpPr>
        <p:spPr>
          <a:ln/>
        </p:spPr>
      </p:sp>
      <p:sp>
        <p:nvSpPr>
          <p:cNvPr id="31746" name="Notes Placeholder 2">
            <a:extLst>
              <a:ext uri="{FF2B5EF4-FFF2-40B4-BE49-F238E27FC236}">
                <a16:creationId xmlns:a16="http://schemas.microsoft.com/office/drawing/2014/main" id="{0FE553A3-1528-7274-ACC6-B8740A68372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1747" name="Date Placeholder 3">
            <a:extLst>
              <a:ext uri="{FF2B5EF4-FFF2-40B4-BE49-F238E27FC236}">
                <a16:creationId xmlns:a16="http://schemas.microsoft.com/office/drawing/2014/main" id="{0C3A717B-D8C3-9DAB-364B-FBB8CDDEA28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31748" name="Slide Number Placeholder 4">
            <a:extLst>
              <a:ext uri="{FF2B5EF4-FFF2-40B4-BE49-F238E27FC236}">
                <a16:creationId xmlns:a16="http://schemas.microsoft.com/office/drawing/2014/main" id="{223FF32F-415D-42E0-C5DB-85A80C0E43E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347CF35-AB32-8D42-A959-406C169E09FF}" type="slidenum">
              <a:rPr lang="en-US" altLang="en-US"/>
              <a:pPr/>
              <a:t>8</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1C47E81E-BB4F-D26E-A76B-F08343EF0CC9}"/>
              </a:ext>
            </a:extLst>
          </p:cNvPr>
          <p:cNvSpPr>
            <a:spLocks noGrp="1" noRot="1" noChangeAspect="1" noTextEdit="1"/>
          </p:cNvSpPr>
          <p:nvPr>
            <p:ph type="sldImg"/>
          </p:nvPr>
        </p:nvSpPr>
        <p:spPr>
          <a:ln/>
        </p:spPr>
      </p:sp>
      <p:sp>
        <p:nvSpPr>
          <p:cNvPr id="33794" name="Notes Placeholder 2">
            <a:extLst>
              <a:ext uri="{FF2B5EF4-FFF2-40B4-BE49-F238E27FC236}">
                <a16:creationId xmlns:a16="http://schemas.microsoft.com/office/drawing/2014/main" id="{C2CC759B-A83C-E203-577B-6927CB351F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3795" name="Date Placeholder 3">
            <a:extLst>
              <a:ext uri="{FF2B5EF4-FFF2-40B4-BE49-F238E27FC236}">
                <a16:creationId xmlns:a16="http://schemas.microsoft.com/office/drawing/2014/main" id="{1E158152-0000-0293-8946-660925543368}"/>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33796" name="Slide Number Placeholder 4">
            <a:extLst>
              <a:ext uri="{FF2B5EF4-FFF2-40B4-BE49-F238E27FC236}">
                <a16:creationId xmlns:a16="http://schemas.microsoft.com/office/drawing/2014/main" id="{ABFD25CA-994E-6390-0475-AE0C3D21856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D8238E1-9C12-274E-8CA3-9E43FCA770B6}" type="slidenum">
              <a:rPr lang="en-US" altLang="en-US"/>
              <a:pPr/>
              <a:t>9</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FC9DF728-EF6D-10C8-58B7-E5C52FF24522}"/>
              </a:ext>
            </a:extLst>
          </p:cNvPr>
          <p:cNvSpPr>
            <a:spLocks noGrp="1" noRot="1" noChangeAspect="1" noTextEdit="1"/>
          </p:cNvSpPr>
          <p:nvPr>
            <p:ph type="sldImg"/>
          </p:nvPr>
        </p:nvSpPr>
        <p:spPr>
          <a:ln/>
        </p:spPr>
      </p:sp>
      <p:sp>
        <p:nvSpPr>
          <p:cNvPr id="57346" name="Notes Placeholder 2">
            <a:extLst>
              <a:ext uri="{FF2B5EF4-FFF2-40B4-BE49-F238E27FC236}">
                <a16:creationId xmlns:a16="http://schemas.microsoft.com/office/drawing/2014/main" id="{DD4104C6-D8AD-B3C7-411F-30019E17915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Remove the abstract keyword</a:t>
            </a:r>
          </a:p>
        </p:txBody>
      </p:sp>
      <p:sp>
        <p:nvSpPr>
          <p:cNvPr id="57347" name="Date Placeholder 3">
            <a:extLst>
              <a:ext uri="{FF2B5EF4-FFF2-40B4-BE49-F238E27FC236}">
                <a16:creationId xmlns:a16="http://schemas.microsoft.com/office/drawing/2014/main" id="{A7C70108-44DC-9452-EEEA-E2CEA48DB176}"/>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57348" name="Slide Number Placeholder 4">
            <a:extLst>
              <a:ext uri="{FF2B5EF4-FFF2-40B4-BE49-F238E27FC236}">
                <a16:creationId xmlns:a16="http://schemas.microsoft.com/office/drawing/2014/main" id="{5B43B656-466E-63A3-0429-AD0814B5514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3C37BBA-88D8-824C-801C-C5D35F63A312}" type="slidenum">
              <a:rPr lang="en-US" altLang="en-US"/>
              <a:pPr/>
              <a:t>31</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a:extLst>
              <a:ext uri="{FF2B5EF4-FFF2-40B4-BE49-F238E27FC236}">
                <a16:creationId xmlns:a16="http://schemas.microsoft.com/office/drawing/2014/main" id="{57DE08E8-8DF7-2D22-7189-01040A1D1DC2}"/>
              </a:ext>
            </a:extLst>
          </p:cNvPr>
          <p:cNvSpPr>
            <a:spLocks noGrp="1" noRot="1" noChangeAspect="1" noTextEdit="1"/>
          </p:cNvSpPr>
          <p:nvPr>
            <p:ph type="sldImg"/>
          </p:nvPr>
        </p:nvSpPr>
        <p:spPr>
          <a:ln/>
        </p:spPr>
      </p:sp>
      <p:sp>
        <p:nvSpPr>
          <p:cNvPr id="76802" name="Notes Placeholder 2">
            <a:extLst>
              <a:ext uri="{FF2B5EF4-FFF2-40B4-BE49-F238E27FC236}">
                <a16:creationId xmlns:a16="http://schemas.microsoft.com/office/drawing/2014/main" id="{733D2F57-98B1-8271-6258-BE3CC0E5DE7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6803" name="Date Placeholder 3">
            <a:extLst>
              <a:ext uri="{FF2B5EF4-FFF2-40B4-BE49-F238E27FC236}">
                <a16:creationId xmlns:a16="http://schemas.microsoft.com/office/drawing/2014/main" id="{07D9EDCE-1E25-A1E4-6E25-78D7D90C1061}"/>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76804" name="Slide Number Placeholder 4">
            <a:extLst>
              <a:ext uri="{FF2B5EF4-FFF2-40B4-BE49-F238E27FC236}">
                <a16:creationId xmlns:a16="http://schemas.microsoft.com/office/drawing/2014/main" id="{1BB3DD0D-E172-15D5-62F1-C651BF9C6B0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255C9F-9AA0-524B-A004-9F4CFE17D54E}" type="slidenum">
              <a:rPr lang="en-US" altLang="en-US"/>
              <a:pPr/>
              <a:t>47</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2B668F5-046B-B22A-D0F3-BB8E44805120}"/>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956C925B-7E97-10F4-A724-64370E70D2E2}"/>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LK" altLang="en-LK" sz="2400">
                <a:latin typeface="Times New Roman" panose="02020603050405020304" pitchFamily="18" charset="0"/>
              </a:endParaRPr>
            </a:p>
          </p:txBody>
        </p:sp>
        <p:sp>
          <p:nvSpPr>
            <p:cNvPr id="4" name="Rectangle 4">
              <a:extLst>
                <a:ext uri="{FF2B5EF4-FFF2-40B4-BE49-F238E27FC236}">
                  <a16:creationId xmlns:a16="http://schemas.microsoft.com/office/drawing/2014/main" id="{58BDD4E7-D0CB-9CDF-947C-FBC4DE9A4DB4}"/>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grpSp>
          <p:nvGrpSpPr>
            <p:cNvPr id="5" name="Group 5">
              <a:extLst>
                <a:ext uri="{FF2B5EF4-FFF2-40B4-BE49-F238E27FC236}">
                  <a16:creationId xmlns:a16="http://schemas.microsoft.com/office/drawing/2014/main" id="{40077450-A18D-BFB6-DD33-1CBBF64964BD}"/>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DEDC7D00-83C4-2ACC-A46E-E0D12D102A03}"/>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7" name="Rectangle 7">
                <a:extLst>
                  <a:ext uri="{FF2B5EF4-FFF2-40B4-BE49-F238E27FC236}">
                    <a16:creationId xmlns:a16="http://schemas.microsoft.com/office/drawing/2014/main" id="{B7974FC5-189E-FFB7-8944-C02F49C6AEBC}"/>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8" name="Rectangle 8">
                <a:extLst>
                  <a:ext uri="{FF2B5EF4-FFF2-40B4-BE49-F238E27FC236}">
                    <a16:creationId xmlns:a16="http://schemas.microsoft.com/office/drawing/2014/main" id="{1F286ABD-8B44-ECFD-3956-B20E860F449C}"/>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9" name="Rectangle 9">
                <a:extLst>
                  <a:ext uri="{FF2B5EF4-FFF2-40B4-BE49-F238E27FC236}">
                    <a16:creationId xmlns:a16="http://schemas.microsoft.com/office/drawing/2014/main" id="{25B4E724-0D3D-B2A6-45F3-40CFBE696FDA}"/>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0" name="Rectangle 10">
                <a:extLst>
                  <a:ext uri="{FF2B5EF4-FFF2-40B4-BE49-F238E27FC236}">
                    <a16:creationId xmlns:a16="http://schemas.microsoft.com/office/drawing/2014/main" id="{C3B7091F-1BFD-4576-1EC2-43B985EE783A}"/>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1" name="Rectangle 11">
                <a:extLst>
                  <a:ext uri="{FF2B5EF4-FFF2-40B4-BE49-F238E27FC236}">
                    <a16:creationId xmlns:a16="http://schemas.microsoft.com/office/drawing/2014/main" id="{26A3A658-E503-1873-F6D0-05D6C0F1222C}"/>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2" name="Rectangle 12">
                <a:extLst>
                  <a:ext uri="{FF2B5EF4-FFF2-40B4-BE49-F238E27FC236}">
                    <a16:creationId xmlns:a16="http://schemas.microsoft.com/office/drawing/2014/main" id="{DEA50EC6-08C3-AE22-5794-D60A0E676258}"/>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3" name="Rectangle 13">
                <a:extLst>
                  <a:ext uri="{FF2B5EF4-FFF2-40B4-BE49-F238E27FC236}">
                    <a16:creationId xmlns:a16="http://schemas.microsoft.com/office/drawing/2014/main" id="{3623C7BC-FA04-1DE2-7B3C-7665D2659EC9}"/>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4" name="Rectangle 14">
                <a:extLst>
                  <a:ext uri="{FF2B5EF4-FFF2-40B4-BE49-F238E27FC236}">
                    <a16:creationId xmlns:a16="http://schemas.microsoft.com/office/drawing/2014/main" id="{9ACAA5B1-11EF-5403-C0A7-88029C1F7E19}"/>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5" name="Rectangle 15">
                <a:extLst>
                  <a:ext uri="{FF2B5EF4-FFF2-40B4-BE49-F238E27FC236}">
                    <a16:creationId xmlns:a16="http://schemas.microsoft.com/office/drawing/2014/main" id="{A72023FC-40A1-2AE4-8A77-62F5DCE51255}"/>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grpSp>
      </p:grpSp>
      <p:sp>
        <p:nvSpPr>
          <p:cNvPr id="47123" name="Rectangle 19"/>
          <p:cNvSpPr>
            <a:spLocks noGrp="1" noChangeArrowheads="1"/>
          </p:cNvSpPr>
          <p:nvPr>
            <p:ph type="ctrTitle"/>
          </p:nvPr>
        </p:nvSpPr>
        <p:spPr>
          <a:xfrm>
            <a:off x="2971800" y="1828800"/>
            <a:ext cx="6019800" cy="2209800"/>
          </a:xfrm>
        </p:spPr>
        <p:txBody>
          <a:bodyPr/>
          <a:lstStyle>
            <a:lvl1pPr>
              <a:defRPr sz="3800">
                <a:solidFill>
                  <a:srgbClr val="FFFFFF"/>
                </a:solidFill>
              </a:defRPr>
            </a:lvl1pPr>
          </a:lstStyle>
          <a:p>
            <a:r>
              <a:rPr lang="en-US"/>
              <a:t>Click to edit Master title style</a:t>
            </a:r>
          </a:p>
        </p:txBody>
      </p:sp>
      <p:sp>
        <p:nvSpPr>
          <p:cNvPr id="47124"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2600"/>
            </a:lvl1pPr>
          </a:lstStyle>
          <a:p>
            <a:r>
              <a:rPr lang="en-US"/>
              <a:t>Click to edit Master subtitle style</a:t>
            </a:r>
          </a:p>
        </p:txBody>
      </p:sp>
      <p:sp>
        <p:nvSpPr>
          <p:cNvPr id="16" name="Rectangle 16">
            <a:extLst>
              <a:ext uri="{FF2B5EF4-FFF2-40B4-BE49-F238E27FC236}">
                <a16:creationId xmlns:a16="http://schemas.microsoft.com/office/drawing/2014/main" id="{17F08B27-2E96-8688-15F2-2E6FB270616D}"/>
              </a:ext>
            </a:extLst>
          </p:cNvPr>
          <p:cNvSpPr>
            <a:spLocks noGrp="1" noChangeArrowheads="1"/>
          </p:cNvSpPr>
          <p:nvPr>
            <p:ph type="dt" sz="half" idx="10"/>
          </p:nvPr>
        </p:nvSpPr>
        <p:spPr>
          <a:xfrm>
            <a:off x="457200" y="6248400"/>
            <a:ext cx="2133600" cy="457200"/>
          </a:xfrm>
        </p:spPr>
        <p:txBody>
          <a:bodyPr/>
          <a:lstStyle>
            <a:lvl1pPr>
              <a:defRPr/>
            </a:lvl1pPr>
          </a:lstStyle>
          <a:p>
            <a:pPr>
              <a:defRPr/>
            </a:pPr>
            <a:fld id="{BE3F4D32-5CCE-CB4D-9AF1-726F13B91635}" type="datetime1">
              <a:rPr lang="en-US"/>
              <a:pPr>
                <a:defRPr/>
              </a:pPr>
              <a:t>3/13/24</a:t>
            </a:fld>
            <a:endParaRPr lang="en-US"/>
          </a:p>
        </p:txBody>
      </p:sp>
      <p:sp>
        <p:nvSpPr>
          <p:cNvPr id="17" name="Rectangle 17">
            <a:extLst>
              <a:ext uri="{FF2B5EF4-FFF2-40B4-BE49-F238E27FC236}">
                <a16:creationId xmlns:a16="http://schemas.microsoft.com/office/drawing/2014/main" id="{7FB3F7D8-0E6D-E8D2-88C9-E1181AF8E76C}"/>
              </a:ext>
            </a:extLst>
          </p:cNvPr>
          <p:cNvSpPr>
            <a:spLocks noGrp="1" noChangeArrowheads="1"/>
          </p:cNvSpPr>
          <p:nvPr>
            <p:ph type="ftr" sz="quarter" idx="11"/>
          </p:nvPr>
        </p:nvSpPr>
        <p:spPr/>
        <p:txBody>
          <a:bodyPr/>
          <a:lstStyle>
            <a:lvl1pPr>
              <a:defRPr/>
            </a:lvl1pPr>
          </a:lstStyle>
          <a:p>
            <a:pPr>
              <a:defRPr/>
            </a:pPr>
            <a:endParaRPr lang="en-US"/>
          </a:p>
        </p:txBody>
      </p:sp>
      <p:sp>
        <p:nvSpPr>
          <p:cNvPr id="18" name="Rectangle 18">
            <a:extLst>
              <a:ext uri="{FF2B5EF4-FFF2-40B4-BE49-F238E27FC236}">
                <a16:creationId xmlns:a16="http://schemas.microsoft.com/office/drawing/2014/main" id="{FFB4EB74-40CC-CCA4-97E6-95A4E7809059}"/>
              </a:ext>
            </a:extLst>
          </p:cNvPr>
          <p:cNvSpPr>
            <a:spLocks noGrp="1" noChangeArrowheads="1"/>
          </p:cNvSpPr>
          <p:nvPr>
            <p:ph type="sldNum" sz="quarter" idx="12"/>
          </p:nvPr>
        </p:nvSpPr>
        <p:spPr/>
        <p:txBody>
          <a:bodyPr/>
          <a:lstStyle>
            <a:lvl1pPr>
              <a:defRPr sz="1200"/>
            </a:lvl1pPr>
          </a:lstStyle>
          <a:p>
            <a:fld id="{EFCBC19C-6646-7445-A216-9DA3E78843E1}" type="slidenum">
              <a:rPr lang="en-US" altLang="en-US"/>
              <a:pPr/>
              <a:t>‹#›</a:t>
            </a:fld>
            <a:endParaRPr lang="en-US" altLang="en-US"/>
          </a:p>
        </p:txBody>
      </p:sp>
    </p:spTree>
    <p:extLst>
      <p:ext uri="{BB962C8B-B14F-4D97-AF65-F5344CB8AC3E}">
        <p14:creationId xmlns:p14="http://schemas.microsoft.com/office/powerpoint/2010/main" val="869687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34FA4689-1324-18D3-F2AD-F3667425D73A}"/>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671B917E-3D5E-E434-3B71-D8FDB7EA7BB8}"/>
              </a:ext>
            </a:extLst>
          </p:cNvPr>
          <p:cNvSpPr>
            <a:spLocks noGrp="1" noChangeArrowheads="1"/>
          </p:cNvSpPr>
          <p:nvPr>
            <p:ph type="sldNum" sz="quarter" idx="11"/>
          </p:nvPr>
        </p:nvSpPr>
        <p:spPr>
          <a:ln/>
        </p:spPr>
        <p:txBody>
          <a:bodyPr/>
          <a:lstStyle>
            <a:lvl1pPr>
              <a:defRPr/>
            </a:lvl1pPr>
          </a:lstStyle>
          <a:p>
            <a:fld id="{4D7669F9-01E8-5F4A-A293-7A2949F3BC96}" type="slidenum">
              <a:rPr lang="en-US" altLang="en-US"/>
              <a:pPr/>
              <a:t>‹#›</a:t>
            </a:fld>
            <a:endParaRPr lang="en-US" altLang="en-US"/>
          </a:p>
        </p:txBody>
      </p:sp>
      <p:sp>
        <p:nvSpPr>
          <p:cNvPr id="6" name="Rectangle 16">
            <a:extLst>
              <a:ext uri="{FF2B5EF4-FFF2-40B4-BE49-F238E27FC236}">
                <a16:creationId xmlns:a16="http://schemas.microsoft.com/office/drawing/2014/main" id="{BB1DC037-4F29-263F-CB41-47800E75D78A}"/>
              </a:ext>
            </a:extLst>
          </p:cNvPr>
          <p:cNvSpPr>
            <a:spLocks noGrp="1" noChangeArrowheads="1"/>
          </p:cNvSpPr>
          <p:nvPr>
            <p:ph type="dt" sz="half" idx="12"/>
          </p:nvPr>
        </p:nvSpPr>
        <p:spPr>
          <a:ln/>
        </p:spPr>
        <p:txBody>
          <a:bodyPr/>
          <a:lstStyle>
            <a:lvl1pPr>
              <a:defRPr/>
            </a:lvl1pPr>
          </a:lstStyle>
          <a:p>
            <a:pPr>
              <a:defRPr/>
            </a:pPr>
            <a:fld id="{CC21AA47-C3BC-214B-8255-FEA745D6CE26}" type="datetime1">
              <a:rPr lang="en-US"/>
              <a:pPr>
                <a:defRPr/>
              </a:pPr>
              <a:t>3/13/24</a:t>
            </a:fld>
            <a:endParaRPr lang="en-US"/>
          </a:p>
        </p:txBody>
      </p:sp>
    </p:spTree>
    <p:extLst>
      <p:ext uri="{BB962C8B-B14F-4D97-AF65-F5344CB8AC3E}">
        <p14:creationId xmlns:p14="http://schemas.microsoft.com/office/powerpoint/2010/main" val="2088229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6EA73A54-E71C-A325-6AEA-16DDD088E71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A9058348-F3B6-A948-9B2E-5D0DC4EECD1A}"/>
              </a:ext>
            </a:extLst>
          </p:cNvPr>
          <p:cNvSpPr>
            <a:spLocks noGrp="1" noChangeArrowheads="1"/>
          </p:cNvSpPr>
          <p:nvPr>
            <p:ph type="sldNum" sz="quarter" idx="11"/>
          </p:nvPr>
        </p:nvSpPr>
        <p:spPr>
          <a:ln/>
        </p:spPr>
        <p:txBody>
          <a:bodyPr/>
          <a:lstStyle>
            <a:lvl1pPr>
              <a:defRPr/>
            </a:lvl1pPr>
          </a:lstStyle>
          <a:p>
            <a:fld id="{48DB594E-9CE2-FA42-8E1B-F9CD211A7BEE}" type="slidenum">
              <a:rPr lang="en-US" altLang="en-US"/>
              <a:pPr/>
              <a:t>‹#›</a:t>
            </a:fld>
            <a:endParaRPr lang="en-US" altLang="en-US"/>
          </a:p>
        </p:txBody>
      </p:sp>
      <p:sp>
        <p:nvSpPr>
          <p:cNvPr id="6" name="Rectangle 16">
            <a:extLst>
              <a:ext uri="{FF2B5EF4-FFF2-40B4-BE49-F238E27FC236}">
                <a16:creationId xmlns:a16="http://schemas.microsoft.com/office/drawing/2014/main" id="{AC6C7BE8-DA1D-BABB-5799-04C533258C0A}"/>
              </a:ext>
            </a:extLst>
          </p:cNvPr>
          <p:cNvSpPr>
            <a:spLocks noGrp="1" noChangeArrowheads="1"/>
          </p:cNvSpPr>
          <p:nvPr>
            <p:ph type="dt" sz="half" idx="12"/>
          </p:nvPr>
        </p:nvSpPr>
        <p:spPr>
          <a:ln/>
        </p:spPr>
        <p:txBody>
          <a:bodyPr/>
          <a:lstStyle>
            <a:lvl1pPr>
              <a:defRPr/>
            </a:lvl1pPr>
          </a:lstStyle>
          <a:p>
            <a:pPr>
              <a:defRPr/>
            </a:pPr>
            <a:fld id="{1381E094-6EC5-1540-BD2C-850AA4728C22}" type="datetime1">
              <a:rPr lang="en-US"/>
              <a:pPr>
                <a:defRPr/>
              </a:pPr>
              <a:t>3/13/24</a:t>
            </a:fld>
            <a:endParaRPr lang="en-US"/>
          </a:p>
        </p:txBody>
      </p:sp>
    </p:spTree>
    <p:extLst>
      <p:ext uri="{BB962C8B-B14F-4D97-AF65-F5344CB8AC3E}">
        <p14:creationId xmlns:p14="http://schemas.microsoft.com/office/powerpoint/2010/main" val="3894750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a:extLst>
              <a:ext uri="{FF2B5EF4-FFF2-40B4-BE49-F238E27FC236}">
                <a16:creationId xmlns:a16="http://schemas.microsoft.com/office/drawing/2014/main" id="{D1A51F5C-406E-D10C-860E-0B11957AA459}"/>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C259CFE6-7526-F6FD-DCA1-F53E785F0AC9}"/>
              </a:ext>
            </a:extLst>
          </p:cNvPr>
          <p:cNvSpPr>
            <a:spLocks noGrp="1" noChangeArrowheads="1"/>
          </p:cNvSpPr>
          <p:nvPr>
            <p:ph type="sldNum" sz="quarter" idx="11"/>
          </p:nvPr>
        </p:nvSpPr>
        <p:spPr>
          <a:ln/>
        </p:spPr>
        <p:txBody>
          <a:bodyPr/>
          <a:lstStyle>
            <a:lvl1pPr>
              <a:defRPr/>
            </a:lvl1pPr>
          </a:lstStyle>
          <a:p>
            <a:fld id="{31BB2038-0B2E-D843-9F06-60103043F11D}" type="slidenum">
              <a:rPr lang="en-US" altLang="en-US"/>
              <a:pPr/>
              <a:t>‹#›</a:t>
            </a:fld>
            <a:endParaRPr lang="en-US" altLang="en-US"/>
          </a:p>
        </p:txBody>
      </p:sp>
      <p:sp>
        <p:nvSpPr>
          <p:cNvPr id="7" name="Rectangle 16">
            <a:extLst>
              <a:ext uri="{FF2B5EF4-FFF2-40B4-BE49-F238E27FC236}">
                <a16:creationId xmlns:a16="http://schemas.microsoft.com/office/drawing/2014/main" id="{31793C09-ED9D-A429-1D10-F7C3304D5636}"/>
              </a:ext>
            </a:extLst>
          </p:cNvPr>
          <p:cNvSpPr>
            <a:spLocks noGrp="1" noChangeArrowheads="1"/>
          </p:cNvSpPr>
          <p:nvPr>
            <p:ph type="dt" sz="half" idx="12"/>
          </p:nvPr>
        </p:nvSpPr>
        <p:spPr>
          <a:ln/>
        </p:spPr>
        <p:txBody>
          <a:bodyPr/>
          <a:lstStyle>
            <a:lvl1pPr>
              <a:defRPr/>
            </a:lvl1pPr>
          </a:lstStyle>
          <a:p>
            <a:pPr>
              <a:defRPr/>
            </a:pPr>
            <a:fld id="{B118EA04-1242-D446-AFDA-11EA77E8D3D1}" type="datetime1">
              <a:rPr lang="en-US"/>
              <a:pPr>
                <a:defRPr/>
              </a:pPr>
              <a:t>3/13/24</a:t>
            </a:fld>
            <a:endParaRPr lang="en-US"/>
          </a:p>
        </p:txBody>
      </p:sp>
    </p:spTree>
    <p:extLst>
      <p:ext uri="{BB962C8B-B14F-4D97-AF65-F5344CB8AC3E}">
        <p14:creationId xmlns:p14="http://schemas.microsoft.com/office/powerpoint/2010/main" val="4187060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F564707F-EEB4-B757-09B0-CFE7D7B7B5D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3">
            <a:extLst>
              <a:ext uri="{FF2B5EF4-FFF2-40B4-BE49-F238E27FC236}">
                <a16:creationId xmlns:a16="http://schemas.microsoft.com/office/drawing/2014/main" id="{F93F5355-5474-C503-413C-489226A770FB}"/>
              </a:ext>
            </a:extLst>
          </p:cNvPr>
          <p:cNvSpPr>
            <a:spLocks noGrp="1" noChangeArrowheads="1"/>
          </p:cNvSpPr>
          <p:nvPr>
            <p:ph type="sldNum" sz="quarter" idx="11"/>
          </p:nvPr>
        </p:nvSpPr>
        <p:spPr>
          <a:ln/>
        </p:spPr>
        <p:txBody>
          <a:bodyPr/>
          <a:lstStyle>
            <a:lvl1pPr>
              <a:defRPr/>
            </a:lvl1pPr>
          </a:lstStyle>
          <a:p>
            <a:fld id="{38ABB807-7918-324D-88FD-DA4CE211A7E7}" type="slidenum">
              <a:rPr lang="en-US" altLang="en-US"/>
              <a:pPr/>
              <a:t>‹#›</a:t>
            </a:fld>
            <a:endParaRPr lang="en-US" altLang="en-US"/>
          </a:p>
        </p:txBody>
      </p:sp>
      <p:sp>
        <p:nvSpPr>
          <p:cNvPr id="9" name="Rectangle 16">
            <a:extLst>
              <a:ext uri="{FF2B5EF4-FFF2-40B4-BE49-F238E27FC236}">
                <a16:creationId xmlns:a16="http://schemas.microsoft.com/office/drawing/2014/main" id="{4392F902-B26D-71E0-6E5F-B0B69D1B8ADF}"/>
              </a:ext>
            </a:extLst>
          </p:cNvPr>
          <p:cNvSpPr>
            <a:spLocks noGrp="1" noChangeArrowheads="1"/>
          </p:cNvSpPr>
          <p:nvPr>
            <p:ph type="dt" sz="half" idx="12"/>
          </p:nvPr>
        </p:nvSpPr>
        <p:spPr>
          <a:ln/>
        </p:spPr>
        <p:txBody>
          <a:bodyPr/>
          <a:lstStyle>
            <a:lvl1pPr>
              <a:defRPr/>
            </a:lvl1pPr>
          </a:lstStyle>
          <a:p>
            <a:pPr>
              <a:defRPr/>
            </a:pPr>
            <a:fld id="{128BD8CF-C8AF-C344-90AB-CD1C11AB7F08}" type="datetime1">
              <a:rPr lang="en-US"/>
              <a:pPr>
                <a:defRPr/>
              </a:pPr>
              <a:t>3/13/24</a:t>
            </a:fld>
            <a:endParaRPr lang="en-US"/>
          </a:p>
        </p:txBody>
      </p:sp>
    </p:spTree>
    <p:extLst>
      <p:ext uri="{BB962C8B-B14F-4D97-AF65-F5344CB8AC3E}">
        <p14:creationId xmlns:p14="http://schemas.microsoft.com/office/powerpoint/2010/main" val="2790613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D17EA8BD-8E74-CB0D-31E9-94F3CA701570}"/>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3">
            <a:extLst>
              <a:ext uri="{FF2B5EF4-FFF2-40B4-BE49-F238E27FC236}">
                <a16:creationId xmlns:a16="http://schemas.microsoft.com/office/drawing/2014/main" id="{89458BFF-D893-CBB4-4C91-05F39CC596F0}"/>
              </a:ext>
            </a:extLst>
          </p:cNvPr>
          <p:cNvSpPr>
            <a:spLocks noGrp="1" noChangeArrowheads="1"/>
          </p:cNvSpPr>
          <p:nvPr>
            <p:ph type="sldNum" sz="quarter" idx="11"/>
          </p:nvPr>
        </p:nvSpPr>
        <p:spPr>
          <a:ln/>
        </p:spPr>
        <p:txBody>
          <a:bodyPr/>
          <a:lstStyle>
            <a:lvl1pPr>
              <a:defRPr/>
            </a:lvl1pPr>
          </a:lstStyle>
          <a:p>
            <a:fld id="{B7E688EC-788A-6F49-9963-7D33A47428A0}" type="slidenum">
              <a:rPr lang="en-US" altLang="en-US"/>
              <a:pPr/>
              <a:t>‹#›</a:t>
            </a:fld>
            <a:endParaRPr lang="en-US" altLang="en-US"/>
          </a:p>
        </p:txBody>
      </p:sp>
      <p:sp>
        <p:nvSpPr>
          <p:cNvPr id="5" name="Rectangle 16">
            <a:extLst>
              <a:ext uri="{FF2B5EF4-FFF2-40B4-BE49-F238E27FC236}">
                <a16:creationId xmlns:a16="http://schemas.microsoft.com/office/drawing/2014/main" id="{31216F4D-8654-196B-EFA9-D99368CECA1F}"/>
              </a:ext>
            </a:extLst>
          </p:cNvPr>
          <p:cNvSpPr>
            <a:spLocks noGrp="1" noChangeArrowheads="1"/>
          </p:cNvSpPr>
          <p:nvPr>
            <p:ph type="dt" sz="half" idx="12"/>
          </p:nvPr>
        </p:nvSpPr>
        <p:spPr>
          <a:ln/>
        </p:spPr>
        <p:txBody>
          <a:bodyPr/>
          <a:lstStyle>
            <a:lvl1pPr>
              <a:defRPr/>
            </a:lvl1pPr>
          </a:lstStyle>
          <a:p>
            <a:pPr>
              <a:defRPr/>
            </a:pPr>
            <a:fld id="{FD849782-1D5E-B941-9713-078542284B9E}" type="datetime1">
              <a:rPr lang="en-US"/>
              <a:pPr>
                <a:defRPr/>
              </a:pPr>
              <a:t>3/13/24</a:t>
            </a:fld>
            <a:endParaRPr lang="en-US"/>
          </a:p>
        </p:txBody>
      </p:sp>
    </p:spTree>
    <p:extLst>
      <p:ext uri="{BB962C8B-B14F-4D97-AF65-F5344CB8AC3E}">
        <p14:creationId xmlns:p14="http://schemas.microsoft.com/office/powerpoint/2010/main" val="2946298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E3FDE5E-7EB1-FE33-8C98-E28F08265FC0}"/>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3">
            <a:extLst>
              <a:ext uri="{FF2B5EF4-FFF2-40B4-BE49-F238E27FC236}">
                <a16:creationId xmlns:a16="http://schemas.microsoft.com/office/drawing/2014/main" id="{9C8C397A-D974-FE92-3B6E-8A6DD7314943}"/>
              </a:ext>
            </a:extLst>
          </p:cNvPr>
          <p:cNvSpPr>
            <a:spLocks noGrp="1" noChangeArrowheads="1"/>
          </p:cNvSpPr>
          <p:nvPr>
            <p:ph type="sldNum" sz="quarter" idx="11"/>
          </p:nvPr>
        </p:nvSpPr>
        <p:spPr>
          <a:ln/>
        </p:spPr>
        <p:txBody>
          <a:bodyPr/>
          <a:lstStyle>
            <a:lvl1pPr>
              <a:defRPr/>
            </a:lvl1pPr>
          </a:lstStyle>
          <a:p>
            <a:fld id="{272ED03B-CB0C-BA4E-AA10-C4934F4FC6C5}" type="slidenum">
              <a:rPr lang="en-US" altLang="en-US"/>
              <a:pPr/>
              <a:t>‹#›</a:t>
            </a:fld>
            <a:endParaRPr lang="en-US" altLang="en-US"/>
          </a:p>
        </p:txBody>
      </p:sp>
      <p:sp>
        <p:nvSpPr>
          <p:cNvPr id="4" name="Rectangle 16">
            <a:extLst>
              <a:ext uri="{FF2B5EF4-FFF2-40B4-BE49-F238E27FC236}">
                <a16:creationId xmlns:a16="http://schemas.microsoft.com/office/drawing/2014/main" id="{43809734-7083-0A18-67E6-20962C9E3025}"/>
              </a:ext>
            </a:extLst>
          </p:cNvPr>
          <p:cNvSpPr>
            <a:spLocks noGrp="1" noChangeArrowheads="1"/>
          </p:cNvSpPr>
          <p:nvPr>
            <p:ph type="dt" sz="half" idx="12"/>
          </p:nvPr>
        </p:nvSpPr>
        <p:spPr>
          <a:ln/>
        </p:spPr>
        <p:txBody>
          <a:bodyPr/>
          <a:lstStyle>
            <a:lvl1pPr>
              <a:defRPr/>
            </a:lvl1pPr>
          </a:lstStyle>
          <a:p>
            <a:pPr>
              <a:defRPr/>
            </a:pPr>
            <a:fld id="{D3ADBED4-D2FD-1646-B6B3-F1DB240B4351}" type="datetime1">
              <a:rPr lang="en-US"/>
              <a:pPr>
                <a:defRPr/>
              </a:pPr>
              <a:t>3/13/24</a:t>
            </a:fld>
            <a:endParaRPr lang="en-US"/>
          </a:p>
        </p:txBody>
      </p:sp>
    </p:spTree>
    <p:extLst>
      <p:ext uri="{BB962C8B-B14F-4D97-AF65-F5344CB8AC3E}">
        <p14:creationId xmlns:p14="http://schemas.microsoft.com/office/powerpoint/2010/main" val="2314507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438A14C6-DDE2-7302-4F2B-5076410C8154}"/>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6CEDFD33-1438-678E-8B77-C70283C1651A}"/>
              </a:ext>
            </a:extLst>
          </p:cNvPr>
          <p:cNvSpPr>
            <a:spLocks noGrp="1" noChangeArrowheads="1"/>
          </p:cNvSpPr>
          <p:nvPr>
            <p:ph type="sldNum" sz="quarter" idx="11"/>
          </p:nvPr>
        </p:nvSpPr>
        <p:spPr>
          <a:ln/>
        </p:spPr>
        <p:txBody>
          <a:bodyPr/>
          <a:lstStyle>
            <a:lvl1pPr>
              <a:defRPr/>
            </a:lvl1pPr>
          </a:lstStyle>
          <a:p>
            <a:fld id="{58026BD3-AF77-4542-8681-285A1CE0E12B}" type="slidenum">
              <a:rPr lang="en-US" altLang="en-US"/>
              <a:pPr/>
              <a:t>‹#›</a:t>
            </a:fld>
            <a:endParaRPr lang="en-US" altLang="en-US"/>
          </a:p>
        </p:txBody>
      </p:sp>
      <p:sp>
        <p:nvSpPr>
          <p:cNvPr id="7" name="Rectangle 16">
            <a:extLst>
              <a:ext uri="{FF2B5EF4-FFF2-40B4-BE49-F238E27FC236}">
                <a16:creationId xmlns:a16="http://schemas.microsoft.com/office/drawing/2014/main" id="{CA756736-F80F-B883-ED71-A308DC49BDD9}"/>
              </a:ext>
            </a:extLst>
          </p:cNvPr>
          <p:cNvSpPr>
            <a:spLocks noGrp="1" noChangeArrowheads="1"/>
          </p:cNvSpPr>
          <p:nvPr>
            <p:ph type="dt" sz="half" idx="12"/>
          </p:nvPr>
        </p:nvSpPr>
        <p:spPr>
          <a:ln/>
        </p:spPr>
        <p:txBody>
          <a:bodyPr/>
          <a:lstStyle>
            <a:lvl1pPr>
              <a:defRPr/>
            </a:lvl1pPr>
          </a:lstStyle>
          <a:p>
            <a:pPr>
              <a:defRPr/>
            </a:pPr>
            <a:fld id="{6EB521C3-459C-E84C-BD1C-A7C7CB58E2F6}" type="datetime1">
              <a:rPr lang="en-US"/>
              <a:pPr>
                <a:defRPr/>
              </a:pPr>
              <a:t>3/13/24</a:t>
            </a:fld>
            <a:endParaRPr lang="en-US"/>
          </a:p>
        </p:txBody>
      </p:sp>
    </p:spTree>
    <p:extLst>
      <p:ext uri="{BB962C8B-B14F-4D97-AF65-F5344CB8AC3E}">
        <p14:creationId xmlns:p14="http://schemas.microsoft.com/office/powerpoint/2010/main" val="2853486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A1F0A83F-7796-93E2-4140-6DB57596FA97}"/>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0719E933-A99A-DEC4-D562-8FC8230F1157}"/>
              </a:ext>
            </a:extLst>
          </p:cNvPr>
          <p:cNvSpPr>
            <a:spLocks noGrp="1" noChangeArrowheads="1"/>
          </p:cNvSpPr>
          <p:nvPr>
            <p:ph type="sldNum" sz="quarter" idx="11"/>
          </p:nvPr>
        </p:nvSpPr>
        <p:spPr>
          <a:ln/>
        </p:spPr>
        <p:txBody>
          <a:bodyPr/>
          <a:lstStyle>
            <a:lvl1pPr>
              <a:defRPr/>
            </a:lvl1pPr>
          </a:lstStyle>
          <a:p>
            <a:fld id="{7E2A9B2C-260F-CF49-8A16-0800289EA228}" type="slidenum">
              <a:rPr lang="en-US" altLang="en-US"/>
              <a:pPr/>
              <a:t>‹#›</a:t>
            </a:fld>
            <a:endParaRPr lang="en-US" altLang="en-US"/>
          </a:p>
        </p:txBody>
      </p:sp>
      <p:sp>
        <p:nvSpPr>
          <p:cNvPr id="7" name="Rectangle 16">
            <a:extLst>
              <a:ext uri="{FF2B5EF4-FFF2-40B4-BE49-F238E27FC236}">
                <a16:creationId xmlns:a16="http://schemas.microsoft.com/office/drawing/2014/main" id="{DBD83F2B-9C8F-E091-5111-168FB4E35058}"/>
              </a:ext>
            </a:extLst>
          </p:cNvPr>
          <p:cNvSpPr>
            <a:spLocks noGrp="1" noChangeArrowheads="1"/>
          </p:cNvSpPr>
          <p:nvPr>
            <p:ph type="dt" sz="half" idx="12"/>
          </p:nvPr>
        </p:nvSpPr>
        <p:spPr>
          <a:ln/>
        </p:spPr>
        <p:txBody>
          <a:bodyPr/>
          <a:lstStyle>
            <a:lvl1pPr>
              <a:defRPr/>
            </a:lvl1pPr>
          </a:lstStyle>
          <a:p>
            <a:pPr>
              <a:defRPr/>
            </a:pPr>
            <a:fld id="{D495E1AD-B325-4945-8317-307FA353A2F4}" type="datetime1">
              <a:rPr lang="en-US"/>
              <a:pPr>
                <a:defRPr/>
              </a:pPr>
              <a:t>3/13/24</a:t>
            </a:fld>
            <a:endParaRPr lang="en-US"/>
          </a:p>
        </p:txBody>
      </p:sp>
    </p:spTree>
    <p:extLst>
      <p:ext uri="{BB962C8B-B14F-4D97-AF65-F5344CB8AC3E}">
        <p14:creationId xmlns:p14="http://schemas.microsoft.com/office/powerpoint/2010/main" val="1564533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CA840981-C72F-FDE6-EA21-71172F36878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81AB8377-83D9-868B-CF46-01439C26F447}"/>
              </a:ext>
            </a:extLst>
          </p:cNvPr>
          <p:cNvSpPr>
            <a:spLocks noGrp="1" noChangeArrowheads="1"/>
          </p:cNvSpPr>
          <p:nvPr>
            <p:ph type="sldNum" sz="quarter" idx="11"/>
          </p:nvPr>
        </p:nvSpPr>
        <p:spPr>
          <a:ln/>
        </p:spPr>
        <p:txBody>
          <a:bodyPr/>
          <a:lstStyle>
            <a:lvl1pPr>
              <a:defRPr/>
            </a:lvl1pPr>
          </a:lstStyle>
          <a:p>
            <a:fld id="{3A580D06-B8BE-414D-ACFE-C6B23F69F8CF}" type="slidenum">
              <a:rPr lang="en-US" altLang="en-US"/>
              <a:pPr/>
              <a:t>‹#›</a:t>
            </a:fld>
            <a:endParaRPr lang="en-US" altLang="en-US"/>
          </a:p>
        </p:txBody>
      </p:sp>
      <p:sp>
        <p:nvSpPr>
          <p:cNvPr id="6" name="Rectangle 16">
            <a:extLst>
              <a:ext uri="{FF2B5EF4-FFF2-40B4-BE49-F238E27FC236}">
                <a16:creationId xmlns:a16="http://schemas.microsoft.com/office/drawing/2014/main" id="{4A8A3217-B500-FAEF-51A2-CEA69674D7CB}"/>
              </a:ext>
            </a:extLst>
          </p:cNvPr>
          <p:cNvSpPr>
            <a:spLocks noGrp="1" noChangeArrowheads="1"/>
          </p:cNvSpPr>
          <p:nvPr>
            <p:ph type="dt" sz="half" idx="12"/>
          </p:nvPr>
        </p:nvSpPr>
        <p:spPr>
          <a:ln/>
        </p:spPr>
        <p:txBody>
          <a:bodyPr/>
          <a:lstStyle>
            <a:lvl1pPr>
              <a:defRPr/>
            </a:lvl1pPr>
          </a:lstStyle>
          <a:p>
            <a:pPr>
              <a:defRPr/>
            </a:pPr>
            <a:fld id="{DB618C88-2BDE-2643-A278-D94DFB1F8E5C}" type="datetime1">
              <a:rPr lang="en-US"/>
              <a:pPr>
                <a:defRPr/>
              </a:pPr>
              <a:t>3/13/24</a:t>
            </a:fld>
            <a:endParaRPr lang="en-US"/>
          </a:p>
        </p:txBody>
      </p:sp>
    </p:spTree>
    <p:extLst>
      <p:ext uri="{BB962C8B-B14F-4D97-AF65-F5344CB8AC3E}">
        <p14:creationId xmlns:p14="http://schemas.microsoft.com/office/powerpoint/2010/main" val="2912413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8AAAD62D-6E9F-C004-5FAE-60B650023D14}"/>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7DE75597-65C8-C252-6F29-5752CC86DF9A}"/>
              </a:ext>
            </a:extLst>
          </p:cNvPr>
          <p:cNvSpPr>
            <a:spLocks noGrp="1" noChangeArrowheads="1"/>
          </p:cNvSpPr>
          <p:nvPr>
            <p:ph type="sldNum" sz="quarter" idx="11"/>
          </p:nvPr>
        </p:nvSpPr>
        <p:spPr>
          <a:ln/>
        </p:spPr>
        <p:txBody>
          <a:bodyPr/>
          <a:lstStyle>
            <a:lvl1pPr>
              <a:defRPr/>
            </a:lvl1pPr>
          </a:lstStyle>
          <a:p>
            <a:fld id="{E4763A91-012E-AA42-9DE6-710676008EC4}" type="slidenum">
              <a:rPr lang="en-US" altLang="en-US"/>
              <a:pPr/>
              <a:t>‹#›</a:t>
            </a:fld>
            <a:endParaRPr lang="en-US" altLang="en-US"/>
          </a:p>
        </p:txBody>
      </p:sp>
      <p:sp>
        <p:nvSpPr>
          <p:cNvPr id="6" name="Rectangle 16">
            <a:extLst>
              <a:ext uri="{FF2B5EF4-FFF2-40B4-BE49-F238E27FC236}">
                <a16:creationId xmlns:a16="http://schemas.microsoft.com/office/drawing/2014/main" id="{D4403E94-50C2-D343-E077-8679DA24F6D4}"/>
              </a:ext>
            </a:extLst>
          </p:cNvPr>
          <p:cNvSpPr>
            <a:spLocks noGrp="1" noChangeArrowheads="1"/>
          </p:cNvSpPr>
          <p:nvPr>
            <p:ph type="dt" sz="half" idx="12"/>
          </p:nvPr>
        </p:nvSpPr>
        <p:spPr>
          <a:ln/>
        </p:spPr>
        <p:txBody>
          <a:bodyPr/>
          <a:lstStyle>
            <a:lvl1pPr>
              <a:defRPr/>
            </a:lvl1pPr>
          </a:lstStyle>
          <a:p>
            <a:pPr>
              <a:defRPr/>
            </a:pPr>
            <a:fld id="{392971EF-E630-5048-A041-D1EA66EC0C11}" type="datetime1">
              <a:rPr lang="en-US"/>
              <a:pPr>
                <a:defRPr/>
              </a:pPr>
              <a:t>3/13/24</a:t>
            </a:fld>
            <a:endParaRPr lang="en-US"/>
          </a:p>
        </p:txBody>
      </p:sp>
    </p:spTree>
    <p:extLst>
      <p:ext uri="{BB962C8B-B14F-4D97-AF65-F5344CB8AC3E}">
        <p14:creationId xmlns:p14="http://schemas.microsoft.com/office/powerpoint/2010/main" val="820193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F84CBA05-2235-8817-5180-32F2609E3A94}"/>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p>
        </p:txBody>
      </p:sp>
      <p:sp>
        <p:nvSpPr>
          <p:cNvPr id="46083" name="Rectangle 3">
            <a:extLst>
              <a:ext uri="{FF2B5EF4-FFF2-40B4-BE49-F238E27FC236}">
                <a16:creationId xmlns:a16="http://schemas.microsoft.com/office/drawing/2014/main" id="{E86AC689-4179-17A9-23A1-53FEC3612519}"/>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atin typeface="Arial Black" panose="020B0604020202020204" pitchFamily="34" charset="0"/>
              </a:defRPr>
            </a:lvl1pPr>
          </a:lstStyle>
          <a:p>
            <a:fld id="{1180456F-7E57-AA45-BE34-36370483B1BD}" type="slidenum">
              <a:rPr lang="en-US" altLang="en-US"/>
              <a:pPr/>
              <a:t>‹#›</a:t>
            </a:fld>
            <a:endParaRPr lang="en-US" altLang="en-US"/>
          </a:p>
        </p:txBody>
      </p:sp>
      <p:grpSp>
        <p:nvGrpSpPr>
          <p:cNvPr id="1028" name="Group 4">
            <a:extLst>
              <a:ext uri="{FF2B5EF4-FFF2-40B4-BE49-F238E27FC236}">
                <a16:creationId xmlns:a16="http://schemas.microsoft.com/office/drawing/2014/main" id="{44C93463-FB3F-C094-18E7-3E8D839F8CDA}"/>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B120FEEE-26B7-6049-460C-3FA5F0D36E7F}"/>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LK" altLang="en-LK" sz="2400">
                <a:latin typeface="Times New Roman" panose="02020603050405020304" pitchFamily="18" charset="0"/>
              </a:endParaRPr>
            </a:p>
          </p:txBody>
        </p:sp>
        <p:sp>
          <p:nvSpPr>
            <p:cNvPr id="1033" name="Rectangle 6">
              <a:extLst>
                <a:ext uri="{FF2B5EF4-FFF2-40B4-BE49-F238E27FC236}">
                  <a16:creationId xmlns:a16="http://schemas.microsoft.com/office/drawing/2014/main" id="{571793F9-4942-8C6C-0A52-F0887110F030}"/>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034" name="Rectangle 7">
              <a:extLst>
                <a:ext uri="{FF2B5EF4-FFF2-40B4-BE49-F238E27FC236}">
                  <a16:creationId xmlns:a16="http://schemas.microsoft.com/office/drawing/2014/main" id="{2C83DBA2-037D-C3D5-05FB-E68B830881C5}"/>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hlink"/>
                </a:solidFill>
              </a:endParaRPr>
            </a:p>
          </p:txBody>
        </p:sp>
        <p:sp>
          <p:nvSpPr>
            <p:cNvPr id="1035" name="Rectangle 8">
              <a:extLst>
                <a:ext uri="{FF2B5EF4-FFF2-40B4-BE49-F238E27FC236}">
                  <a16:creationId xmlns:a16="http://schemas.microsoft.com/office/drawing/2014/main" id="{CB19E4FC-478B-534A-05EF-984938011A57}"/>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hlink"/>
                </a:solidFill>
              </a:endParaRPr>
            </a:p>
          </p:txBody>
        </p:sp>
        <p:sp>
          <p:nvSpPr>
            <p:cNvPr id="1036" name="Rectangle 9">
              <a:extLst>
                <a:ext uri="{FF2B5EF4-FFF2-40B4-BE49-F238E27FC236}">
                  <a16:creationId xmlns:a16="http://schemas.microsoft.com/office/drawing/2014/main" id="{FF57FDBB-4E24-333A-7A40-CA59D154D02F}"/>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accent2"/>
                </a:solidFill>
              </a:endParaRPr>
            </a:p>
          </p:txBody>
        </p:sp>
        <p:sp>
          <p:nvSpPr>
            <p:cNvPr id="1037" name="Rectangle 10">
              <a:extLst>
                <a:ext uri="{FF2B5EF4-FFF2-40B4-BE49-F238E27FC236}">
                  <a16:creationId xmlns:a16="http://schemas.microsoft.com/office/drawing/2014/main" id="{A1263EE8-222E-6570-F189-2133B9DCF925}"/>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hlink"/>
                </a:solidFill>
              </a:endParaRPr>
            </a:p>
          </p:txBody>
        </p:sp>
        <p:sp>
          <p:nvSpPr>
            <p:cNvPr id="1038" name="Rectangle 11">
              <a:extLst>
                <a:ext uri="{FF2B5EF4-FFF2-40B4-BE49-F238E27FC236}">
                  <a16:creationId xmlns:a16="http://schemas.microsoft.com/office/drawing/2014/main" id="{78912E3A-1814-8600-20C9-B15C207E19CA}"/>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039" name="Rectangle 12">
              <a:extLst>
                <a:ext uri="{FF2B5EF4-FFF2-40B4-BE49-F238E27FC236}">
                  <a16:creationId xmlns:a16="http://schemas.microsoft.com/office/drawing/2014/main" id="{698E878B-0E5C-4A18-E1C3-D127895B08AE}"/>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accent2"/>
                </a:solidFill>
              </a:endParaRPr>
            </a:p>
          </p:txBody>
        </p:sp>
        <p:sp>
          <p:nvSpPr>
            <p:cNvPr id="1040" name="Rectangle 13">
              <a:extLst>
                <a:ext uri="{FF2B5EF4-FFF2-40B4-BE49-F238E27FC236}">
                  <a16:creationId xmlns:a16="http://schemas.microsoft.com/office/drawing/2014/main" id="{F88B51D7-12E2-7B96-302A-DB312EC41E29}"/>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accent2"/>
                </a:solidFill>
              </a:endParaRPr>
            </a:p>
          </p:txBody>
        </p:sp>
      </p:grpSp>
      <p:sp>
        <p:nvSpPr>
          <p:cNvPr id="1029" name="Rectangle 14">
            <a:extLst>
              <a:ext uri="{FF2B5EF4-FFF2-40B4-BE49-F238E27FC236}">
                <a16:creationId xmlns:a16="http://schemas.microsoft.com/office/drawing/2014/main" id="{3CC7347C-6AD3-6D09-CDA4-CBF3B7D20502}"/>
              </a:ext>
            </a:extLst>
          </p:cNvPr>
          <p:cNvSpPr>
            <a:spLocks noGrp="1" noChangeArrowheads="1"/>
          </p:cNvSpPr>
          <p:nvPr>
            <p:ph type="title"/>
          </p:nvPr>
        </p:nvSpPr>
        <p:spPr bwMode="auto">
          <a:xfrm>
            <a:off x="457200" y="4572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a:extLst>
              <a:ext uri="{FF2B5EF4-FFF2-40B4-BE49-F238E27FC236}">
                <a16:creationId xmlns:a16="http://schemas.microsoft.com/office/drawing/2014/main" id="{5C4265FA-EA32-213C-27D7-9935C7AB5D6B}"/>
              </a:ext>
            </a:extLst>
          </p:cNvPr>
          <p:cNvSpPr>
            <a:spLocks noGrp="1" noChangeArrowheads="1"/>
          </p:cNvSpPr>
          <p:nvPr>
            <p:ph type="body" idx="1"/>
          </p:nvPr>
        </p:nvSpPr>
        <p:spPr bwMode="auto">
          <a:xfrm>
            <a:off x="457200" y="1371600"/>
            <a:ext cx="8229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6096" name="Rectangle 16">
            <a:extLst>
              <a:ext uri="{FF2B5EF4-FFF2-40B4-BE49-F238E27FC236}">
                <a16:creationId xmlns:a16="http://schemas.microsoft.com/office/drawing/2014/main" id="{941A8855-2907-841D-C601-2804CC2C6FE5}"/>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fld id="{DB1A6FEF-FF56-A741-ADEF-2ADB705D2112}" type="datetime1">
              <a:rPr lang="en-US"/>
              <a:pPr>
                <a:defRPr/>
              </a:pPr>
              <a:t>3/13/24</a:t>
            </a:fld>
            <a:endParaRPr lang="en-US"/>
          </a:p>
        </p:txBody>
      </p:sp>
    </p:spTree>
  </p:cSld>
  <p:clrMap bg1="lt1" tx1="dk1" bg2="lt2" tx2="dk2" accent1="accent1" accent2="accent2" accent3="accent3" accent4="accent4" accent5="accent5" accent6="accent6" hlink="hlink" folHlink="folHlink"/>
  <p:sldLayoutIdLst>
    <p:sldLayoutId id="2147484209" r:id="rId1"/>
    <p:sldLayoutId id="2147484199" r:id="rId2"/>
    <p:sldLayoutId id="2147484200" r:id="rId3"/>
    <p:sldLayoutId id="2147484201" r:id="rId4"/>
    <p:sldLayoutId id="2147484202" r:id="rId5"/>
    <p:sldLayoutId id="2147484203" r:id="rId6"/>
    <p:sldLayoutId id="2147484204" r:id="rId7"/>
    <p:sldLayoutId id="2147484205" r:id="rId8"/>
    <p:sldLayoutId id="2147484206" r:id="rId9"/>
    <p:sldLayoutId id="2147484207" r:id="rId10"/>
    <p:sldLayoutId id="2147484208" r:id="rId11"/>
  </p:sldLayoutIdLst>
  <p:hf hdr="0" ftr="0"/>
  <p:txStyles>
    <p:titleStyle>
      <a:lvl1pPr algn="l" rtl="0" eaLnBrk="0" fontAlgn="base" hangingPunct="0">
        <a:spcBef>
          <a:spcPct val="0"/>
        </a:spcBef>
        <a:spcAft>
          <a:spcPct val="0"/>
        </a:spcAft>
        <a:defRPr sz="3200">
          <a:solidFill>
            <a:schemeClr val="tx1"/>
          </a:solidFill>
          <a:latin typeface="+mj-lt"/>
          <a:ea typeface="+mj-ea"/>
          <a:cs typeface="+mj-cs"/>
        </a:defRPr>
      </a:lvl1pPr>
      <a:lvl2pPr algn="l" rtl="0" eaLnBrk="0" fontAlgn="base" hangingPunct="0">
        <a:spcBef>
          <a:spcPct val="0"/>
        </a:spcBef>
        <a:spcAft>
          <a:spcPct val="0"/>
        </a:spcAft>
        <a:defRPr sz="3200">
          <a:solidFill>
            <a:schemeClr val="tx1"/>
          </a:solidFill>
          <a:latin typeface="Arial" charset="0"/>
        </a:defRPr>
      </a:lvl2pPr>
      <a:lvl3pPr algn="l" rtl="0" eaLnBrk="0" fontAlgn="base" hangingPunct="0">
        <a:spcBef>
          <a:spcPct val="0"/>
        </a:spcBef>
        <a:spcAft>
          <a:spcPct val="0"/>
        </a:spcAft>
        <a:defRPr sz="3200">
          <a:solidFill>
            <a:schemeClr val="tx1"/>
          </a:solidFill>
          <a:latin typeface="Arial" charset="0"/>
        </a:defRPr>
      </a:lvl3pPr>
      <a:lvl4pPr algn="l" rtl="0" eaLnBrk="0" fontAlgn="base" hangingPunct="0">
        <a:spcBef>
          <a:spcPct val="0"/>
        </a:spcBef>
        <a:spcAft>
          <a:spcPct val="0"/>
        </a:spcAft>
        <a:defRPr sz="3200">
          <a:solidFill>
            <a:schemeClr val="tx1"/>
          </a:solidFill>
          <a:latin typeface="Arial" charset="0"/>
        </a:defRPr>
      </a:lvl4pPr>
      <a:lvl5pPr algn="l" rtl="0" eaLnBrk="0" fontAlgn="base" hangingPunct="0">
        <a:spcBef>
          <a:spcPct val="0"/>
        </a:spcBef>
        <a:spcAft>
          <a:spcPct val="0"/>
        </a:spcAft>
        <a:defRPr sz="3200">
          <a:solidFill>
            <a:schemeClr val="tx1"/>
          </a:solidFill>
          <a:latin typeface="Arial" charset="0"/>
        </a:defRPr>
      </a:lvl5pPr>
      <a:lvl6pPr marL="457200" algn="l" rtl="0" fontAlgn="base">
        <a:spcBef>
          <a:spcPct val="0"/>
        </a:spcBef>
        <a:spcAft>
          <a:spcPct val="0"/>
        </a:spcAft>
        <a:defRPr sz="3200">
          <a:solidFill>
            <a:schemeClr val="tx1"/>
          </a:solidFill>
          <a:latin typeface="Arial" charset="0"/>
        </a:defRPr>
      </a:lvl6pPr>
      <a:lvl7pPr marL="914400" algn="l" rtl="0" fontAlgn="base">
        <a:spcBef>
          <a:spcPct val="0"/>
        </a:spcBef>
        <a:spcAft>
          <a:spcPct val="0"/>
        </a:spcAft>
        <a:defRPr sz="3200">
          <a:solidFill>
            <a:schemeClr val="tx1"/>
          </a:solidFill>
          <a:latin typeface="Arial" charset="0"/>
        </a:defRPr>
      </a:lvl7pPr>
      <a:lvl8pPr marL="1371600" algn="l" rtl="0" fontAlgn="base">
        <a:spcBef>
          <a:spcPct val="0"/>
        </a:spcBef>
        <a:spcAft>
          <a:spcPct val="0"/>
        </a:spcAft>
        <a:defRPr sz="3200">
          <a:solidFill>
            <a:schemeClr val="tx1"/>
          </a:solidFill>
          <a:latin typeface="Arial" charset="0"/>
        </a:defRPr>
      </a:lvl8pPr>
      <a:lvl9pPr marL="1828800" algn="l" rtl="0" fontAlgn="base">
        <a:spcBef>
          <a:spcPct val="0"/>
        </a:spcBef>
        <a:spcAft>
          <a:spcPct val="0"/>
        </a:spcAft>
        <a:defRPr sz="32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0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16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14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www.oodesign.com/prototype-pattern.html"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6">
            <a:extLst>
              <a:ext uri="{FF2B5EF4-FFF2-40B4-BE49-F238E27FC236}">
                <a16:creationId xmlns:a16="http://schemas.microsoft.com/office/drawing/2014/main" id="{B969817D-A0DC-88D1-244A-531C75E5DF56}"/>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6F3C14A-C7E1-7A48-BEB3-6F0C99CB5303}" type="datetime1">
              <a:rPr lang="en-US" altLang="en-US" sz="1200" smtClean="0"/>
              <a:pPr>
                <a:spcBef>
                  <a:spcPct val="0"/>
                </a:spcBef>
                <a:buClrTx/>
                <a:buSzTx/>
                <a:buFontTx/>
                <a:buNone/>
              </a:pPr>
              <a:t>3/13/24</a:t>
            </a:fld>
            <a:endParaRPr lang="en-US" altLang="en-US" sz="1200"/>
          </a:p>
        </p:txBody>
      </p:sp>
      <p:sp>
        <p:nvSpPr>
          <p:cNvPr id="15362" name="Rectangle 18">
            <a:extLst>
              <a:ext uri="{FF2B5EF4-FFF2-40B4-BE49-F238E27FC236}">
                <a16:creationId xmlns:a16="http://schemas.microsoft.com/office/drawing/2014/main" id="{2D58EC5E-651E-B16A-774F-A963404545E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117862E-313D-1A4F-A9A4-1D7846792E98}" type="slidenum">
              <a:rPr lang="en-US" altLang="en-US" sz="1200">
                <a:latin typeface="Arial Black" panose="020B0604020202020204" pitchFamily="34" charset="0"/>
              </a:rPr>
              <a:pPr>
                <a:spcBef>
                  <a:spcPct val="0"/>
                </a:spcBef>
                <a:buClrTx/>
                <a:buSzTx/>
                <a:buFontTx/>
                <a:buNone/>
              </a:pPr>
              <a:t>1</a:t>
            </a:fld>
            <a:endParaRPr lang="en-US" altLang="en-US" sz="1200">
              <a:latin typeface="Arial Black" panose="020B0604020202020204" pitchFamily="34" charset="0"/>
            </a:endParaRPr>
          </a:p>
        </p:txBody>
      </p:sp>
      <p:sp>
        <p:nvSpPr>
          <p:cNvPr id="15363" name="Rectangle 2">
            <a:extLst>
              <a:ext uri="{FF2B5EF4-FFF2-40B4-BE49-F238E27FC236}">
                <a16:creationId xmlns:a16="http://schemas.microsoft.com/office/drawing/2014/main" id="{6C0C6582-8C37-9E9E-4FA5-452B0C3F56E8}"/>
              </a:ext>
            </a:extLst>
          </p:cNvPr>
          <p:cNvSpPr>
            <a:spLocks noGrp="1" noChangeArrowheads="1"/>
          </p:cNvSpPr>
          <p:nvPr>
            <p:ph type="ctrTitle"/>
          </p:nvPr>
        </p:nvSpPr>
        <p:spPr/>
        <p:txBody>
          <a:bodyPr/>
          <a:lstStyle/>
          <a:p>
            <a:pPr eaLnBrk="1" hangingPunct="1"/>
            <a:r>
              <a:rPr lang="en-US" altLang="en-US"/>
              <a:t>Design Patterns</a:t>
            </a:r>
          </a:p>
        </p:txBody>
      </p:sp>
      <p:sp>
        <p:nvSpPr>
          <p:cNvPr id="15364" name="TextBox 4">
            <a:extLst>
              <a:ext uri="{FF2B5EF4-FFF2-40B4-BE49-F238E27FC236}">
                <a16:creationId xmlns:a16="http://schemas.microsoft.com/office/drawing/2014/main" id="{2DB901E5-C950-F883-37F3-BDF2EF9269C0}"/>
              </a:ext>
            </a:extLst>
          </p:cNvPr>
          <p:cNvSpPr txBox="1">
            <a:spLocks noChangeArrowheads="1"/>
          </p:cNvSpPr>
          <p:nvPr/>
        </p:nvSpPr>
        <p:spPr bwMode="auto">
          <a:xfrm>
            <a:off x="533400" y="4800600"/>
            <a:ext cx="7620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2800" dirty="0"/>
              <a:t> Factory Method and Abstract Factory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A08AF7F5-0CCF-018E-ADA3-700B001D540E}"/>
              </a:ext>
            </a:extLst>
          </p:cNvPr>
          <p:cNvSpPr>
            <a:spLocks noGrp="1"/>
          </p:cNvSpPr>
          <p:nvPr>
            <p:ph type="title"/>
          </p:nvPr>
        </p:nvSpPr>
        <p:spPr/>
        <p:txBody>
          <a:bodyPr/>
          <a:lstStyle/>
          <a:p>
            <a:r>
              <a:rPr lang="en-US" altLang="en-US" dirty="0"/>
              <a:t>Preventing Future Mistakes</a:t>
            </a:r>
          </a:p>
        </p:txBody>
      </p:sp>
      <p:sp>
        <p:nvSpPr>
          <p:cNvPr id="23554" name="Content Placeholder 2">
            <a:extLst>
              <a:ext uri="{FF2B5EF4-FFF2-40B4-BE49-F238E27FC236}">
                <a16:creationId xmlns:a16="http://schemas.microsoft.com/office/drawing/2014/main" id="{A00F4C00-6E5F-B3A9-5373-FCFDE07DB7DD}"/>
              </a:ext>
            </a:extLst>
          </p:cNvPr>
          <p:cNvSpPr>
            <a:spLocks noGrp="1"/>
          </p:cNvSpPr>
          <p:nvPr>
            <p:ph idx="1"/>
          </p:nvPr>
        </p:nvSpPr>
        <p:spPr>
          <a:xfrm>
            <a:off x="457200" y="1143000"/>
            <a:ext cx="8229600" cy="5181600"/>
          </a:xfrm>
        </p:spPr>
        <p:txBody>
          <a:bodyPr/>
          <a:lstStyle/>
          <a:p>
            <a:pPr>
              <a:buFont typeface="Wingdings" pitchFamily="2" charset="2"/>
              <a:buNone/>
            </a:pPr>
            <a:r>
              <a:rPr lang="en-US" altLang="en-US"/>
              <a:t>Developer A leaves the company.</a:t>
            </a:r>
          </a:p>
          <a:p>
            <a:pPr>
              <a:buFont typeface="Wingdings" pitchFamily="2" charset="2"/>
              <a:buNone/>
            </a:pPr>
            <a:r>
              <a:rPr lang="en-US" altLang="en-US"/>
              <a:t>Developer B joins the company.</a:t>
            </a:r>
          </a:p>
          <a:p>
            <a:pPr>
              <a:buFont typeface="Wingdings" pitchFamily="2" charset="2"/>
              <a:buNone/>
            </a:pPr>
            <a:endParaRPr lang="en-US" altLang="en-US"/>
          </a:p>
          <a:p>
            <a:pPr>
              <a:buFont typeface="Wingdings" pitchFamily="2" charset="2"/>
              <a:buNone/>
            </a:pPr>
            <a:r>
              <a:rPr lang="en-US" altLang="en-US"/>
              <a:t>A bug is found in Step 2 of the algorithm.  Developer B makes the fix in MySuperClass and the client is told that the problem has been fixed.  </a:t>
            </a:r>
          </a:p>
          <a:p>
            <a:pPr>
              <a:buFont typeface="Wingdings" pitchFamily="2" charset="2"/>
              <a:buNone/>
            </a:pPr>
            <a:endParaRPr lang="en-US" altLang="en-US"/>
          </a:p>
          <a:p>
            <a:pPr>
              <a:buFont typeface="Wingdings" pitchFamily="2" charset="2"/>
              <a:buNone/>
            </a:pPr>
            <a:r>
              <a:rPr lang="en-US" altLang="en-US"/>
              <a:t>But months later the bug reappears in SubClass.   The client is not happy.</a:t>
            </a:r>
          </a:p>
          <a:p>
            <a:pPr>
              <a:buFont typeface="Wingdings" pitchFamily="2" charset="2"/>
              <a:buNone/>
            </a:pPr>
            <a:endParaRPr lang="en-US" altLang="en-US"/>
          </a:p>
          <a:p>
            <a:pPr>
              <a:buFont typeface="Wingdings" pitchFamily="2" charset="2"/>
              <a:buNone/>
            </a:pPr>
            <a:r>
              <a:rPr lang="en-US" altLang="en-US"/>
              <a:t>    </a:t>
            </a:r>
          </a:p>
        </p:txBody>
      </p:sp>
      <p:sp>
        <p:nvSpPr>
          <p:cNvPr id="23555" name="Slide Number Placeholder 3">
            <a:extLst>
              <a:ext uri="{FF2B5EF4-FFF2-40B4-BE49-F238E27FC236}">
                <a16:creationId xmlns:a16="http://schemas.microsoft.com/office/drawing/2014/main" id="{53C84BA1-3624-8D2B-DDB7-FD11B9A8FC1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DC3DD06-4682-3441-9925-9CA2F0EFBF3D}" type="slidenum">
              <a:rPr lang="en-US" altLang="en-US" sz="1000">
                <a:latin typeface="Arial Black" panose="020B0604020202020204" pitchFamily="34" charset="0"/>
              </a:rPr>
              <a:pPr>
                <a:spcBef>
                  <a:spcPct val="0"/>
                </a:spcBef>
                <a:buClrTx/>
                <a:buSzTx/>
                <a:buFontTx/>
                <a:buNone/>
              </a:pPr>
              <a:t>2</a:t>
            </a:fld>
            <a:endParaRPr lang="en-US" altLang="en-US" sz="1000">
              <a:latin typeface="Arial Black" panose="020B0604020202020204" pitchFamily="34" charset="0"/>
            </a:endParaRPr>
          </a:p>
        </p:txBody>
      </p:sp>
      <p:sp>
        <p:nvSpPr>
          <p:cNvPr id="23556" name="Date Placeholder 4">
            <a:extLst>
              <a:ext uri="{FF2B5EF4-FFF2-40B4-BE49-F238E27FC236}">
                <a16:creationId xmlns:a16="http://schemas.microsoft.com/office/drawing/2014/main" id="{CAB9F3F2-D453-B02A-5C0D-015F49CE813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98F2106-A2BF-2E4E-A242-6B3133671F75}"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BF31E7E8-5EFD-AFCC-1D17-4C444C072942}"/>
              </a:ext>
            </a:extLst>
          </p:cNvPr>
          <p:cNvSpPr>
            <a:spLocks noGrp="1"/>
          </p:cNvSpPr>
          <p:nvPr>
            <p:ph type="title"/>
          </p:nvPr>
        </p:nvSpPr>
        <p:spPr/>
        <p:txBody>
          <a:bodyPr/>
          <a:lstStyle/>
          <a:p>
            <a:r>
              <a:rPr lang="en-US" altLang="en-US" dirty="0"/>
              <a:t>Preventing Future Mistakes</a:t>
            </a:r>
          </a:p>
        </p:txBody>
      </p:sp>
      <p:sp>
        <p:nvSpPr>
          <p:cNvPr id="24578" name="Content Placeholder 2">
            <a:extLst>
              <a:ext uri="{FF2B5EF4-FFF2-40B4-BE49-F238E27FC236}">
                <a16:creationId xmlns:a16="http://schemas.microsoft.com/office/drawing/2014/main" id="{39D470B0-3FF0-3668-98D4-1FCFAFC4EDAE}"/>
              </a:ext>
            </a:extLst>
          </p:cNvPr>
          <p:cNvSpPr>
            <a:spLocks noGrp="1"/>
          </p:cNvSpPr>
          <p:nvPr>
            <p:ph idx="1"/>
          </p:nvPr>
        </p:nvSpPr>
        <p:spPr>
          <a:xfrm>
            <a:off x="457200" y="1371600"/>
            <a:ext cx="8229600" cy="4876800"/>
          </a:xfrm>
        </p:spPr>
        <p:txBody>
          <a:bodyPr/>
          <a:lstStyle/>
          <a:p>
            <a:pPr>
              <a:buFont typeface="Wingdings" pitchFamily="2" charset="2"/>
              <a:buNone/>
            </a:pPr>
            <a:r>
              <a:rPr lang="en-US" altLang="en-US" i="1"/>
              <a:t>If Developer A had used the Template Pattern, it would have minimized this problem from occurring.</a:t>
            </a:r>
          </a:p>
          <a:p>
            <a:pPr>
              <a:buFont typeface="Wingdings" pitchFamily="2" charset="2"/>
              <a:buNone/>
            </a:pPr>
            <a:endParaRPr lang="en-US" altLang="en-US" u="sng"/>
          </a:p>
          <a:p>
            <a:pPr>
              <a:buFont typeface="Wingdings" pitchFamily="2" charset="2"/>
              <a:buNone/>
            </a:pPr>
            <a:r>
              <a:rPr lang="en-US" altLang="en-US" u="sng"/>
              <a:t>Realities:</a:t>
            </a:r>
          </a:p>
          <a:p>
            <a:r>
              <a:rPr lang="en-US" altLang="en-US" sz="2000"/>
              <a:t>Developer A may have been pressed for time.</a:t>
            </a:r>
          </a:p>
          <a:p>
            <a:r>
              <a:rPr lang="en-US" altLang="en-US" sz="2000"/>
              <a:t>Developer A should have put comments in the code that refactoring is needed.</a:t>
            </a:r>
          </a:p>
          <a:p>
            <a:r>
              <a:rPr lang="en-US" altLang="en-US" sz="2000"/>
              <a:t>Developer A should have coordinated with Manager to indicate that this refactoring should be added to a list and prioritized.</a:t>
            </a:r>
          </a:p>
          <a:p>
            <a:r>
              <a:rPr lang="en-US" altLang="en-US" sz="2000"/>
              <a:t>Developer A had no idea that they were doing something wrong!</a:t>
            </a:r>
          </a:p>
          <a:p>
            <a:endParaRPr lang="en-US" altLang="en-US"/>
          </a:p>
          <a:p>
            <a:pPr>
              <a:buFont typeface="Wingdings" pitchFamily="2" charset="2"/>
              <a:buNone/>
            </a:pPr>
            <a:r>
              <a:rPr lang="en-US" altLang="en-US"/>
              <a:t>This is a good example of Technical Debt!</a:t>
            </a:r>
          </a:p>
          <a:p>
            <a:pPr>
              <a:buFont typeface="Wingdings" pitchFamily="2" charset="2"/>
              <a:buNone/>
            </a:pPr>
            <a:endParaRPr lang="en-US" altLang="en-US"/>
          </a:p>
        </p:txBody>
      </p:sp>
      <p:sp>
        <p:nvSpPr>
          <p:cNvPr id="24579" name="Slide Number Placeholder 3">
            <a:extLst>
              <a:ext uri="{FF2B5EF4-FFF2-40B4-BE49-F238E27FC236}">
                <a16:creationId xmlns:a16="http://schemas.microsoft.com/office/drawing/2014/main" id="{A365EBDB-1573-18A1-946D-5EDB45DDEE6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41D7BB0-9D99-484E-9A87-A3CF9D2DEF7F}" type="slidenum">
              <a:rPr lang="en-US" altLang="en-US" sz="1000">
                <a:latin typeface="Arial Black" panose="020B0604020202020204" pitchFamily="34" charset="0"/>
              </a:rPr>
              <a:pPr>
                <a:spcBef>
                  <a:spcPct val="0"/>
                </a:spcBef>
                <a:buClrTx/>
                <a:buSzTx/>
                <a:buFontTx/>
                <a:buNone/>
              </a:pPr>
              <a:t>3</a:t>
            </a:fld>
            <a:endParaRPr lang="en-US" altLang="en-US" sz="1000">
              <a:latin typeface="Arial Black" panose="020B0604020202020204" pitchFamily="34" charset="0"/>
            </a:endParaRPr>
          </a:p>
        </p:txBody>
      </p:sp>
      <p:sp>
        <p:nvSpPr>
          <p:cNvPr id="24580" name="Date Placeholder 4">
            <a:extLst>
              <a:ext uri="{FF2B5EF4-FFF2-40B4-BE49-F238E27FC236}">
                <a16:creationId xmlns:a16="http://schemas.microsoft.com/office/drawing/2014/main" id="{B095FF42-C00E-0259-DA5F-964A2287B49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8D5E8D8-F510-A749-81C4-8C5776EAE071}"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C20163F4-99DB-50B7-85E9-6A553517C4E1}"/>
              </a:ext>
            </a:extLst>
          </p:cNvPr>
          <p:cNvSpPr>
            <a:spLocks noGrp="1"/>
          </p:cNvSpPr>
          <p:nvPr>
            <p:ph type="title"/>
          </p:nvPr>
        </p:nvSpPr>
        <p:spPr/>
        <p:txBody>
          <a:bodyPr/>
          <a:lstStyle/>
          <a:p>
            <a:r>
              <a:rPr lang="en-US" altLang="en-US"/>
              <a:t>Technical Debt</a:t>
            </a:r>
          </a:p>
        </p:txBody>
      </p:sp>
      <p:pic>
        <p:nvPicPr>
          <p:cNvPr id="25602" name="Content Placeholder 5" descr="techDebtQuadrant.png">
            <a:extLst>
              <a:ext uri="{FF2B5EF4-FFF2-40B4-BE49-F238E27FC236}">
                <a16:creationId xmlns:a16="http://schemas.microsoft.com/office/drawing/2014/main" id="{D65D9192-422F-7F60-4E25-0417C87E24B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219200" y="1104900"/>
            <a:ext cx="5791200" cy="4343400"/>
          </a:xfrm>
        </p:spPr>
      </p:pic>
      <p:sp>
        <p:nvSpPr>
          <p:cNvPr id="25603" name="Slide Number Placeholder 3">
            <a:extLst>
              <a:ext uri="{FF2B5EF4-FFF2-40B4-BE49-F238E27FC236}">
                <a16:creationId xmlns:a16="http://schemas.microsoft.com/office/drawing/2014/main" id="{51D72D3A-5469-7153-4172-81405148150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04BFD9F-F1FA-064F-8ECD-E008FB9A1D84}" type="slidenum">
              <a:rPr lang="en-US" altLang="en-US" sz="1000">
                <a:latin typeface="Arial Black" panose="020B0604020202020204" pitchFamily="34" charset="0"/>
              </a:rPr>
              <a:pPr>
                <a:spcBef>
                  <a:spcPct val="0"/>
                </a:spcBef>
                <a:buClrTx/>
                <a:buSzTx/>
                <a:buFontTx/>
                <a:buNone/>
              </a:pPr>
              <a:t>4</a:t>
            </a:fld>
            <a:endParaRPr lang="en-US" altLang="en-US" sz="1000">
              <a:latin typeface="Arial Black" panose="020B0604020202020204" pitchFamily="34" charset="0"/>
            </a:endParaRPr>
          </a:p>
        </p:txBody>
      </p:sp>
      <p:sp>
        <p:nvSpPr>
          <p:cNvPr id="25604" name="Date Placeholder 4">
            <a:extLst>
              <a:ext uri="{FF2B5EF4-FFF2-40B4-BE49-F238E27FC236}">
                <a16:creationId xmlns:a16="http://schemas.microsoft.com/office/drawing/2014/main" id="{C667FDB7-72E0-2B49-7FCD-B5BEBDBA8CD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048F365-4275-0E42-90C7-0ABEE2E8B749}" type="datetime1">
              <a:rPr lang="en-US" altLang="en-US" sz="1200" smtClean="0"/>
              <a:pPr>
                <a:spcBef>
                  <a:spcPct val="0"/>
                </a:spcBef>
                <a:buClrTx/>
                <a:buSzTx/>
                <a:buFontTx/>
                <a:buNone/>
              </a:pPr>
              <a:t>3/13/24</a:t>
            </a:fld>
            <a:endParaRPr lang="en-US" altLang="en-US" sz="1200"/>
          </a:p>
        </p:txBody>
      </p:sp>
      <p:sp>
        <p:nvSpPr>
          <p:cNvPr id="25605" name="TextBox 6">
            <a:extLst>
              <a:ext uri="{FF2B5EF4-FFF2-40B4-BE49-F238E27FC236}">
                <a16:creationId xmlns:a16="http://schemas.microsoft.com/office/drawing/2014/main" id="{FA798D3C-543B-406A-F558-C3B2F79BC1D7}"/>
              </a:ext>
            </a:extLst>
          </p:cNvPr>
          <p:cNvSpPr txBox="1">
            <a:spLocks noChangeArrowheads="1"/>
          </p:cNvSpPr>
          <p:nvPr/>
        </p:nvSpPr>
        <p:spPr bwMode="auto">
          <a:xfrm>
            <a:off x="381000" y="5649913"/>
            <a:ext cx="845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Source: http://martinfowler.com/bliki/TechnicalDebtQuadrant.html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18CCA722-C018-D574-C85F-3F32D39065C5}"/>
              </a:ext>
            </a:extLst>
          </p:cNvPr>
          <p:cNvSpPr>
            <a:spLocks noGrp="1"/>
          </p:cNvSpPr>
          <p:nvPr>
            <p:ph type="title"/>
          </p:nvPr>
        </p:nvSpPr>
        <p:spPr/>
        <p:txBody>
          <a:bodyPr/>
          <a:lstStyle/>
          <a:p>
            <a:r>
              <a:rPr lang="en-US" altLang="en-US"/>
              <a:t>Review: What Pattern should we consider?</a:t>
            </a:r>
          </a:p>
        </p:txBody>
      </p:sp>
      <p:sp>
        <p:nvSpPr>
          <p:cNvPr id="26626" name="Content Placeholder 2">
            <a:extLst>
              <a:ext uri="{FF2B5EF4-FFF2-40B4-BE49-F238E27FC236}">
                <a16:creationId xmlns:a16="http://schemas.microsoft.com/office/drawing/2014/main" id="{411C1B00-788F-C537-2DEB-FF647A74E8B0}"/>
              </a:ext>
            </a:extLst>
          </p:cNvPr>
          <p:cNvSpPr>
            <a:spLocks noGrp="1"/>
          </p:cNvSpPr>
          <p:nvPr>
            <p:ph idx="1"/>
          </p:nvPr>
        </p:nvSpPr>
        <p:spPr>
          <a:xfrm>
            <a:off x="381000" y="1219200"/>
            <a:ext cx="8229600" cy="4724400"/>
          </a:xfrm>
        </p:spPr>
        <p:txBody>
          <a:bodyPr/>
          <a:lstStyle/>
          <a:p>
            <a:r>
              <a:rPr lang="en-US" altLang="en-US"/>
              <a:t>We need to manage a shared network printer. </a:t>
            </a:r>
          </a:p>
          <a:p>
            <a:pPr>
              <a:buFont typeface="Wingdings" pitchFamily="2" charset="2"/>
              <a:buNone/>
            </a:pPr>
            <a:endParaRPr lang="en-US" altLang="en-US"/>
          </a:p>
          <a:p>
            <a:r>
              <a:rPr lang="en-US" altLang="en-US"/>
              <a:t>We create an algorithm for renting movies online. MoviesOnline.com and ObjectvilleMovies both use the exact same algorithm, but MoviesOnline.com would like the additional capability of displaying the next movie in the queue after a movie is rented. </a:t>
            </a:r>
          </a:p>
          <a:p>
            <a:endParaRPr lang="en-US" altLang="en-US"/>
          </a:p>
          <a:p>
            <a:r>
              <a:rPr lang="en-US" altLang="en-US"/>
              <a:t>You are creating a character for a computer game.  You want the character to be able to support different victory dances. The computer should be able to assign different victory dances during game play.</a:t>
            </a:r>
          </a:p>
          <a:p>
            <a:endParaRPr lang="en-US" altLang="en-US"/>
          </a:p>
          <a:p>
            <a:endParaRPr lang="en-US" altLang="en-US"/>
          </a:p>
          <a:p>
            <a:endParaRPr lang="en-US" altLang="en-US"/>
          </a:p>
        </p:txBody>
      </p:sp>
      <p:sp>
        <p:nvSpPr>
          <p:cNvPr id="26627" name="Slide Number Placeholder 3">
            <a:extLst>
              <a:ext uri="{FF2B5EF4-FFF2-40B4-BE49-F238E27FC236}">
                <a16:creationId xmlns:a16="http://schemas.microsoft.com/office/drawing/2014/main" id="{FC4B7476-0F8A-572E-5069-E09787A0844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7C06077-4404-0D44-B1BC-50688D30ABB8}" type="slidenum">
              <a:rPr lang="en-US" altLang="en-US" sz="1000">
                <a:latin typeface="Arial Black" panose="020B0604020202020204" pitchFamily="34" charset="0"/>
              </a:rPr>
              <a:pPr>
                <a:spcBef>
                  <a:spcPct val="0"/>
                </a:spcBef>
                <a:buClrTx/>
                <a:buSzTx/>
                <a:buFontTx/>
                <a:buNone/>
              </a:pPr>
              <a:t>5</a:t>
            </a:fld>
            <a:endParaRPr lang="en-US" altLang="en-US" sz="1000">
              <a:latin typeface="Arial Black" panose="020B0604020202020204" pitchFamily="34" charset="0"/>
            </a:endParaRPr>
          </a:p>
        </p:txBody>
      </p:sp>
      <p:sp>
        <p:nvSpPr>
          <p:cNvPr id="26628" name="Date Placeholder 4">
            <a:extLst>
              <a:ext uri="{FF2B5EF4-FFF2-40B4-BE49-F238E27FC236}">
                <a16:creationId xmlns:a16="http://schemas.microsoft.com/office/drawing/2014/main" id="{89EBA1AC-D001-FE61-A829-C5DA4A9D941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1ECC3E2-4938-6948-9717-B61540CE7B9D}"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984EEBE2-0519-FA87-C0D5-0304308A26B5}"/>
              </a:ext>
            </a:extLst>
          </p:cNvPr>
          <p:cNvSpPr>
            <a:spLocks noGrp="1"/>
          </p:cNvSpPr>
          <p:nvPr>
            <p:ph type="title"/>
          </p:nvPr>
        </p:nvSpPr>
        <p:spPr/>
        <p:txBody>
          <a:bodyPr/>
          <a:lstStyle/>
          <a:p>
            <a:r>
              <a:rPr lang="en-US" altLang="en-US"/>
              <a:t>Today’s Class</a:t>
            </a:r>
          </a:p>
        </p:txBody>
      </p:sp>
      <p:sp>
        <p:nvSpPr>
          <p:cNvPr id="28674" name="Content Placeholder 2">
            <a:extLst>
              <a:ext uri="{FF2B5EF4-FFF2-40B4-BE49-F238E27FC236}">
                <a16:creationId xmlns:a16="http://schemas.microsoft.com/office/drawing/2014/main" id="{A40E595A-5287-9435-A2CC-FADEB6F1BB45}"/>
              </a:ext>
            </a:extLst>
          </p:cNvPr>
          <p:cNvSpPr>
            <a:spLocks noGrp="1"/>
          </p:cNvSpPr>
          <p:nvPr>
            <p:ph idx="1"/>
          </p:nvPr>
        </p:nvSpPr>
        <p:spPr>
          <a:xfrm>
            <a:off x="304800" y="1371600"/>
            <a:ext cx="8229600" cy="4495800"/>
          </a:xfrm>
        </p:spPr>
        <p:txBody>
          <a:bodyPr/>
          <a:lstStyle/>
          <a:p>
            <a:r>
              <a:rPr lang="en-US" altLang="en-US"/>
              <a:t>Word of the Day = Factory</a:t>
            </a:r>
          </a:p>
          <a:p>
            <a:endParaRPr lang="en-US" altLang="en-US"/>
          </a:p>
          <a:p>
            <a:r>
              <a:rPr lang="en-US" altLang="en-US"/>
              <a:t>Different Flavors</a:t>
            </a:r>
          </a:p>
          <a:p>
            <a:pPr lvl="1"/>
            <a:r>
              <a:rPr lang="en-US" altLang="en-US"/>
              <a:t>Simple Factory</a:t>
            </a:r>
          </a:p>
          <a:p>
            <a:pPr lvl="1"/>
            <a:r>
              <a:rPr lang="en-US" altLang="en-US"/>
              <a:t>Factory Method</a:t>
            </a:r>
          </a:p>
          <a:p>
            <a:pPr lvl="1"/>
            <a:r>
              <a:rPr lang="en-US" altLang="en-US"/>
              <a:t>Abstract Factory </a:t>
            </a:r>
          </a:p>
          <a:p>
            <a:pPr lvl="1"/>
            <a:endParaRPr lang="en-US" altLang="en-US"/>
          </a:p>
          <a:p>
            <a:pPr>
              <a:buFont typeface="Wingdings" pitchFamily="2" charset="2"/>
              <a:buNone/>
            </a:pPr>
            <a:endParaRPr lang="en-US" altLang="en-US"/>
          </a:p>
        </p:txBody>
      </p:sp>
      <p:sp>
        <p:nvSpPr>
          <p:cNvPr id="28675" name="Slide Number Placeholder 3">
            <a:extLst>
              <a:ext uri="{FF2B5EF4-FFF2-40B4-BE49-F238E27FC236}">
                <a16:creationId xmlns:a16="http://schemas.microsoft.com/office/drawing/2014/main" id="{6EAD7FA7-71A8-BF00-6872-C28D0E6421D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92B5868-B222-844D-8775-82373705A4DB}" type="slidenum">
              <a:rPr lang="en-US" altLang="en-US" sz="1000">
                <a:latin typeface="Arial Black" panose="020B0604020202020204" pitchFamily="34" charset="0"/>
              </a:rPr>
              <a:pPr>
                <a:spcBef>
                  <a:spcPct val="0"/>
                </a:spcBef>
                <a:buClrTx/>
                <a:buSzTx/>
                <a:buFontTx/>
                <a:buNone/>
              </a:pPr>
              <a:t>6</a:t>
            </a:fld>
            <a:endParaRPr lang="en-US" altLang="en-US" sz="1000">
              <a:latin typeface="Arial Black" panose="020B0604020202020204" pitchFamily="34" charset="0"/>
            </a:endParaRPr>
          </a:p>
        </p:txBody>
      </p:sp>
      <p:sp>
        <p:nvSpPr>
          <p:cNvPr id="28676" name="Date Placeholder 4">
            <a:extLst>
              <a:ext uri="{FF2B5EF4-FFF2-40B4-BE49-F238E27FC236}">
                <a16:creationId xmlns:a16="http://schemas.microsoft.com/office/drawing/2014/main" id="{94CA5DDB-A690-BAFE-6132-62FA12DF172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963CC01-B30A-B64F-AF03-F7BC37BED51F}"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2D7DBE00-6471-4717-AFEA-0B5E751517A0}"/>
              </a:ext>
            </a:extLst>
          </p:cNvPr>
          <p:cNvSpPr>
            <a:spLocks noGrp="1"/>
          </p:cNvSpPr>
          <p:nvPr>
            <p:ph type="title"/>
          </p:nvPr>
        </p:nvSpPr>
        <p:spPr/>
        <p:txBody>
          <a:bodyPr/>
          <a:lstStyle/>
          <a:p>
            <a:r>
              <a:rPr lang="en-US" altLang="en-US"/>
              <a:t>Pizza Store in Objectville</a:t>
            </a:r>
          </a:p>
        </p:txBody>
      </p:sp>
      <p:sp>
        <p:nvSpPr>
          <p:cNvPr id="29698" name="Content Placeholder 2">
            <a:extLst>
              <a:ext uri="{FF2B5EF4-FFF2-40B4-BE49-F238E27FC236}">
                <a16:creationId xmlns:a16="http://schemas.microsoft.com/office/drawing/2014/main" id="{74235743-80D5-3FBF-A1BA-D72679E1253A}"/>
              </a:ext>
            </a:extLst>
          </p:cNvPr>
          <p:cNvSpPr>
            <a:spLocks noGrp="1"/>
          </p:cNvSpPr>
          <p:nvPr>
            <p:ph idx="1"/>
          </p:nvPr>
        </p:nvSpPr>
        <p:spPr>
          <a:xfrm>
            <a:off x="457200" y="1371600"/>
            <a:ext cx="8229600" cy="5257800"/>
          </a:xfrm>
        </p:spPr>
        <p:txBody>
          <a:bodyPr/>
          <a:lstStyle/>
          <a:p>
            <a:pPr>
              <a:buFont typeface="Wingdings" pitchFamily="2" charset="2"/>
              <a:buNone/>
            </a:pPr>
            <a:r>
              <a:rPr lang="en-US" altLang="en-US"/>
              <a:t>We need a pizza store that can create pizza.</a:t>
            </a:r>
          </a:p>
          <a:p>
            <a:pPr>
              <a:buFont typeface="Wingdings" pitchFamily="2" charset="2"/>
              <a:buNone/>
            </a:pPr>
            <a:endParaRPr lang="en-US" altLang="en-US"/>
          </a:p>
          <a:p>
            <a:pPr>
              <a:buFont typeface="Wingdings" pitchFamily="2" charset="2"/>
              <a:buNone/>
            </a:pPr>
            <a:r>
              <a:rPr lang="en-US" altLang="en-US"/>
              <a:t>The customer will order a specific type of pizza:</a:t>
            </a:r>
          </a:p>
          <a:p>
            <a:pPr lvl="1"/>
            <a:r>
              <a:rPr lang="en-US" altLang="en-US"/>
              <a:t>Cheese</a:t>
            </a:r>
          </a:p>
          <a:p>
            <a:pPr lvl="1"/>
            <a:r>
              <a:rPr lang="en-US" altLang="en-US"/>
              <a:t>Veggie</a:t>
            </a:r>
          </a:p>
          <a:p>
            <a:pPr lvl="1"/>
            <a:r>
              <a:rPr lang="en-US" altLang="en-US"/>
              <a:t>Greek</a:t>
            </a:r>
          </a:p>
          <a:p>
            <a:pPr lvl="1"/>
            <a:r>
              <a:rPr lang="en-US" altLang="en-US"/>
              <a:t>Pepperoni</a:t>
            </a:r>
          </a:p>
          <a:p>
            <a:pPr lvl="1"/>
            <a:r>
              <a:rPr lang="en-US" altLang="en-US"/>
              <a:t>etc	</a:t>
            </a:r>
          </a:p>
          <a:p>
            <a:pPr lvl="1"/>
            <a:endParaRPr lang="en-US" altLang="en-US"/>
          </a:p>
          <a:p>
            <a:pPr>
              <a:buFont typeface="Wingdings" pitchFamily="2" charset="2"/>
              <a:buNone/>
            </a:pPr>
            <a:r>
              <a:rPr lang="en-US" altLang="en-US"/>
              <a:t>Each order request is for one type of pizza only.</a:t>
            </a:r>
          </a:p>
          <a:p>
            <a:pPr>
              <a:buFont typeface="Wingdings" pitchFamily="2" charset="2"/>
              <a:buNone/>
            </a:pPr>
            <a:endParaRPr lang="en-US" altLang="en-US"/>
          </a:p>
          <a:p>
            <a:pPr>
              <a:buFont typeface="Wingdings" pitchFamily="2" charset="2"/>
              <a:buNone/>
            </a:pPr>
            <a:endParaRPr lang="en-US" altLang="en-US"/>
          </a:p>
          <a:p>
            <a:pPr>
              <a:buFont typeface="Wingdings" pitchFamily="2" charset="2"/>
              <a:buNone/>
            </a:pPr>
            <a:endParaRPr lang="en-US" altLang="en-US"/>
          </a:p>
        </p:txBody>
      </p:sp>
      <p:sp>
        <p:nvSpPr>
          <p:cNvPr id="29699" name="Slide Number Placeholder 3">
            <a:extLst>
              <a:ext uri="{FF2B5EF4-FFF2-40B4-BE49-F238E27FC236}">
                <a16:creationId xmlns:a16="http://schemas.microsoft.com/office/drawing/2014/main" id="{543447D0-E162-5211-1EF5-757227C301B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6BF5A5B-3D40-5E4D-B2CB-8C764602A583}" type="slidenum">
              <a:rPr lang="en-US" altLang="en-US" sz="1000">
                <a:latin typeface="Arial Black" panose="020B0604020202020204" pitchFamily="34" charset="0"/>
              </a:rPr>
              <a:pPr>
                <a:spcBef>
                  <a:spcPct val="0"/>
                </a:spcBef>
                <a:buClrTx/>
                <a:buSzTx/>
                <a:buFontTx/>
                <a:buNone/>
              </a:pPr>
              <a:t>7</a:t>
            </a:fld>
            <a:endParaRPr lang="en-US" altLang="en-US" sz="1000">
              <a:latin typeface="Arial Black" panose="020B0604020202020204" pitchFamily="34" charset="0"/>
            </a:endParaRPr>
          </a:p>
        </p:txBody>
      </p:sp>
      <p:sp>
        <p:nvSpPr>
          <p:cNvPr id="29700" name="Date Placeholder 4">
            <a:extLst>
              <a:ext uri="{FF2B5EF4-FFF2-40B4-BE49-F238E27FC236}">
                <a16:creationId xmlns:a16="http://schemas.microsoft.com/office/drawing/2014/main" id="{9ADFF49B-BD92-DA26-3E4F-2CD6FE828E3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C184F92-FC43-BB4D-B3F2-5D7134F64E6D}"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CAA51E1B-3263-85DA-6F19-8E86FA8B3045}"/>
              </a:ext>
            </a:extLst>
          </p:cNvPr>
          <p:cNvSpPr>
            <a:spLocks noGrp="1"/>
          </p:cNvSpPr>
          <p:nvPr>
            <p:ph type="title"/>
          </p:nvPr>
        </p:nvSpPr>
        <p:spPr/>
        <p:txBody>
          <a:bodyPr/>
          <a:lstStyle/>
          <a:p>
            <a:r>
              <a:rPr lang="en-US" altLang="en-US"/>
              <a:t>PizzaStore in Objectville</a:t>
            </a:r>
          </a:p>
        </p:txBody>
      </p:sp>
      <p:sp>
        <p:nvSpPr>
          <p:cNvPr id="30722" name="Content Placeholder 2">
            <a:extLst>
              <a:ext uri="{FF2B5EF4-FFF2-40B4-BE49-F238E27FC236}">
                <a16:creationId xmlns:a16="http://schemas.microsoft.com/office/drawing/2014/main" id="{DC69BBF0-4B3E-5D9E-2322-734C6ACA6E5F}"/>
              </a:ext>
            </a:extLst>
          </p:cNvPr>
          <p:cNvSpPr>
            <a:spLocks noGrp="1"/>
          </p:cNvSpPr>
          <p:nvPr>
            <p:ph idx="1"/>
          </p:nvPr>
        </p:nvSpPr>
        <p:spPr>
          <a:xfrm>
            <a:off x="381000" y="1143000"/>
            <a:ext cx="8229600" cy="5410200"/>
          </a:xfrm>
        </p:spPr>
        <p:txBody>
          <a:bodyPr/>
          <a:lstStyle/>
          <a:p>
            <a:r>
              <a:rPr lang="en-US" altLang="en-US"/>
              <a:t>During the ordering of a Pizza, we need to perform certain actions on it:</a:t>
            </a:r>
          </a:p>
          <a:p>
            <a:pPr lvl="1"/>
            <a:r>
              <a:rPr lang="en-US" altLang="en-US"/>
              <a:t>Prepare</a:t>
            </a:r>
          </a:p>
          <a:p>
            <a:pPr lvl="1"/>
            <a:r>
              <a:rPr lang="en-US" altLang="en-US"/>
              <a:t>Bake</a:t>
            </a:r>
          </a:p>
          <a:p>
            <a:pPr lvl="1"/>
            <a:r>
              <a:rPr lang="en-US" altLang="en-US"/>
              <a:t>Cut</a:t>
            </a:r>
          </a:p>
          <a:p>
            <a:pPr lvl="1"/>
            <a:r>
              <a:rPr lang="en-US" altLang="en-US"/>
              <a:t>Box</a:t>
            </a:r>
          </a:p>
          <a:p>
            <a:pPr lvl="1"/>
            <a:endParaRPr lang="en-US" altLang="en-US"/>
          </a:p>
          <a:p>
            <a:pPr lvl="1"/>
            <a:endParaRPr lang="en-US" altLang="en-US"/>
          </a:p>
          <a:p>
            <a:r>
              <a:rPr lang="en-US" altLang="en-US"/>
              <a:t>We know that all Pizzas </a:t>
            </a:r>
            <a:r>
              <a:rPr lang="en-US" altLang="en-US" i="1"/>
              <a:t>must</a:t>
            </a:r>
            <a:r>
              <a:rPr lang="en-US" altLang="en-US"/>
              <a:t> perform these behaviors. In addition, we know that these behaviors will not change during runtime</a:t>
            </a:r>
            <a:r>
              <a:rPr lang="en-US" altLang="en-US" sz="1200"/>
              <a:t>. </a:t>
            </a:r>
            <a:r>
              <a:rPr lang="en-US" altLang="en-US" sz="1400"/>
              <a:t>(i.e. the Baking time for a Cheese Pizza will never change!)</a:t>
            </a:r>
          </a:p>
          <a:p>
            <a:pPr>
              <a:buFont typeface="Wingdings" pitchFamily="2" charset="2"/>
              <a:buNone/>
            </a:pPr>
            <a:endParaRPr lang="en-US" altLang="en-US" b="1" i="1"/>
          </a:p>
          <a:p>
            <a:endParaRPr lang="en-US" altLang="en-US"/>
          </a:p>
          <a:p>
            <a:endParaRPr lang="en-US" altLang="en-US" sz="1400"/>
          </a:p>
          <a:p>
            <a:pPr>
              <a:buFont typeface="Wingdings" pitchFamily="2" charset="2"/>
              <a:buNone/>
            </a:pPr>
            <a:endParaRPr lang="en-US" altLang="en-US" sz="1400"/>
          </a:p>
          <a:p>
            <a:pPr>
              <a:buFont typeface="Wingdings" pitchFamily="2" charset="2"/>
              <a:buNone/>
            </a:pPr>
            <a:endParaRPr lang="en-US" altLang="en-US" sz="1400"/>
          </a:p>
          <a:p>
            <a:endParaRPr lang="en-US" altLang="en-US" sz="1400"/>
          </a:p>
          <a:p>
            <a:pPr>
              <a:buFont typeface="Wingdings" pitchFamily="2" charset="2"/>
              <a:buNone/>
            </a:pPr>
            <a:endParaRPr lang="en-US" altLang="en-US"/>
          </a:p>
        </p:txBody>
      </p:sp>
      <p:sp>
        <p:nvSpPr>
          <p:cNvPr id="30723" name="Slide Number Placeholder 3">
            <a:extLst>
              <a:ext uri="{FF2B5EF4-FFF2-40B4-BE49-F238E27FC236}">
                <a16:creationId xmlns:a16="http://schemas.microsoft.com/office/drawing/2014/main" id="{88E936D4-5FC5-C6F3-CD54-06FD3B7A397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DCD4BAD-1004-C24D-9BBE-8BAC3303D5BF}" type="slidenum">
              <a:rPr lang="en-US" altLang="en-US" sz="1000">
                <a:latin typeface="Arial Black" panose="020B0604020202020204" pitchFamily="34" charset="0"/>
              </a:rPr>
              <a:pPr>
                <a:spcBef>
                  <a:spcPct val="0"/>
                </a:spcBef>
                <a:buClrTx/>
                <a:buSzTx/>
                <a:buFontTx/>
                <a:buNone/>
              </a:pPr>
              <a:t>8</a:t>
            </a:fld>
            <a:endParaRPr lang="en-US" altLang="en-US" sz="1000">
              <a:latin typeface="Arial Black" panose="020B0604020202020204" pitchFamily="34" charset="0"/>
            </a:endParaRPr>
          </a:p>
        </p:txBody>
      </p:sp>
      <p:sp>
        <p:nvSpPr>
          <p:cNvPr id="30724" name="Date Placeholder 4">
            <a:extLst>
              <a:ext uri="{FF2B5EF4-FFF2-40B4-BE49-F238E27FC236}">
                <a16:creationId xmlns:a16="http://schemas.microsoft.com/office/drawing/2014/main" id="{73EC4199-7006-A6B1-EBF4-EAF84FF2EC12}"/>
              </a:ext>
            </a:extLst>
          </p:cNvPr>
          <p:cNvSpPr>
            <a:spLocks noGrp="1"/>
          </p:cNvSpPr>
          <p:nvPr>
            <p:ph type="dt" sz="quarter" idx="12"/>
          </p:nvPr>
        </p:nvSpPr>
        <p:spPr>
          <a:xfrm>
            <a:off x="76200" y="63055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0506F36-8958-E241-9181-7A3D2355089C}"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CFE19F89-9422-B700-706E-1ABEE5CDAD83}"/>
              </a:ext>
            </a:extLst>
          </p:cNvPr>
          <p:cNvSpPr>
            <a:spLocks noGrp="1"/>
          </p:cNvSpPr>
          <p:nvPr>
            <p:ph type="title"/>
          </p:nvPr>
        </p:nvSpPr>
        <p:spPr/>
        <p:txBody>
          <a:bodyPr/>
          <a:lstStyle/>
          <a:p>
            <a:r>
              <a:rPr lang="en-US" altLang="en-US"/>
              <a:t>PizzaStore in Objectville  (pg 112 top)</a:t>
            </a:r>
          </a:p>
        </p:txBody>
      </p:sp>
      <p:sp>
        <p:nvSpPr>
          <p:cNvPr id="32770" name="Content Placeholder 2">
            <a:extLst>
              <a:ext uri="{FF2B5EF4-FFF2-40B4-BE49-F238E27FC236}">
                <a16:creationId xmlns:a16="http://schemas.microsoft.com/office/drawing/2014/main" id="{682EAED5-9D4F-FF09-ED53-49C57E7AD9CB}"/>
              </a:ext>
            </a:extLst>
          </p:cNvPr>
          <p:cNvSpPr>
            <a:spLocks noGrp="1"/>
          </p:cNvSpPr>
          <p:nvPr>
            <p:ph idx="1"/>
          </p:nvPr>
        </p:nvSpPr>
        <p:spPr>
          <a:xfrm>
            <a:off x="228600" y="1219200"/>
            <a:ext cx="8229600" cy="5334000"/>
          </a:xfrm>
        </p:spPr>
        <p:txBody>
          <a:bodyPr/>
          <a:lstStyle/>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Pizza orderPizza(String type)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Pizza pizza = new Pizza();</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pizza.prepare();</a:t>
            </a:r>
          </a:p>
          <a:p>
            <a:pPr>
              <a:buFont typeface="Wingdings" pitchFamily="2" charset="2"/>
              <a:buNone/>
            </a:pPr>
            <a:r>
              <a:rPr lang="en-US" altLang="en-US" sz="1600">
                <a:latin typeface="Courier New" panose="02070309020205020404" pitchFamily="49" charset="0"/>
                <a:cs typeface="Courier New" panose="02070309020205020404" pitchFamily="49" charset="0"/>
              </a:rPr>
              <a:t>		pizza.bake();</a:t>
            </a:r>
          </a:p>
          <a:p>
            <a:pPr>
              <a:buFont typeface="Wingdings" pitchFamily="2" charset="2"/>
              <a:buNone/>
            </a:pPr>
            <a:r>
              <a:rPr lang="en-US" altLang="en-US" sz="1600">
                <a:latin typeface="Courier New" panose="02070309020205020404" pitchFamily="49" charset="0"/>
                <a:cs typeface="Courier New" panose="02070309020205020404" pitchFamily="49" charset="0"/>
              </a:rPr>
              <a:t>		pizza.cut();</a:t>
            </a:r>
          </a:p>
          <a:p>
            <a:pPr>
              <a:buFont typeface="Wingdings" pitchFamily="2" charset="2"/>
              <a:buNone/>
            </a:pPr>
            <a:r>
              <a:rPr lang="en-US" altLang="en-US" sz="1600">
                <a:latin typeface="Courier New" panose="02070309020205020404" pitchFamily="49" charset="0"/>
                <a:cs typeface="Courier New" panose="02070309020205020404" pitchFamily="49" charset="0"/>
              </a:rPr>
              <a:t>		pizza.box();</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return pizza;</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a:p>
          <a:p>
            <a:r>
              <a:rPr lang="en-US" altLang="en-US"/>
              <a:t>Creating an instance of Pizza() doesn’t make sense here because we know there are different types of Pizza.</a:t>
            </a:r>
          </a:p>
        </p:txBody>
      </p:sp>
      <p:sp>
        <p:nvSpPr>
          <p:cNvPr id="32771" name="Slide Number Placeholder 3">
            <a:extLst>
              <a:ext uri="{FF2B5EF4-FFF2-40B4-BE49-F238E27FC236}">
                <a16:creationId xmlns:a16="http://schemas.microsoft.com/office/drawing/2014/main" id="{35960EB1-CF64-80AD-460D-90F80F2FF91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E23D634-953A-5846-81EF-F8864E773D68}" type="slidenum">
              <a:rPr lang="en-US" altLang="en-US" sz="1000">
                <a:latin typeface="Arial Black" panose="020B0604020202020204" pitchFamily="34" charset="0"/>
              </a:rPr>
              <a:pPr>
                <a:spcBef>
                  <a:spcPct val="0"/>
                </a:spcBef>
                <a:buClrTx/>
                <a:buSzTx/>
                <a:buFontTx/>
                <a:buNone/>
              </a:pPr>
              <a:t>9</a:t>
            </a:fld>
            <a:endParaRPr lang="en-US" altLang="en-US" sz="1000">
              <a:latin typeface="Arial Black" panose="020B0604020202020204" pitchFamily="34" charset="0"/>
            </a:endParaRPr>
          </a:p>
        </p:txBody>
      </p:sp>
      <p:sp>
        <p:nvSpPr>
          <p:cNvPr id="32772" name="Date Placeholder 4">
            <a:extLst>
              <a:ext uri="{FF2B5EF4-FFF2-40B4-BE49-F238E27FC236}">
                <a16:creationId xmlns:a16="http://schemas.microsoft.com/office/drawing/2014/main" id="{91DB8D04-E566-4624-BF6A-E6048664449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0CD8292-9C28-954B-A76E-5711299BFBDF}" type="datetime1">
              <a:rPr lang="en-US" altLang="en-US" sz="1200" smtClean="0"/>
              <a:pPr>
                <a:spcBef>
                  <a:spcPct val="0"/>
                </a:spcBef>
                <a:buClrTx/>
                <a:buSzTx/>
                <a:buFontTx/>
                <a:buNone/>
              </a:pPr>
              <a:t>3/13/24</a:t>
            </a:fld>
            <a:endParaRPr lang="en-US" altLang="en-US" sz="1200"/>
          </a:p>
        </p:txBody>
      </p:sp>
      <p:sp>
        <p:nvSpPr>
          <p:cNvPr id="32773" name="TextBox 5">
            <a:extLst>
              <a:ext uri="{FF2B5EF4-FFF2-40B4-BE49-F238E27FC236}">
                <a16:creationId xmlns:a16="http://schemas.microsoft.com/office/drawing/2014/main" id="{9C52C058-AEE8-7C32-442A-E4C4CF1EA169}"/>
              </a:ext>
            </a:extLst>
          </p:cNvPr>
          <p:cNvSpPr txBox="1">
            <a:spLocks noChangeArrowheads="1"/>
          </p:cNvSpPr>
          <p:nvPr/>
        </p:nvSpPr>
        <p:spPr bwMode="auto">
          <a:xfrm>
            <a:off x="5410200" y="1905000"/>
            <a:ext cx="3352800" cy="203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This method is responsible for creating the pizza.  </a:t>
            </a:r>
          </a:p>
          <a:p>
            <a:pPr>
              <a:spcBef>
                <a:spcPct val="0"/>
              </a:spcBef>
              <a:buClrTx/>
              <a:buSzTx/>
              <a:buFontTx/>
              <a:buNone/>
            </a:pPr>
            <a:endParaRPr lang="en-US" altLang="en-US" sz="1800"/>
          </a:p>
          <a:p>
            <a:pPr>
              <a:spcBef>
                <a:spcPct val="0"/>
              </a:spcBef>
              <a:buClrTx/>
              <a:buSzTx/>
              <a:buFontTx/>
              <a:buNone/>
            </a:pPr>
            <a:r>
              <a:rPr lang="en-US" altLang="en-US" sz="1800"/>
              <a:t>It calls methods to prepare, bake, etc.  </a:t>
            </a:r>
          </a:p>
          <a:p>
            <a:pPr>
              <a:spcBef>
                <a:spcPct val="0"/>
              </a:spcBef>
              <a:buClrTx/>
              <a:buSzTx/>
              <a:buFontTx/>
              <a:buNone/>
            </a:pPr>
            <a:endParaRPr lang="en-US" altLang="en-US" sz="1800"/>
          </a:p>
          <a:p>
            <a:pPr>
              <a:spcBef>
                <a:spcPct val="0"/>
              </a:spcBef>
              <a:buClrTx/>
              <a:buSzTx/>
              <a:buFontTx/>
              <a:buNone/>
            </a:pPr>
            <a:r>
              <a:rPr lang="en-US" altLang="en-US" sz="1800"/>
              <a:t>Pizza is returned to caller.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92830E46-CE14-875F-45E6-77EBF8274899}"/>
              </a:ext>
            </a:extLst>
          </p:cNvPr>
          <p:cNvSpPr>
            <a:spLocks noGrp="1"/>
          </p:cNvSpPr>
          <p:nvPr>
            <p:ph type="title"/>
          </p:nvPr>
        </p:nvSpPr>
        <p:spPr/>
        <p:txBody>
          <a:bodyPr/>
          <a:lstStyle/>
          <a:p>
            <a:r>
              <a:rPr lang="en-US" altLang="en-US"/>
              <a:t>PizzaStore in Objectville (pg 112 middle)</a:t>
            </a:r>
          </a:p>
        </p:txBody>
      </p:sp>
      <p:sp>
        <p:nvSpPr>
          <p:cNvPr id="34818" name="Content Placeholder 2">
            <a:extLst>
              <a:ext uri="{FF2B5EF4-FFF2-40B4-BE49-F238E27FC236}">
                <a16:creationId xmlns:a16="http://schemas.microsoft.com/office/drawing/2014/main" id="{B029E334-3A58-9FF1-7B28-7DCF1333523C}"/>
              </a:ext>
            </a:extLst>
          </p:cNvPr>
          <p:cNvSpPr>
            <a:spLocks noGrp="1"/>
          </p:cNvSpPr>
          <p:nvPr>
            <p:ph idx="1"/>
          </p:nvPr>
        </p:nvSpPr>
        <p:spPr>
          <a:xfrm>
            <a:off x="457200" y="1371600"/>
            <a:ext cx="8229600" cy="4876800"/>
          </a:xfrm>
        </p:spPr>
        <p:txBody>
          <a:bodyPr/>
          <a:lstStyle/>
          <a:p>
            <a:pPr>
              <a:buFont typeface="Wingdings" pitchFamily="2" charset="2"/>
              <a:buNone/>
            </a:pPr>
            <a:endParaRPr lang="en-US" altLang="en-US"/>
          </a:p>
          <a:p>
            <a:pPr>
              <a:buFont typeface="Wingdings" pitchFamily="2" charset="2"/>
              <a:buNone/>
            </a:pPr>
            <a:r>
              <a:rPr lang="en-US" altLang="en-US" sz="1800"/>
              <a:t>	</a:t>
            </a:r>
            <a:r>
              <a:rPr lang="en-US" altLang="en-US" sz="1800">
                <a:latin typeface="Courier New" panose="02070309020205020404" pitchFamily="49" charset="0"/>
                <a:cs typeface="Courier New" panose="02070309020205020404" pitchFamily="49" charset="0"/>
              </a:rPr>
              <a:t>public Pizza orderPizza(String type)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b="1">
                <a:solidFill>
                  <a:srgbClr val="FF0000"/>
                </a:solidFill>
                <a:latin typeface="Courier New" panose="02070309020205020404" pitchFamily="49" charset="0"/>
                <a:cs typeface="Courier New" panose="02070309020205020404" pitchFamily="49" charset="0"/>
              </a:rPr>
              <a:t>	</a:t>
            </a:r>
            <a:r>
              <a:rPr lang="en-US" altLang="en-US" sz="1800">
                <a:latin typeface="Courier New" panose="02070309020205020404" pitchFamily="49" charset="0"/>
                <a:cs typeface="Courier New" panose="02070309020205020404" pitchFamily="49" charset="0"/>
              </a:rPr>
              <a:t>	if (type.equals("cheese")) {</a:t>
            </a:r>
          </a:p>
          <a:p>
            <a:pPr>
              <a:buFont typeface="Wingdings" pitchFamily="2" charset="2"/>
              <a:buNone/>
            </a:pPr>
            <a:r>
              <a:rPr lang="en-US" altLang="en-US" sz="1800">
                <a:latin typeface="Courier New" panose="02070309020205020404" pitchFamily="49" charset="0"/>
                <a:cs typeface="Courier New" panose="02070309020205020404" pitchFamily="49" charset="0"/>
              </a:rPr>
              <a:t>			pizza = new CheesePizza();</a:t>
            </a:r>
          </a:p>
          <a:p>
            <a:pPr>
              <a:buFont typeface="Wingdings" pitchFamily="2" charset="2"/>
              <a:buNone/>
            </a:pPr>
            <a:r>
              <a:rPr lang="en-US" altLang="en-US" sz="1800">
                <a:latin typeface="Courier New" panose="02070309020205020404" pitchFamily="49" charset="0"/>
                <a:cs typeface="Courier New" panose="02070309020205020404" pitchFamily="49" charset="0"/>
              </a:rPr>
              <a:t>		} else if (type.equals("pepperoni")) {</a:t>
            </a:r>
          </a:p>
          <a:p>
            <a:pPr>
              <a:buFont typeface="Wingdings" pitchFamily="2" charset="2"/>
              <a:buNone/>
            </a:pPr>
            <a:r>
              <a:rPr lang="en-US" altLang="en-US" sz="1800">
                <a:latin typeface="Courier New" panose="02070309020205020404" pitchFamily="49" charset="0"/>
                <a:cs typeface="Courier New" panose="02070309020205020404" pitchFamily="49" charset="0"/>
              </a:rPr>
              <a:t>			pizza = new PepperoniPizza();</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pizza.prepare();</a:t>
            </a:r>
          </a:p>
          <a:p>
            <a:pPr>
              <a:buFont typeface="Wingdings" pitchFamily="2" charset="2"/>
              <a:buNone/>
            </a:pPr>
            <a:r>
              <a:rPr lang="en-US" altLang="en-US" sz="1800">
                <a:latin typeface="Courier New" panose="02070309020205020404" pitchFamily="49" charset="0"/>
                <a:cs typeface="Courier New" panose="02070309020205020404" pitchFamily="49" charset="0"/>
              </a:rPr>
              <a:t>       pizza.bake();</a:t>
            </a:r>
          </a:p>
          <a:p>
            <a:pPr>
              <a:buFont typeface="Wingdings" pitchFamily="2" charset="2"/>
              <a:buNone/>
            </a:pPr>
            <a:r>
              <a:rPr lang="en-US" altLang="en-US" sz="1800">
                <a:latin typeface="Courier New" panose="02070309020205020404" pitchFamily="49" charset="0"/>
                <a:cs typeface="Courier New" panose="02070309020205020404" pitchFamily="49" charset="0"/>
              </a:rPr>
              <a:t>       pizza.cut();</a:t>
            </a:r>
          </a:p>
          <a:p>
            <a:pPr>
              <a:buFont typeface="Wingdings" pitchFamily="2" charset="2"/>
              <a:buNone/>
            </a:pPr>
            <a:r>
              <a:rPr lang="en-US" altLang="en-US" sz="1800">
                <a:latin typeface="Courier New" panose="02070309020205020404" pitchFamily="49" charset="0"/>
                <a:cs typeface="Courier New" panose="02070309020205020404" pitchFamily="49" charset="0"/>
              </a:rPr>
              <a:t>       pizza.box();</a:t>
            </a:r>
          </a:p>
          <a:p>
            <a:pPr>
              <a:buFont typeface="Wingdings" pitchFamily="2" charset="2"/>
              <a:buNone/>
            </a:pPr>
            <a:r>
              <a:rPr lang="en-US" altLang="en-US" sz="1800">
                <a:latin typeface="Courier New" panose="02070309020205020404" pitchFamily="49" charset="0"/>
                <a:cs typeface="Courier New" panose="02070309020205020404" pitchFamily="49" charset="0"/>
              </a:rPr>
              <a:t>       return pizza;</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endParaRPr lang="en-US" altLang="en-US"/>
          </a:p>
        </p:txBody>
      </p:sp>
      <p:sp>
        <p:nvSpPr>
          <p:cNvPr id="34819" name="Slide Number Placeholder 3">
            <a:extLst>
              <a:ext uri="{FF2B5EF4-FFF2-40B4-BE49-F238E27FC236}">
                <a16:creationId xmlns:a16="http://schemas.microsoft.com/office/drawing/2014/main" id="{370DA1D9-7F88-F4F2-FE01-56F3EB90243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3161CBF-8129-534C-B536-018BFB6467CD}" type="slidenum">
              <a:rPr lang="en-US" altLang="en-US" sz="1000">
                <a:latin typeface="Arial Black" panose="020B0604020202020204" pitchFamily="34" charset="0"/>
              </a:rPr>
              <a:pPr>
                <a:spcBef>
                  <a:spcPct val="0"/>
                </a:spcBef>
                <a:buClrTx/>
                <a:buSzTx/>
                <a:buFontTx/>
                <a:buNone/>
              </a:pPr>
              <a:t>10</a:t>
            </a:fld>
            <a:endParaRPr lang="en-US" altLang="en-US" sz="1000">
              <a:latin typeface="Arial Black" panose="020B0604020202020204" pitchFamily="34" charset="0"/>
            </a:endParaRPr>
          </a:p>
        </p:txBody>
      </p:sp>
      <p:sp>
        <p:nvSpPr>
          <p:cNvPr id="34820" name="Date Placeholder 4">
            <a:extLst>
              <a:ext uri="{FF2B5EF4-FFF2-40B4-BE49-F238E27FC236}">
                <a16:creationId xmlns:a16="http://schemas.microsoft.com/office/drawing/2014/main" id="{E57FC65B-D0E6-FEA5-2C29-2A91B9658E2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2A12DF1-16EC-AC4E-A20D-77FC781A7ABD}" type="datetime1">
              <a:rPr lang="en-US" altLang="en-US" sz="1200" smtClean="0"/>
              <a:pPr>
                <a:spcBef>
                  <a:spcPct val="0"/>
                </a:spcBef>
                <a:buClrTx/>
                <a:buSzTx/>
                <a:buFontTx/>
                <a:buNone/>
              </a:pPr>
              <a:t>3/13/24</a:t>
            </a:fld>
            <a:endParaRPr lang="en-US" altLang="en-US" sz="1200"/>
          </a:p>
        </p:txBody>
      </p:sp>
      <p:cxnSp>
        <p:nvCxnSpPr>
          <p:cNvPr id="34821" name="Straight Arrow Connector 6">
            <a:extLst>
              <a:ext uri="{FF2B5EF4-FFF2-40B4-BE49-F238E27FC236}">
                <a16:creationId xmlns:a16="http://schemas.microsoft.com/office/drawing/2014/main" id="{F44E7262-31EE-9333-08D2-7863EE6CB18E}"/>
              </a:ext>
            </a:extLst>
          </p:cNvPr>
          <p:cNvCxnSpPr>
            <a:cxnSpLocks noChangeShapeType="1"/>
          </p:cNvCxnSpPr>
          <p:nvPr/>
        </p:nvCxnSpPr>
        <p:spPr bwMode="auto">
          <a:xfrm rot="10800000" flipV="1">
            <a:off x="6400800" y="3048000"/>
            <a:ext cx="609600" cy="1524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34822" name="TextBox 7">
            <a:extLst>
              <a:ext uri="{FF2B5EF4-FFF2-40B4-BE49-F238E27FC236}">
                <a16:creationId xmlns:a16="http://schemas.microsoft.com/office/drawing/2014/main" id="{EF57D5BA-5398-0D38-0FD9-D8F28F9087EB}"/>
              </a:ext>
            </a:extLst>
          </p:cNvPr>
          <p:cNvSpPr txBox="1">
            <a:spLocks noChangeArrowheads="1"/>
          </p:cNvSpPr>
          <p:nvPr/>
        </p:nvSpPr>
        <p:spPr bwMode="auto">
          <a:xfrm>
            <a:off x="7086600" y="2971800"/>
            <a:ext cx="1905000" cy="369888"/>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Code that varies</a:t>
            </a:r>
          </a:p>
        </p:txBody>
      </p:sp>
      <p:cxnSp>
        <p:nvCxnSpPr>
          <p:cNvPr id="34823" name="Straight Arrow Connector 9">
            <a:extLst>
              <a:ext uri="{FF2B5EF4-FFF2-40B4-BE49-F238E27FC236}">
                <a16:creationId xmlns:a16="http://schemas.microsoft.com/office/drawing/2014/main" id="{CBCE091B-FD09-CC6D-6A9B-A8DF473536BD}"/>
              </a:ext>
            </a:extLst>
          </p:cNvPr>
          <p:cNvCxnSpPr>
            <a:cxnSpLocks noChangeShapeType="1"/>
          </p:cNvCxnSpPr>
          <p:nvPr/>
        </p:nvCxnSpPr>
        <p:spPr bwMode="auto">
          <a:xfrm rot="10800000" flipV="1">
            <a:off x="5257800" y="1371600"/>
            <a:ext cx="1600200" cy="4572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34824" name="TextBox 10">
            <a:extLst>
              <a:ext uri="{FF2B5EF4-FFF2-40B4-BE49-F238E27FC236}">
                <a16:creationId xmlns:a16="http://schemas.microsoft.com/office/drawing/2014/main" id="{05652574-A323-F3D3-D01A-C2A39F20310D}"/>
              </a:ext>
            </a:extLst>
          </p:cNvPr>
          <p:cNvSpPr txBox="1">
            <a:spLocks noChangeArrowheads="1"/>
          </p:cNvSpPr>
          <p:nvPr/>
        </p:nvSpPr>
        <p:spPr bwMode="auto">
          <a:xfrm>
            <a:off x="6934200" y="1295400"/>
            <a:ext cx="1905000" cy="646113"/>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A parameter indicating type</a:t>
            </a:r>
          </a:p>
        </p:txBody>
      </p:sp>
      <p:sp>
        <p:nvSpPr>
          <p:cNvPr id="34825" name="TextBox 13">
            <a:extLst>
              <a:ext uri="{FF2B5EF4-FFF2-40B4-BE49-F238E27FC236}">
                <a16:creationId xmlns:a16="http://schemas.microsoft.com/office/drawing/2014/main" id="{46206DA4-BFF7-6182-EF79-AE6725BB53D4}"/>
              </a:ext>
            </a:extLst>
          </p:cNvPr>
          <p:cNvSpPr txBox="1">
            <a:spLocks noChangeArrowheads="1"/>
          </p:cNvSpPr>
          <p:nvPr/>
        </p:nvSpPr>
        <p:spPr bwMode="auto">
          <a:xfrm>
            <a:off x="6553200" y="4419600"/>
            <a:ext cx="1905000" cy="646113"/>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Code that stays the same</a:t>
            </a:r>
          </a:p>
        </p:txBody>
      </p:sp>
      <p:cxnSp>
        <p:nvCxnSpPr>
          <p:cNvPr id="34826" name="Straight Arrow Connector 15">
            <a:extLst>
              <a:ext uri="{FF2B5EF4-FFF2-40B4-BE49-F238E27FC236}">
                <a16:creationId xmlns:a16="http://schemas.microsoft.com/office/drawing/2014/main" id="{E6EFC91A-EBA0-072C-9C39-5489F6DF903D}"/>
              </a:ext>
            </a:extLst>
          </p:cNvPr>
          <p:cNvCxnSpPr>
            <a:cxnSpLocks noChangeShapeType="1"/>
          </p:cNvCxnSpPr>
          <p:nvPr/>
        </p:nvCxnSpPr>
        <p:spPr bwMode="auto">
          <a:xfrm rot="10800000">
            <a:off x="3810000" y="4800600"/>
            <a:ext cx="26670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42511D15-500C-4BC9-12BF-46B34AC2596F}"/>
              </a:ext>
            </a:extLst>
          </p:cNvPr>
          <p:cNvSpPr>
            <a:spLocks noGrp="1"/>
          </p:cNvSpPr>
          <p:nvPr>
            <p:ph type="title"/>
          </p:nvPr>
        </p:nvSpPr>
        <p:spPr/>
        <p:txBody>
          <a:bodyPr/>
          <a:lstStyle/>
          <a:p>
            <a:r>
              <a:rPr lang="en-US" altLang="en-US"/>
              <a:t>PizzaStore in Objectville (cont)</a:t>
            </a:r>
          </a:p>
        </p:txBody>
      </p:sp>
      <p:sp>
        <p:nvSpPr>
          <p:cNvPr id="35842" name="Content Placeholder 2">
            <a:extLst>
              <a:ext uri="{FF2B5EF4-FFF2-40B4-BE49-F238E27FC236}">
                <a16:creationId xmlns:a16="http://schemas.microsoft.com/office/drawing/2014/main" id="{86D6A2CE-61D2-9FDC-8300-531640D99EE2}"/>
              </a:ext>
            </a:extLst>
          </p:cNvPr>
          <p:cNvSpPr>
            <a:spLocks noGrp="1"/>
          </p:cNvSpPr>
          <p:nvPr>
            <p:ph idx="1"/>
          </p:nvPr>
        </p:nvSpPr>
        <p:spPr>
          <a:xfrm>
            <a:off x="457200" y="1371600"/>
            <a:ext cx="8229600" cy="4876800"/>
          </a:xfrm>
        </p:spPr>
        <p:txBody>
          <a:bodyPr/>
          <a:lstStyle/>
          <a:p>
            <a:r>
              <a:rPr lang="en-US" altLang="en-US"/>
              <a:t>pg 113.  Pressure is on for change…</a:t>
            </a:r>
          </a:p>
          <a:p>
            <a:r>
              <a:rPr lang="en-US" altLang="en-US"/>
              <a:t>Now we get some new types of Pizza (Clam, Veggie)</a:t>
            </a:r>
          </a:p>
          <a:p>
            <a:endParaRPr lang="en-US" altLang="en-US"/>
          </a:p>
          <a:p>
            <a:r>
              <a:rPr lang="en-US" altLang="en-US"/>
              <a:t>Every time there is a change, we would need to break into this code and update the If/Else statement. (and possibly introduce bugs in our existing code).</a:t>
            </a:r>
          </a:p>
          <a:p>
            <a:pPr lvl="1"/>
            <a:endParaRPr lang="en-US" altLang="en-US"/>
          </a:p>
        </p:txBody>
      </p:sp>
      <p:sp>
        <p:nvSpPr>
          <p:cNvPr id="35843" name="Slide Number Placeholder 3">
            <a:extLst>
              <a:ext uri="{FF2B5EF4-FFF2-40B4-BE49-F238E27FC236}">
                <a16:creationId xmlns:a16="http://schemas.microsoft.com/office/drawing/2014/main" id="{FAE1806B-8B4B-582F-515F-88FC0789AC9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AFE328C-C1EF-494C-B8CD-635B15F8F6FA}" type="slidenum">
              <a:rPr lang="en-US" altLang="en-US" sz="1000">
                <a:latin typeface="Arial Black" panose="020B0604020202020204" pitchFamily="34" charset="0"/>
              </a:rPr>
              <a:pPr>
                <a:spcBef>
                  <a:spcPct val="0"/>
                </a:spcBef>
                <a:buClrTx/>
                <a:buSzTx/>
                <a:buFontTx/>
                <a:buNone/>
              </a:pPr>
              <a:t>11</a:t>
            </a:fld>
            <a:endParaRPr lang="en-US" altLang="en-US" sz="1000">
              <a:latin typeface="Arial Black" panose="020B0604020202020204" pitchFamily="34" charset="0"/>
            </a:endParaRPr>
          </a:p>
        </p:txBody>
      </p:sp>
      <p:sp>
        <p:nvSpPr>
          <p:cNvPr id="35844" name="Date Placeholder 4">
            <a:extLst>
              <a:ext uri="{FF2B5EF4-FFF2-40B4-BE49-F238E27FC236}">
                <a16:creationId xmlns:a16="http://schemas.microsoft.com/office/drawing/2014/main" id="{F774EBEC-A64C-FFFC-09CE-15DA196E79A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94698C8-5572-024D-BCB9-6599FC824081}"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38E38656-35EF-0161-A07D-831C0C443569}"/>
              </a:ext>
            </a:extLst>
          </p:cNvPr>
          <p:cNvSpPr>
            <a:spLocks noGrp="1"/>
          </p:cNvSpPr>
          <p:nvPr>
            <p:ph type="title"/>
          </p:nvPr>
        </p:nvSpPr>
        <p:spPr/>
        <p:txBody>
          <a:bodyPr/>
          <a:lstStyle/>
          <a:p>
            <a:r>
              <a:rPr lang="en-US" altLang="en-US"/>
              <a:t>Solution?  (pg 115)</a:t>
            </a:r>
          </a:p>
        </p:txBody>
      </p:sp>
      <p:sp>
        <p:nvSpPr>
          <p:cNvPr id="36866" name="Content Placeholder 2">
            <a:extLst>
              <a:ext uri="{FF2B5EF4-FFF2-40B4-BE49-F238E27FC236}">
                <a16:creationId xmlns:a16="http://schemas.microsoft.com/office/drawing/2014/main" id="{69229987-3AE3-C7FC-8B42-F1678BFB0933}"/>
              </a:ext>
            </a:extLst>
          </p:cNvPr>
          <p:cNvSpPr>
            <a:spLocks noGrp="1"/>
          </p:cNvSpPr>
          <p:nvPr>
            <p:ph idx="1"/>
          </p:nvPr>
        </p:nvSpPr>
        <p:spPr>
          <a:xfrm>
            <a:off x="457200" y="1066800"/>
            <a:ext cx="8229600" cy="5334000"/>
          </a:xfrm>
        </p:spPr>
        <p:txBody>
          <a:bodyPr/>
          <a:lstStyle/>
          <a:p>
            <a:pPr>
              <a:buFont typeface="Wingdings" pitchFamily="2" charset="2"/>
              <a:buNone/>
            </a:pPr>
            <a:r>
              <a:rPr lang="en-US" altLang="en-US"/>
              <a:t>Move the creation of Pizzas into a separate object! </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a:latin typeface="Courier New" panose="02070309020205020404" pitchFamily="49" charset="0"/>
                <a:cs typeface="Courier New" panose="02070309020205020404" pitchFamily="49" charset="0"/>
              </a:rPr>
              <a:t>public class SimplePizzaFactory {</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a:latin typeface="Courier New" panose="02070309020205020404" pitchFamily="49" charset="0"/>
                <a:cs typeface="Courier New" panose="02070309020205020404" pitchFamily="49" charset="0"/>
              </a:rPr>
              <a:t>	public Pizza createPizza(String type) {</a:t>
            </a:r>
          </a:p>
          <a:p>
            <a:pPr>
              <a:buFont typeface="Wingdings" pitchFamily="2" charset="2"/>
              <a:buNone/>
            </a:pPr>
            <a:r>
              <a:rPr lang="en-US" altLang="en-US" sz="1400">
                <a:latin typeface="Courier New" panose="02070309020205020404" pitchFamily="49" charset="0"/>
                <a:cs typeface="Courier New" panose="02070309020205020404" pitchFamily="49" charset="0"/>
              </a:rPr>
              <a:t>		Pizza pizza = null;</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a:latin typeface="Courier New" panose="02070309020205020404" pitchFamily="49" charset="0"/>
                <a:cs typeface="Courier New" panose="02070309020205020404" pitchFamily="49" charset="0"/>
              </a:rPr>
              <a:t>		if (type.equals("cheese")) {</a:t>
            </a:r>
          </a:p>
          <a:p>
            <a:pPr>
              <a:buFont typeface="Wingdings" pitchFamily="2" charset="2"/>
              <a:buNone/>
            </a:pPr>
            <a:r>
              <a:rPr lang="en-US" altLang="en-US" sz="1400">
                <a:latin typeface="Courier New" panose="02070309020205020404" pitchFamily="49" charset="0"/>
                <a:cs typeface="Courier New" panose="02070309020205020404" pitchFamily="49" charset="0"/>
              </a:rPr>
              <a:t>			pizza = new CheesePizza();</a:t>
            </a:r>
          </a:p>
          <a:p>
            <a:pPr>
              <a:buFont typeface="Wingdings" pitchFamily="2" charset="2"/>
              <a:buNone/>
            </a:pPr>
            <a:r>
              <a:rPr lang="en-US" altLang="en-US" sz="1400">
                <a:latin typeface="Courier New" panose="02070309020205020404" pitchFamily="49" charset="0"/>
                <a:cs typeface="Courier New" panose="02070309020205020404" pitchFamily="49" charset="0"/>
              </a:rPr>
              <a:t>		} else if (type.equals("pepperoni")) {</a:t>
            </a:r>
          </a:p>
          <a:p>
            <a:pPr>
              <a:buFont typeface="Wingdings" pitchFamily="2" charset="2"/>
              <a:buNone/>
            </a:pPr>
            <a:r>
              <a:rPr lang="en-US" altLang="en-US" sz="1400">
                <a:latin typeface="Courier New" panose="02070309020205020404" pitchFamily="49" charset="0"/>
                <a:cs typeface="Courier New" panose="02070309020205020404" pitchFamily="49" charset="0"/>
              </a:rPr>
              <a:t>			pizza = new PepperoniPizza();</a:t>
            </a:r>
          </a:p>
          <a:p>
            <a:pPr>
              <a:buFont typeface="Wingdings" pitchFamily="2" charset="2"/>
              <a:buNone/>
            </a:pPr>
            <a:r>
              <a:rPr lang="en-US" altLang="en-US" sz="1400">
                <a:latin typeface="Courier New" panose="02070309020205020404" pitchFamily="49" charset="0"/>
                <a:cs typeface="Courier New" panose="02070309020205020404" pitchFamily="49" charset="0"/>
              </a:rPr>
              <a:t>		} else if (type.equals("clam")) {</a:t>
            </a:r>
          </a:p>
          <a:p>
            <a:pPr>
              <a:buFont typeface="Wingdings" pitchFamily="2" charset="2"/>
              <a:buNone/>
            </a:pPr>
            <a:r>
              <a:rPr lang="en-US" altLang="en-US" sz="1400">
                <a:latin typeface="Courier New" panose="02070309020205020404" pitchFamily="49" charset="0"/>
                <a:cs typeface="Courier New" panose="02070309020205020404" pitchFamily="49" charset="0"/>
              </a:rPr>
              <a:t>			pizza = new ClamPizza();</a:t>
            </a:r>
          </a:p>
          <a:p>
            <a:pPr>
              <a:buFont typeface="Wingdings" pitchFamily="2" charset="2"/>
              <a:buNone/>
            </a:pPr>
            <a:r>
              <a:rPr lang="en-US" altLang="en-US" sz="1400">
                <a:latin typeface="Courier New" panose="02070309020205020404" pitchFamily="49" charset="0"/>
                <a:cs typeface="Courier New" panose="02070309020205020404" pitchFamily="49" charset="0"/>
              </a:rPr>
              <a:t>		} else if (type.equals("veggie")) {</a:t>
            </a:r>
          </a:p>
          <a:p>
            <a:pPr>
              <a:buFont typeface="Wingdings" pitchFamily="2" charset="2"/>
              <a:buNone/>
            </a:pPr>
            <a:r>
              <a:rPr lang="en-US" altLang="en-US" sz="1400">
                <a:latin typeface="Courier New" panose="02070309020205020404" pitchFamily="49" charset="0"/>
                <a:cs typeface="Courier New" panose="02070309020205020404" pitchFamily="49" charset="0"/>
              </a:rPr>
              <a:t>			pizza = new VeggiePizza();</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return pizza;</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a:t>
            </a:r>
          </a:p>
          <a:p>
            <a:endParaRPr lang="en-US" altLang="en-US"/>
          </a:p>
        </p:txBody>
      </p:sp>
      <p:sp>
        <p:nvSpPr>
          <p:cNvPr id="36867" name="Slide Number Placeholder 3">
            <a:extLst>
              <a:ext uri="{FF2B5EF4-FFF2-40B4-BE49-F238E27FC236}">
                <a16:creationId xmlns:a16="http://schemas.microsoft.com/office/drawing/2014/main" id="{B250FB2F-FF3E-A5D8-C757-59D0E2B0B64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E95A06F-AC28-B548-BAA6-C732890065BB}" type="slidenum">
              <a:rPr lang="en-US" altLang="en-US" sz="1000">
                <a:latin typeface="Arial Black" panose="020B0604020202020204" pitchFamily="34" charset="0"/>
              </a:rPr>
              <a:pPr>
                <a:spcBef>
                  <a:spcPct val="0"/>
                </a:spcBef>
                <a:buClrTx/>
                <a:buSzTx/>
                <a:buFontTx/>
                <a:buNone/>
              </a:pPr>
              <a:t>12</a:t>
            </a:fld>
            <a:endParaRPr lang="en-US" altLang="en-US" sz="1000">
              <a:latin typeface="Arial Black" panose="020B0604020202020204" pitchFamily="34" charset="0"/>
            </a:endParaRPr>
          </a:p>
        </p:txBody>
      </p:sp>
      <p:sp>
        <p:nvSpPr>
          <p:cNvPr id="36868" name="Date Placeholder 4">
            <a:extLst>
              <a:ext uri="{FF2B5EF4-FFF2-40B4-BE49-F238E27FC236}">
                <a16:creationId xmlns:a16="http://schemas.microsoft.com/office/drawing/2014/main" id="{3CE615E2-DA53-7A18-FD76-ECC40B0A58C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379B63B-39FC-E14D-AF2B-2A5D208D1D00}"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84AFFB8B-DA0C-FC7D-4728-29960D7581CD}"/>
              </a:ext>
            </a:extLst>
          </p:cNvPr>
          <p:cNvSpPr>
            <a:spLocks noGrp="1"/>
          </p:cNvSpPr>
          <p:nvPr>
            <p:ph type="title"/>
          </p:nvPr>
        </p:nvSpPr>
        <p:spPr/>
        <p:txBody>
          <a:bodyPr/>
          <a:lstStyle/>
          <a:p>
            <a:r>
              <a:rPr lang="en-US" altLang="en-US"/>
              <a:t>SimplePizzaFactory</a:t>
            </a:r>
          </a:p>
        </p:txBody>
      </p:sp>
      <p:sp>
        <p:nvSpPr>
          <p:cNvPr id="37890" name="Content Placeholder 2">
            <a:extLst>
              <a:ext uri="{FF2B5EF4-FFF2-40B4-BE49-F238E27FC236}">
                <a16:creationId xmlns:a16="http://schemas.microsoft.com/office/drawing/2014/main" id="{C063C68E-87D4-66AF-B898-46375302B8B4}"/>
              </a:ext>
            </a:extLst>
          </p:cNvPr>
          <p:cNvSpPr>
            <a:spLocks noGrp="1"/>
          </p:cNvSpPr>
          <p:nvPr>
            <p:ph idx="1"/>
          </p:nvPr>
        </p:nvSpPr>
        <p:spPr/>
        <p:txBody>
          <a:bodyPr/>
          <a:lstStyle/>
          <a:p>
            <a:r>
              <a:rPr lang="en-US" altLang="en-US"/>
              <a:t>Advantage: We have one place to go to add a new pizza.</a:t>
            </a:r>
          </a:p>
          <a:p>
            <a:endParaRPr lang="en-US" altLang="en-US"/>
          </a:p>
          <a:p>
            <a:r>
              <a:rPr lang="en-US" altLang="en-US"/>
              <a:t>Disadvantage:  Whenever there is a change, we need to break into this code and add a new line.  (but at least it is in one place!!)</a:t>
            </a:r>
          </a:p>
          <a:p>
            <a:endParaRPr lang="en-US" altLang="en-US"/>
          </a:p>
          <a:p>
            <a:pPr>
              <a:buFont typeface="Wingdings" pitchFamily="2" charset="2"/>
              <a:buNone/>
            </a:pPr>
            <a:endParaRPr lang="en-US" altLang="en-US"/>
          </a:p>
        </p:txBody>
      </p:sp>
      <p:sp>
        <p:nvSpPr>
          <p:cNvPr id="37891" name="Slide Number Placeholder 3">
            <a:extLst>
              <a:ext uri="{FF2B5EF4-FFF2-40B4-BE49-F238E27FC236}">
                <a16:creationId xmlns:a16="http://schemas.microsoft.com/office/drawing/2014/main" id="{39F0D8D8-5D94-BF8F-5406-846AACD5DA8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2602AF2-2EFF-554D-87D9-D3357575365B}" type="slidenum">
              <a:rPr lang="en-US" altLang="en-US" sz="1000">
                <a:latin typeface="Arial Black" panose="020B0604020202020204" pitchFamily="34" charset="0"/>
              </a:rPr>
              <a:pPr>
                <a:spcBef>
                  <a:spcPct val="0"/>
                </a:spcBef>
                <a:buClrTx/>
                <a:buSzTx/>
                <a:buFontTx/>
                <a:buNone/>
              </a:pPr>
              <a:t>13</a:t>
            </a:fld>
            <a:endParaRPr lang="en-US" altLang="en-US" sz="1000">
              <a:latin typeface="Arial Black" panose="020B0604020202020204" pitchFamily="34" charset="0"/>
            </a:endParaRPr>
          </a:p>
        </p:txBody>
      </p:sp>
      <p:sp>
        <p:nvSpPr>
          <p:cNvPr id="37892" name="Date Placeholder 4">
            <a:extLst>
              <a:ext uri="{FF2B5EF4-FFF2-40B4-BE49-F238E27FC236}">
                <a16:creationId xmlns:a16="http://schemas.microsoft.com/office/drawing/2014/main" id="{C6BE99C4-2924-AE6F-2CA9-F96CDB6A9D3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BCB6B8D-2C05-E346-88AD-716A06EB1BA2}"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625D0070-580B-A9B4-2D99-58F10B6DD036}"/>
              </a:ext>
            </a:extLst>
          </p:cNvPr>
          <p:cNvSpPr>
            <a:spLocks noGrp="1"/>
          </p:cNvSpPr>
          <p:nvPr>
            <p:ph type="title"/>
          </p:nvPr>
        </p:nvSpPr>
        <p:spPr/>
        <p:txBody>
          <a:bodyPr/>
          <a:lstStyle/>
          <a:p>
            <a:r>
              <a:rPr lang="en-US" altLang="en-US"/>
              <a:t>Rework of PizzaStore (pg 116)</a:t>
            </a:r>
          </a:p>
        </p:txBody>
      </p:sp>
      <p:sp>
        <p:nvSpPr>
          <p:cNvPr id="38914" name="Content Placeholder 2">
            <a:extLst>
              <a:ext uri="{FF2B5EF4-FFF2-40B4-BE49-F238E27FC236}">
                <a16:creationId xmlns:a16="http://schemas.microsoft.com/office/drawing/2014/main" id="{98031BDF-9419-6525-AB01-1111D342C195}"/>
              </a:ext>
            </a:extLst>
          </p:cNvPr>
          <p:cNvSpPr>
            <a:spLocks noGrp="1"/>
          </p:cNvSpPr>
          <p:nvPr>
            <p:ph idx="1"/>
          </p:nvPr>
        </p:nvSpPr>
        <p:spPr>
          <a:xfrm>
            <a:off x="457200" y="1219200"/>
            <a:ext cx="8229600" cy="5257800"/>
          </a:xfrm>
        </p:spPr>
        <p:txBody>
          <a:bodyPr/>
          <a:lstStyle/>
          <a:p>
            <a:pPr>
              <a:buFont typeface="Wingdings" pitchFamily="2" charset="2"/>
              <a:buNone/>
            </a:pPr>
            <a:r>
              <a:rPr lang="en-US" altLang="en-US" sz="1400">
                <a:latin typeface="Courier New" panose="02070309020205020404" pitchFamily="49" charset="0"/>
                <a:cs typeface="Courier New" panose="02070309020205020404" pitchFamily="49" charset="0"/>
              </a:rPr>
              <a:t>public class PizzaStore {</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r>
              <a:rPr lang="en-US" altLang="en-US" sz="1400" b="1">
                <a:solidFill>
                  <a:srgbClr val="FF0000"/>
                </a:solidFill>
                <a:latin typeface="Courier New" panose="02070309020205020404" pitchFamily="49" charset="0"/>
                <a:cs typeface="Courier New" panose="02070309020205020404" pitchFamily="49" charset="0"/>
              </a:rPr>
              <a:t>SimplePizzaFactory factory</a:t>
            </a:r>
            <a:r>
              <a:rPr lang="en-US" altLang="en-US" sz="1400">
                <a:latin typeface="Courier New" panose="02070309020205020404" pitchFamily="49" charset="0"/>
                <a:cs typeface="Courier New" panose="02070309020205020404" pitchFamily="49" charset="0"/>
              </a:rPr>
              <a:t>;</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public PizzaStore(</a:t>
            </a:r>
            <a:r>
              <a:rPr lang="en-US" altLang="en-US" sz="1400" b="1">
                <a:solidFill>
                  <a:srgbClr val="FF0000"/>
                </a:solidFill>
                <a:latin typeface="Courier New" panose="02070309020205020404" pitchFamily="49" charset="0"/>
                <a:cs typeface="Courier New" panose="02070309020205020404" pitchFamily="49" charset="0"/>
              </a:rPr>
              <a:t>SimplePizzaFactory factory</a:t>
            </a:r>
            <a:r>
              <a:rPr lang="en-US" altLang="en-US" sz="1400">
                <a:latin typeface="Courier New" panose="02070309020205020404" pitchFamily="49" charset="0"/>
                <a:cs typeface="Courier New" panose="02070309020205020404" pitchFamily="49" charset="0"/>
              </a:rPr>
              <a:t>) { </a:t>
            </a:r>
          </a:p>
          <a:p>
            <a:pPr>
              <a:buFont typeface="Wingdings" pitchFamily="2" charset="2"/>
              <a:buNone/>
            </a:pPr>
            <a:r>
              <a:rPr lang="en-US" altLang="en-US" sz="1400">
                <a:latin typeface="Courier New" panose="02070309020205020404" pitchFamily="49" charset="0"/>
                <a:cs typeface="Courier New" panose="02070309020205020404" pitchFamily="49" charset="0"/>
              </a:rPr>
              <a:t>		this.factory = factory;</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public Pizza orderPizza(String type) {</a:t>
            </a:r>
          </a:p>
          <a:p>
            <a:pPr>
              <a:buFont typeface="Wingdings" pitchFamily="2" charset="2"/>
              <a:buNone/>
            </a:pPr>
            <a:r>
              <a:rPr lang="en-US" altLang="en-US" sz="1400">
                <a:latin typeface="Courier New" panose="02070309020205020404" pitchFamily="49" charset="0"/>
                <a:cs typeface="Courier New" panose="02070309020205020404" pitchFamily="49" charset="0"/>
              </a:rPr>
              <a:t>		Pizza pizza;</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pizza = </a:t>
            </a:r>
            <a:r>
              <a:rPr lang="en-US" altLang="en-US" sz="1400" b="1">
                <a:solidFill>
                  <a:srgbClr val="FF0000"/>
                </a:solidFill>
                <a:latin typeface="Courier New" panose="02070309020205020404" pitchFamily="49" charset="0"/>
                <a:cs typeface="Courier New" panose="02070309020205020404" pitchFamily="49" charset="0"/>
              </a:rPr>
              <a:t>factory.createPizza(type);</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pizza.prepare();</a:t>
            </a:r>
          </a:p>
          <a:p>
            <a:pPr>
              <a:buFont typeface="Wingdings" pitchFamily="2" charset="2"/>
              <a:buNone/>
            </a:pPr>
            <a:r>
              <a:rPr lang="en-US" altLang="en-US" sz="1400">
                <a:latin typeface="Courier New" panose="02070309020205020404" pitchFamily="49" charset="0"/>
                <a:cs typeface="Courier New" panose="02070309020205020404" pitchFamily="49" charset="0"/>
              </a:rPr>
              <a:t>		pizza.bake();</a:t>
            </a:r>
          </a:p>
          <a:p>
            <a:pPr>
              <a:buFont typeface="Wingdings" pitchFamily="2" charset="2"/>
              <a:buNone/>
            </a:pPr>
            <a:r>
              <a:rPr lang="en-US" altLang="en-US" sz="1400">
                <a:latin typeface="Courier New" panose="02070309020205020404" pitchFamily="49" charset="0"/>
                <a:cs typeface="Courier New" panose="02070309020205020404" pitchFamily="49" charset="0"/>
              </a:rPr>
              <a:t>		pizza.cut();</a:t>
            </a:r>
          </a:p>
          <a:p>
            <a:pPr>
              <a:buFont typeface="Wingdings" pitchFamily="2" charset="2"/>
              <a:buNone/>
            </a:pPr>
            <a:r>
              <a:rPr lang="en-US" altLang="en-US" sz="1400">
                <a:latin typeface="Courier New" panose="02070309020205020404" pitchFamily="49" charset="0"/>
                <a:cs typeface="Courier New" panose="02070309020205020404" pitchFamily="49" charset="0"/>
              </a:rPr>
              <a:t>		pizza.box();</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a:latin typeface="Courier New" panose="02070309020205020404" pitchFamily="49" charset="0"/>
                <a:cs typeface="Courier New" panose="02070309020205020404" pitchFamily="49" charset="0"/>
              </a:rPr>
              <a:t>		return pizza;</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a:t>
            </a:r>
          </a:p>
        </p:txBody>
      </p:sp>
      <p:sp>
        <p:nvSpPr>
          <p:cNvPr id="38915" name="Slide Number Placeholder 3">
            <a:extLst>
              <a:ext uri="{FF2B5EF4-FFF2-40B4-BE49-F238E27FC236}">
                <a16:creationId xmlns:a16="http://schemas.microsoft.com/office/drawing/2014/main" id="{D337BD5B-9218-E626-7860-DAD9AC1AA4C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CF1C192-6CF6-6446-B6A9-D3B813AE3871}" type="slidenum">
              <a:rPr lang="en-US" altLang="en-US" sz="1000">
                <a:latin typeface="Arial Black" panose="020B0604020202020204" pitchFamily="34" charset="0"/>
              </a:rPr>
              <a:pPr>
                <a:spcBef>
                  <a:spcPct val="0"/>
                </a:spcBef>
                <a:buClrTx/>
                <a:buSzTx/>
                <a:buFontTx/>
                <a:buNone/>
              </a:pPr>
              <a:t>14</a:t>
            </a:fld>
            <a:endParaRPr lang="en-US" altLang="en-US" sz="1000">
              <a:latin typeface="Arial Black" panose="020B0604020202020204" pitchFamily="34" charset="0"/>
            </a:endParaRPr>
          </a:p>
        </p:txBody>
      </p:sp>
      <p:sp>
        <p:nvSpPr>
          <p:cNvPr id="38916" name="Date Placeholder 4">
            <a:extLst>
              <a:ext uri="{FF2B5EF4-FFF2-40B4-BE49-F238E27FC236}">
                <a16:creationId xmlns:a16="http://schemas.microsoft.com/office/drawing/2014/main" id="{71FF6D6D-93D5-1046-3CB9-52BE581ADF6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5D7C7C8-C523-814D-987A-2A8D3DB34A5D}" type="datetime1">
              <a:rPr lang="en-US" altLang="en-US" sz="1200" smtClean="0"/>
              <a:pPr>
                <a:spcBef>
                  <a:spcPct val="0"/>
                </a:spcBef>
                <a:buClrTx/>
                <a:buSzTx/>
                <a:buFontTx/>
                <a:buNone/>
              </a:pPr>
              <a:t>3/13/24</a:t>
            </a:fld>
            <a:endParaRPr lang="en-US" altLang="en-US" sz="1200"/>
          </a:p>
        </p:txBody>
      </p:sp>
      <p:sp>
        <p:nvSpPr>
          <p:cNvPr id="38917" name="TextBox 5">
            <a:extLst>
              <a:ext uri="{FF2B5EF4-FFF2-40B4-BE49-F238E27FC236}">
                <a16:creationId xmlns:a16="http://schemas.microsoft.com/office/drawing/2014/main" id="{07BF292D-34A7-0EC5-78B3-89CB3AF33A2F}"/>
              </a:ext>
            </a:extLst>
          </p:cNvPr>
          <p:cNvSpPr txBox="1">
            <a:spLocks noChangeArrowheads="1"/>
          </p:cNvSpPr>
          <p:nvPr/>
        </p:nvSpPr>
        <p:spPr bwMode="auto">
          <a:xfrm>
            <a:off x="6553200" y="1295400"/>
            <a:ext cx="2209800"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Store is </a:t>
            </a:r>
            <a:r>
              <a:rPr lang="en-US" altLang="en-US" sz="1800" i="1"/>
              <a:t>composed</a:t>
            </a:r>
            <a:r>
              <a:rPr lang="en-US" altLang="en-US" sz="1800"/>
              <a:t> of a factory.</a:t>
            </a:r>
          </a:p>
        </p:txBody>
      </p:sp>
      <p:sp>
        <p:nvSpPr>
          <p:cNvPr id="38918" name="TextBox 6">
            <a:extLst>
              <a:ext uri="{FF2B5EF4-FFF2-40B4-BE49-F238E27FC236}">
                <a16:creationId xmlns:a16="http://schemas.microsoft.com/office/drawing/2014/main" id="{2E5C8296-BCE7-BBF0-4927-BE4278C02D21}"/>
              </a:ext>
            </a:extLst>
          </p:cNvPr>
          <p:cNvSpPr txBox="1">
            <a:spLocks noChangeArrowheads="1"/>
          </p:cNvSpPr>
          <p:nvPr/>
        </p:nvSpPr>
        <p:spPr bwMode="auto">
          <a:xfrm>
            <a:off x="6553200" y="3581400"/>
            <a:ext cx="2362200"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Creation of pizza is delegated to factory.</a:t>
            </a:r>
          </a:p>
        </p:txBody>
      </p:sp>
      <p:cxnSp>
        <p:nvCxnSpPr>
          <p:cNvPr id="38919" name="Straight Arrow Connector 8">
            <a:extLst>
              <a:ext uri="{FF2B5EF4-FFF2-40B4-BE49-F238E27FC236}">
                <a16:creationId xmlns:a16="http://schemas.microsoft.com/office/drawing/2014/main" id="{6B4A244F-2447-288A-1661-99A5A15C0FC8}"/>
              </a:ext>
            </a:extLst>
          </p:cNvPr>
          <p:cNvCxnSpPr>
            <a:cxnSpLocks noChangeShapeType="1"/>
            <a:stCxn id="38917" idx="1"/>
          </p:cNvCxnSpPr>
          <p:nvPr/>
        </p:nvCxnSpPr>
        <p:spPr bwMode="auto">
          <a:xfrm rot="10800000">
            <a:off x="3733800" y="1600200"/>
            <a:ext cx="2819400" cy="1905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8920" name="Straight Arrow Connector 12">
            <a:extLst>
              <a:ext uri="{FF2B5EF4-FFF2-40B4-BE49-F238E27FC236}">
                <a16:creationId xmlns:a16="http://schemas.microsoft.com/office/drawing/2014/main" id="{1E0D3812-2970-560C-6CD7-620A3217F06D}"/>
              </a:ext>
            </a:extLst>
          </p:cNvPr>
          <p:cNvCxnSpPr>
            <a:cxnSpLocks noChangeShapeType="1"/>
            <a:stCxn id="38918" idx="1"/>
          </p:cNvCxnSpPr>
          <p:nvPr/>
        </p:nvCxnSpPr>
        <p:spPr bwMode="auto">
          <a:xfrm rot="10800000">
            <a:off x="5105400" y="3886200"/>
            <a:ext cx="1447800" cy="1905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F7FF356A-D15C-C8B2-07E1-FDB02F0B14C3}"/>
              </a:ext>
            </a:extLst>
          </p:cNvPr>
          <p:cNvSpPr>
            <a:spLocks noGrp="1"/>
          </p:cNvSpPr>
          <p:nvPr>
            <p:ph type="title"/>
          </p:nvPr>
        </p:nvSpPr>
        <p:spPr/>
        <p:txBody>
          <a:bodyPr/>
          <a:lstStyle/>
          <a:p>
            <a:r>
              <a:rPr lang="en-US" altLang="en-US"/>
              <a:t>Simple Factory Defined (pg 117)</a:t>
            </a:r>
          </a:p>
        </p:txBody>
      </p:sp>
      <p:sp>
        <p:nvSpPr>
          <p:cNvPr id="39938" name="Content Placeholder 2">
            <a:extLst>
              <a:ext uri="{FF2B5EF4-FFF2-40B4-BE49-F238E27FC236}">
                <a16:creationId xmlns:a16="http://schemas.microsoft.com/office/drawing/2014/main" id="{96F90BD2-DC5C-42E9-8B8C-D8996DBE5202}"/>
              </a:ext>
            </a:extLst>
          </p:cNvPr>
          <p:cNvSpPr>
            <a:spLocks noGrp="1"/>
          </p:cNvSpPr>
          <p:nvPr>
            <p:ph idx="1"/>
          </p:nvPr>
        </p:nvSpPr>
        <p:spPr>
          <a:xfrm>
            <a:off x="381000" y="1295400"/>
            <a:ext cx="8229600" cy="4495800"/>
          </a:xfrm>
        </p:spPr>
        <p:txBody>
          <a:bodyPr/>
          <a:lstStyle/>
          <a:p>
            <a:r>
              <a:rPr lang="en-US" altLang="en-US"/>
              <a:t>This is not an official pattern, but it is commonly used.</a:t>
            </a:r>
          </a:p>
          <a:p>
            <a:endParaRPr lang="en-US" altLang="en-US"/>
          </a:p>
          <a:p>
            <a:r>
              <a:rPr lang="en-US" altLang="en-US"/>
              <a:t>Not a bad place to start.</a:t>
            </a:r>
          </a:p>
          <a:p>
            <a:endParaRPr lang="en-US" altLang="en-US"/>
          </a:p>
          <a:p>
            <a:r>
              <a:rPr lang="en-US" altLang="en-US"/>
              <a:t>When people think of “Factory”, they may actually be thinking of this.</a:t>
            </a:r>
          </a:p>
          <a:p>
            <a:pPr lvl="1"/>
            <a:r>
              <a:rPr lang="en-US" altLang="en-US" u="sng"/>
              <a:t>Important:</a:t>
            </a:r>
            <a:r>
              <a:rPr lang="en-US" altLang="en-US"/>
              <a:t> In a team discussion, you may need to define your vocabulary.</a:t>
            </a:r>
          </a:p>
          <a:p>
            <a:endParaRPr lang="en-US" altLang="en-US"/>
          </a:p>
          <a:p>
            <a:pPr>
              <a:buFont typeface="Wingdings" pitchFamily="2" charset="2"/>
              <a:buNone/>
            </a:pPr>
            <a:endParaRPr lang="en-US" altLang="en-US"/>
          </a:p>
        </p:txBody>
      </p:sp>
      <p:sp>
        <p:nvSpPr>
          <p:cNvPr id="39939" name="Slide Number Placeholder 3">
            <a:extLst>
              <a:ext uri="{FF2B5EF4-FFF2-40B4-BE49-F238E27FC236}">
                <a16:creationId xmlns:a16="http://schemas.microsoft.com/office/drawing/2014/main" id="{C932C514-EAD3-4374-54FA-2EE90AA6B25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1EDBFF0-7C6E-E444-954F-D14C3CF6F42F}" type="slidenum">
              <a:rPr lang="en-US" altLang="en-US" sz="1000">
                <a:latin typeface="Arial Black" panose="020B0604020202020204" pitchFamily="34" charset="0"/>
              </a:rPr>
              <a:pPr>
                <a:spcBef>
                  <a:spcPct val="0"/>
                </a:spcBef>
                <a:buClrTx/>
                <a:buSzTx/>
                <a:buFontTx/>
                <a:buNone/>
              </a:pPr>
              <a:t>15</a:t>
            </a:fld>
            <a:endParaRPr lang="en-US" altLang="en-US" sz="1000">
              <a:latin typeface="Arial Black" panose="020B0604020202020204" pitchFamily="34" charset="0"/>
            </a:endParaRPr>
          </a:p>
        </p:txBody>
      </p:sp>
      <p:sp>
        <p:nvSpPr>
          <p:cNvPr id="39940" name="Date Placeholder 4">
            <a:extLst>
              <a:ext uri="{FF2B5EF4-FFF2-40B4-BE49-F238E27FC236}">
                <a16:creationId xmlns:a16="http://schemas.microsoft.com/office/drawing/2014/main" id="{3B302411-E70F-2CB5-3642-E1CE5684A0C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1FBDDAA-88C4-5D4F-B7CE-BDA3A4D49536}"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FA4FA1EE-A58C-C69D-63CE-81A78F456FE8}"/>
              </a:ext>
            </a:extLst>
          </p:cNvPr>
          <p:cNvSpPr>
            <a:spLocks noGrp="1"/>
          </p:cNvSpPr>
          <p:nvPr>
            <p:ph type="title"/>
          </p:nvPr>
        </p:nvSpPr>
        <p:spPr/>
        <p:txBody>
          <a:bodyPr/>
          <a:lstStyle/>
          <a:p>
            <a:r>
              <a:rPr lang="en-US" altLang="en-US"/>
              <a:t>Change Now Occurs…</a:t>
            </a:r>
          </a:p>
        </p:txBody>
      </p:sp>
      <p:sp>
        <p:nvSpPr>
          <p:cNvPr id="40962" name="Content Placeholder 2">
            <a:extLst>
              <a:ext uri="{FF2B5EF4-FFF2-40B4-BE49-F238E27FC236}">
                <a16:creationId xmlns:a16="http://schemas.microsoft.com/office/drawing/2014/main" id="{5B908E72-57BA-B3B2-D341-DC860E24DAF3}"/>
              </a:ext>
            </a:extLst>
          </p:cNvPr>
          <p:cNvSpPr>
            <a:spLocks noGrp="1"/>
          </p:cNvSpPr>
          <p:nvPr>
            <p:ph idx="1"/>
          </p:nvPr>
        </p:nvSpPr>
        <p:spPr/>
        <p:txBody>
          <a:bodyPr/>
          <a:lstStyle/>
          <a:p>
            <a:r>
              <a:rPr lang="en-US" altLang="en-US"/>
              <a:t>The PizzaStore is very popular and it needs to be franchised.</a:t>
            </a:r>
          </a:p>
          <a:p>
            <a:pPr lvl="1"/>
            <a:r>
              <a:rPr lang="en-US" altLang="en-US"/>
              <a:t>New York is interested</a:t>
            </a:r>
          </a:p>
          <a:p>
            <a:pPr lvl="1"/>
            <a:r>
              <a:rPr lang="en-US" altLang="en-US"/>
              <a:t>Chicago is interested</a:t>
            </a:r>
          </a:p>
          <a:p>
            <a:pPr lvl="1"/>
            <a:r>
              <a:rPr lang="en-US" altLang="en-US"/>
              <a:t>And perhaps one day Fairfax…</a:t>
            </a:r>
          </a:p>
          <a:p>
            <a:pPr lvl="1"/>
            <a:endParaRPr lang="en-US" altLang="en-US"/>
          </a:p>
          <a:p>
            <a:r>
              <a:rPr lang="en-US" altLang="en-US"/>
              <a:t>Since PizzaStore is already composed of a Simple Factory, then this should be easy! Let’s just create PizzaStore with a different SimpleFactory.</a:t>
            </a:r>
          </a:p>
        </p:txBody>
      </p:sp>
      <p:sp>
        <p:nvSpPr>
          <p:cNvPr id="40963" name="Slide Number Placeholder 3">
            <a:extLst>
              <a:ext uri="{FF2B5EF4-FFF2-40B4-BE49-F238E27FC236}">
                <a16:creationId xmlns:a16="http://schemas.microsoft.com/office/drawing/2014/main" id="{B7C7A19F-A362-9AF5-A703-FB2D75FB2B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4F7B3AA-9207-9E47-9FC4-F88AA1CF9454}" type="slidenum">
              <a:rPr lang="en-US" altLang="en-US" sz="1000">
                <a:latin typeface="Arial Black" panose="020B0604020202020204" pitchFamily="34" charset="0"/>
              </a:rPr>
              <a:pPr>
                <a:spcBef>
                  <a:spcPct val="0"/>
                </a:spcBef>
                <a:buClrTx/>
                <a:buSzTx/>
                <a:buFontTx/>
                <a:buNone/>
              </a:pPr>
              <a:t>16</a:t>
            </a:fld>
            <a:endParaRPr lang="en-US" altLang="en-US" sz="1000">
              <a:latin typeface="Arial Black" panose="020B0604020202020204" pitchFamily="34" charset="0"/>
            </a:endParaRPr>
          </a:p>
        </p:txBody>
      </p:sp>
      <p:sp>
        <p:nvSpPr>
          <p:cNvPr id="40964" name="Date Placeholder 4">
            <a:extLst>
              <a:ext uri="{FF2B5EF4-FFF2-40B4-BE49-F238E27FC236}">
                <a16:creationId xmlns:a16="http://schemas.microsoft.com/office/drawing/2014/main" id="{966F3019-CD0D-1671-178D-8EA6462939D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A27CA7F-D7C1-5245-9D45-DE2F10B35A94}"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DA74C0AD-C8DE-6E42-D3D7-426F8D4E7EB5}"/>
              </a:ext>
            </a:extLst>
          </p:cNvPr>
          <p:cNvSpPr>
            <a:spLocks noGrp="1"/>
          </p:cNvSpPr>
          <p:nvPr>
            <p:ph type="title"/>
          </p:nvPr>
        </p:nvSpPr>
        <p:spPr/>
        <p:txBody>
          <a:bodyPr/>
          <a:lstStyle/>
          <a:p>
            <a:r>
              <a:rPr lang="en-US" altLang="en-US"/>
              <a:t>Example (pg 119)</a:t>
            </a:r>
          </a:p>
        </p:txBody>
      </p:sp>
      <p:sp>
        <p:nvSpPr>
          <p:cNvPr id="41986" name="Content Placeholder 2">
            <a:extLst>
              <a:ext uri="{FF2B5EF4-FFF2-40B4-BE49-F238E27FC236}">
                <a16:creationId xmlns:a16="http://schemas.microsoft.com/office/drawing/2014/main" id="{6BB61ADE-9429-4C39-05D0-9E34B082F217}"/>
              </a:ext>
            </a:extLst>
          </p:cNvPr>
          <p:cNvSpPr>
            <a:spLocks noGrp="1"/>
          </p:cNvSpPr>
          <p:nvPr>
            <p:ph idx="1"/>
          </p:nvPr>
        </p:nvSpPr>
        <p:spPr>
          <a:xfrm>
            <a:off x="457200" y="1371600"/>
            <a:ext cx="8229600" cy="3429000"/>
          </a:xfrm>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//NY Pizza Factory has a different if/else logic</a:t>
            </a:r>
          </a:p>
          <a:p>
            <a:pPr>
              <a:buFont typeface="Wingdings" pitchFamily="2" charset="2"/>
              <a:buNone/>
            </a:pPr>
            <a:r>
              <a:rPr lang="en-US" altLang="en-US" sz="1800">
                <a:latin typeface="Courier New" panose="02070309020205020404" pitchFamily="49" charset="0"/>
                <a:cs typeface="Courier New" panose="02070309020205020404" pitchFamily="49" charset="0"/>
              </a:rPr>
              <a:t>NYPizzaFactory nyFactory = new NYPizzaFactory();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//Create the Pizza Store, but use this Simple Factory </a:t>
            </a:r>
          </a:p>
          <a:p>
            <a:pPr>
              <a:buFont typeface="Wingdings" pitchFamily="2" charset="2"/>
              <a:buNone/>
            </a:pPr>
            <a:r>
              <a:rPr lang="en-US" altLang="en-US" sz="1800">
                <a:latin typeface="Courier New" panose="02070309020205020404" pitchFamily="49" charset="0"/>
                <a:cs typeface="Courier New" panose="02070309020205020404" pitchFamily="49" charset="0"/>
              </a:rPr>
              <a:t>//instead</a:t>
            </a:r>
          </a:p>
          <a:p>
            <a:pPr>
              <a:buFont typeface="Wingdings" pitchFamily="2" charset="2"/>
              <a:buNone/>
            </a:pPr>
            <a:r>
              <a:rPr lang="en-US" altLang="en-US" sz="1800">
                <a:latin typeface="Courier New" panose="02070309020205020404" pitchFamily="49" charset="0"/>
                <a:cs typeface="Courier New" panose="02070309020205020404" pitchFamily="49" charset="0"/>
              </a:rPr>
              <a:t>PizzaStore nyStore = new PizzaStore(nyFactory);</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//Order pizza</a:t>
            </a:r>
          </a:p>
          <a:p>
            <a:pPr>
              <a:buFont typeface="Wingdings" pitchFamily="2" charset="2"/>
              <a:buNone/>
            </a:pPr>
            <a:r>
              <a:rPr lang="en-US" altLang="en-US" sz="1800">
                <a:latin typeface="Courier New" panose="02070309020205020404" pitchFamily="49" charset="0"/>
                <a:cs typeface="Courier New" panose="02070309020205020404" pitchFamily="49" charset="0"/>
              </a:rPr>
              <a:t>nyStore.order(“Veggie”);</a:t>
            </a:r>
          </a:p>
        </p:txBody>
      </p:sp>
      <p:sp>
        <p:nvSpPr>
          <p:cNvPr id="41987" name="Slide Number Placeholder 3">
            <a:extLst>
              <a:ext uri="{FF2B5EF4-FFF2-40B4-BE49-F238E27FC236}">
                <a16:creationId xmlns:a16="http://schemas.microsoft.com/office/drawing/2014/main" id="{DC5AD114-72DC-7773-1647-B08F93A684A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1A47E91-F893-FB41-B422-C73023C315BD}" type="slidenum">
              <a:rPr lang="en-US" altLang="en-US" sz="1000">
                <a:latin typeface="Arial Black" panose="020B0604020202020204" pitchFamily="34" charset="0"/>
              </a:rPr>
              <a:pPr>
                <a:spcBef>
                  <a:spcPct val="0"/>
                </a:spcBef>
                <a:buClrTx/>
                <a:buSzTx/>
                <a:buFontTx/>
                <a:buNone/>
              </a:pPr>
              <a:t>17</a:t>
            </a:fld>
            <a:endParaRPr lang="en-US" altLang="en-US" sz="1000">
              <a:latin typeface="Arial Black" panose="020B0604020202020204" pitchFamily="34" charset="0"/>
            </a:endParaRPr>
          </a:p>
        </p:txBody>
      </p:sp>
      <p:sp>
        <p:nvSpPr>
          <p:cNvPr id="41988" name="Date Placeholder 4">
            <a:extLst>
              <a:ext uri="{FF2B5EF4-FFF2-40B4-BE49-F238E27FC236}">
                <a16:creationId xmlns:a16="http://schemas.microsoft.com/office/drawing/2014/main" id="{0FDECBD5-4E94-93F0-195E-86742F184DC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5610A3C-FB72-884D-8DF0-391D35335166}"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7A738F3A-9F69-82B1-2E0B-2FEB8BED8649}"/>
              </a:ext>
            </a:extLst>
          </p:cNvPr>
          <p:cNvSpPr>
            <a:spLocks noGrp="1"/>
          </p:cNvSpPr>
          <p:nvPr>
            <p:ph type="title"/>
          </p:nvPr>
        </p:nvSpPr>
        <p:spPr/>
        <p:txBody>
          <a:bodyPr/>
          <a:lstStyle/>
          <a:p>
            <a:r>
              <a:rPr lang="en-US" altLang="en-US"/>
              <a:t>More change happens…</a:t>
            </a:r>
          </a:p>
        </p:txBody>
      </p:sp>
      <p:sp>
        <p:nvSpPr>
          <p:cNvPr id="43010" name="Content Placeholder 2">
            <a:extLst>
              <a:ext uri="{FF2B5EF4-FFF2-40B4-BE49-F238E27FC236}">
                <a16:creationId xmlns:a16="http://schemas.microsoft.com/office/drawing/2014/main" id="{CDA4716F-44EB-16FE-43D3-E3DF5DC8F9C2}"/>
              </a:ext>
            </a:extLst>
          </p:cNvPr>
          <p:cNvSpPr>
            <a:spLocks noGrp="1"/>
          </p:cNvSpPr>
          <p:nvPr>
            <p:ph idx="1"/>
          </p:nvPr>
        </p:nvSpPr>
        <p:spPr>
          <a:xfrm>
            <a:off x="609600" y="1295400"/>
            <a:ext cx="8229600" cy="4495800"/>
          </a:xfrm>
        </p:spPr>
        <p:txBody>
          <a:bodyPr/>
          <a:lstStyle/>
          <a:p>
            <a:pPr>
              <a:buFont typeface="Wingdings" pitchFamily="2" charset="2"/>
              <a:buNone/>
            </a:pPr>
            <a:r>
              <a:rPr lang="en-US" altLang="en-US"/>
              <a:t>New York likes the PizzaStore, but they want to add more functionality, such as schedule a delivery. </a:t>
            </a:r>
          </a:p>
          <a:p>
            <a:endParaRPr lang="en-US" altLang="en-US"/>
          </a:p>
          <a:p>
            <a:pPr>
              <a:buFont typeface="Wingdings" pitchFamily="2" charset="2"/>
              <a:buNone/>
            </a:pPr>
            <a:r>
              <a:rPr lang="en-US" altLang="en-US"/>
              <a:t>New York attempts to extend PizzaStore…</a:t>
            </a:r>
          </a:p>
          <a:p>
            <a:endParaRPr lang="en-US" altLang="en-US"/>
          </a:p>
          <a:p>
            <a:pPr lvl="1">
              <a:buFont typeface="Wingdings" pitchFamily="2" charset="2"/>
              <a:buNone/>
            </a:pPr>
            <a:r>
              <a:rPr lang="en-US" altLang="en-US" sz="1400">
                <a:latin typeface="Courier New" panose="02070309020205020404" pitchFamily="49" charset="0"/>
                <a:cs typeface="Courier New" panose="02070309020205020404" pitchFamily="49" charset="0"/>
              </a:rPr>
              <a:t>public class NYPizzaStore extends PizzaStore {</a:t>
            </a:r>
          </a:p>
          <a:p>
            <a:pPr lvl="1">
              <a:buFont typeface="Wingdings" pitchFamily="2" charset="2"/>
              <a:buNone/>
            </a:pPr>
            <a:r>
              <a:rPr lang="en-US" altLang="en-US" sz="1400">
                <a:latin typeface="Courier New" panose="02070309020205020404" pitchFamily="49" charset="0"/>
                <a:cs typeface="Courier New" panose="02070309020205020404" pitchFamily="49" charset="0"/>
              </a:rPr>
              <a:t>	</a:t>
            </a:r>
          </a:p>
          <a:p>
            <a:pPr lvl="1">
              <a:buFont typeface="Wingdings" pitchFamily="2" charset="2"/>
              <a:buNone/>
            </a:pPr>
            <a:r>
              <a:rPr lang="en-US" altLang="en-US" sz="1400">
                <a:latin typeface="Courier New" panose="02070309020205020404" pitchFamily="49" charset="0"/>
                <a:cs typeface="Courier New" panose="02070309020205020404" pitchFamily="49" charset="0"/>
              </a:rPr>
              <a:t>	public void ScheduleDelivery() {</a:t>
            </a:r>
          </a:p>
          <a:p>
            <a:pPr lvl="1">
              <a:buFont typeface="Wingdings" pitchFamily="2" charset="2"/>
              <a:buNone/>
            </a:pPr>
            <a:r>
              <a:rPr lang="en-US" altLang="en-US" sz="1400">
                <a:latin typeface="Courier New" panose="02070309020205020404" pitchFamily="49" charset="0"/>
                <a:cs typeface="Courier New" panose="02070309020205020404" pitchFamily="49" charset="0"/>
              </a:rPr>
              <a:t>      …</a:t>
            </a:r>
          </a:p>
          <a:p>
            <a:pPr lvl="1">
              <a:buFont typeface="Wingdings" pitchFamily="2" charset="2"/>
              <a:buNone/>
            </a:pPr>
            <a:r>
              <a:rPr lang="en-US" altLang="en-US" sz="1400">
                <a:latin typeface="Courier New" panose="02070309020205020404" pitchFamily="49" charset="0"/>
                <a:cs typeface="Courier New" panose="02070309020205020404" pitchFamily="49" charset="0"/>
              </a:rPr>
              <a:t>	}</a:t>
            </a:r>
          </a:p>
          <a:p>
            <a:pPr lvl="1">
              <a:buFont typeface="Wingdings" pitchFamily="2" charset="2"/>
              <a:buNone/>
            </a:pPr>
            <a:r>
              <a:rPr lang="en-US" altLang="en-US" sz="1400">
                <a:latin typeface="Courier New" panose="02070309020205020404" pitchFamily="49" charset="0"/>
                <a:cs typeface="Courier New" panose="02070309020205020404" pitchFamily="49" charset="0"/>
              </a:rPr>
              <a:t>}</a:t>
            </a:r>
            <a:endParaRPr lang="en-US" altLang="en-US" sz="1400"/>
          </a:p>
          <a:p>
            <a:pPr>
              <a:buFont typeface="Wingdings" pitchFamily="2" charset="2"/>
              <a:buNone/>
            </a:pPr>
            <a:endParaRPr lang="en-US" altLang="en-US"/>
          </a:p>
          <a:p>
            <a:pPr>
              <a:buFont typeface="Wingdings" pitchFamily="2" charset="2"/>
              <a:buNone/>
            </a:pPr>
            <a:endParaRPr lang="en-US" altLang="en-US"/>
          </a:p>
        </p:txBody>
      </p:sp>
      <p:sp>
        <p:nvSpPr>
          <p:cNvPr id="43011" name="Slide Number Placeholder 3">
            <a:extLst>
              <a:ext uri="{FF2B5EF4-FFF2-40B4-BE49-F238E27FC236}">
                <a16:creationId xmlns:a16="http://schemas.microsoft.com/office/drawing/2014/main" id="{6BA034F4-AFB0-4D0B-3E10-6A109CC4ADA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6C0DC75-2027-3844-9316-BF3FA82C296A}" type="slidenum">
              <a:rPr lang="en-US" altLang="en-US" sz="1000">
                <a:latin typeface="Arial Black" panose="020B0604020202020204" pitchFamily="34" charset="0"/>
              </a:rPr>
              <a:pPr>
                <a:spcBef>
                  <a:spcPct val="0"/>
                </a:spcBef>
                <a:buClrTx/>
                <a:buSzTx/>
                <a:buFontTx/>
                <a:buNone/>
              </a:pPr>
              <a:t>18</a:t>
            </a:fld>
            <a:endParaRPr lang="en-US" altLang="en-US" sz="1000">
              <a:latin typeface="Arial Black" panose="020B0604020202020204" pitchFamily="34" charset="0"/>
            </a:endParaRPr>
          </a:p>
        </p:txBody>
      </p:sp>
      <p:sp>
        <p:nvSpPr>
          <p:cNvPr id="43012" name="Date Placeholder 4">
            <a:extLst>
              <a:ext uri="{FF2B5EF4-FFF2-40B4-BE49-F238E27FC236}">
                <a16:creationId xmlns:a16="http://schemas.microsoft.com/office/drawing/2014/main" id="{F01872D3-64E2-304D-8A00-DC0BB1BEAAF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7C701EA-BB8F-A847-A17E-FB50BCF4F0FA}"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1BB2F6E8-8479-0D28-3305-13C4F4E3A4B0}"/>
              </a:ext>
            </a:extLst>
          </p:cNvPr>
          <p:cNvSpPr>
            <a:spLocks noGrp="1"/>
          </p:cNvSpPr>
          <p:nvPr>
            <p:ph type="title"/>
          </p:nvPr>
        </p:nvSpPr>
        <p:spPr/>
        <p:txBody>
          <a:bodyPr/>
          <a:lstStyle/>
          <a:p>
            <a:r>
              <a:rPr lang="en-US" altLang="en-US"/>
              <a:t>More change happens… (cont)</a:t>
            </a:r>
          </a:p>
        </p:txBody>
      </p:sp>
      <p:sp>
        <p:nvSpPr>
          <p:cNvPr id="44034" name="Content Placeholder 2">
            <a:extLst>
              <a:ext uri="{FF2B5EF4-FFF2-40B4-BE49-F238E27FC236}">
                <a16:creationId xmlns:a16="http://schemas.microsoft.com/office/drawing/2014/main" id="{DBB7DF5E-D61A-C375-E10B-E2C2A7942B32}"/>
              </a:ext>
            </a:extLst>
          </p:cNvPr>
          <p:cNvSpPr>
            <a:spLocks noGrp="1"/>
          </p:cNvSpPr>
          <p:nvPr>
            <p:ph idx="1"/>
          </p:nvPr>
        </p:nvSpPr>
        <p:spPr>
          <a:xfrm>
            <a:off x="457200" y="1371600"/>
            <a:ext cx="8229600" cy="51054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NYPizzaFactory nyFactory = new NYPizzaFactory();   </a:t>
            </a:r>
          </a:p>
          <a:p>
            <a:pPr>
              <a:buFont typeface="Wingdings" pitchFamily="2" charset="2"/>
              <a:buNone/>
            </a:pPr>
            <a:r>
              <a:rPr lang="en-US" altLang="en-US" sz="1600">
                <a:latin typeface="Courier New" panose="02070309020205020404" pitchFamily="49" charset="0"/>
                <a:cs typeface="Courier New" panose="02070309020205020404" pitchFamily="49" charset="0"/>
              </a:rPr>
              <a:t>NYPizzaStore nyStore = new NYPizzaStore(</a:t>
            </a:r>
            <a:r>
              <a:rPr lang="en-US" altLang="en-US" sz="1600" b="1">
                <a:solidFill>
                  <a:srgbClr val="FF0000"/>
                </a:solidFill>
                <a:latin typeface="Courier New" panose="02070309020205020404" pitchFamily="49" charset="0"/>
                <a:cs typeface="Courier New" panose="02070309020205020404" pitchFamily="49" charset="0"/>
              </a:rPr>
              <a:t>nyFactory</a:t>
            </a: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//Order pizza</a:t>
            </a:r>
          </a:p>
          <a:p>
            <a:pPr>
              <a:buFont typeface="Wingdings" pitchFamily="2" charset="2"/>
              <a:buNone/>
            </a:pPr>
            <a:r>
              <a:rPr lang="en-US" altLang="en-US" sz="1600">
                <a:latin typeface="Courier New" panose="02070309020205020404" pitchFamily="49" charset="0"/>
                <a:cs typeface="Courier New" panose="02070309020205020404" pitchFamily="49" charset="0"/>
              </a:rPr>
              <a:t>nyStore.order(“Veggie”);</a:t>
            </a:r>
          </a:p>
          <a:p>
            <a:pPr>
              <a:buFont typeface="Wingdings" pitchFamily="2" charset="2"/>
              <a:buNone/>
            </a:pPr>
            <a:r>
              <a:rPr lang="en-US" altLang="en-US" sz="1600">
                <a:latin typeface="Courier New" panose="02070309020205020404" pitchFamily="49" charset="0"/>
                <a:cs typeface="Courier New" panose="02070309020205020404" pitchFamily="49" charset="0"/>
              </a:rPr>
              <a:t>myStore.ScheduleDelivery();</a:t>
            </a:r>
          </a:p>
          <a:p>
            <a:pPr>
              <a:buFont typeface="Wingdings" pitchFamily="2" charset="2"/>
              <a:buNone/>
            </a:pPr>
            <a:endParaRPr lang="en-US" altLang="en-US"/>
          </a:p>
          <a:p>
            <a:pPr>
              <a:buFont typeface="Wingdings" pitchFamily="2" charset="2"/>
              <a:buNone/>
            </a:pPr>
            <a:r>
              <a:rPr lang="en-US" altLang="en-US"/>
              <a:t>New York says the following:</a:t>
            </a:r>
          </a:p>
          <a:p>
            <a:pPr lvl="1"/>
            <a:r>
              <a:rPr lang="en-US" altLang="en-US"/>
              <a:t>We only have </a:t>
            </a:r>
            <a:r>
              <a:rPr lang="en-US" altLang="en-US" u="sng"/>
              <a:t>one way </a:t>
            </a:r>
            <a:r>
              <a:rPr lang="en-US" altLang="en-US"/>
              <a:t>to create pizzas; therefore, we don’t </a:t>
            </a:r>
            <a:r>
              <a:rPr lang="en-US" altLang="en-US" i="1"/>
              <a:t>need </a:t>
            </a:r>
            <a:r>
              <a:rPr lang="en-US" altLang="en-US"/>
              <a:t>to use composition for the pizza creation.  </a:t>
            </a:r>
          </a:p>
          <a:p>
            <a:pPr lvl="1">
              <a:buFont typeface="Wingdings" pitchFamily="2" charset="2"/>
              <a:buNone/>
            </a:pPr>
            <a:endParaRPr lang="en-US" altLang="en-US"/>
          </a:p>
          <a:p>
            <a:pPr lvl="1"/>
            <a:r>
              <a:rPr lang="en-US" altLang="en-US"/>
              <a:t>We are not happy that we have to create our extended Pizza store </a:t>
            </a:r>
            <a:r>
              <a:rPr lang="en-US" altLang="en-US" i="1" u="sng"/>
              <a:t>and</a:t>
            </a:r>
            <a:r>
              <a:rPr lang="en-US" altLang="en-US"/>
              <a:t> create a unique factory for creating pizzas.  These two classes have a one-to-one relationship with each other. Can’t they be combined??</a:t>
            </a:r>
          </a:p>
        </p:txBody>
      </p:sp>
      <p:sp>
        <p:nvSpPr>
          <p:cNvPr id="44035" name="Slide Number Placeholder 3">
            <a:extLst>
              <a:ext uri="{FF2B5EF4-FFF2-40B4-BE49-F238E27FC236}">
                <a16:creationId xmlns:a16="http://schemas.microsoft.com/office/drawing/2014/main" id="{72392078-B64F-448E-E22A-CC8B7190CE1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1CCA274-972F-5D4B-B4BE-7E1C0C1F630D}" type="slidenum">
              <a:rPr lang="en-US" altLang="en-US" sz="1000">
                <a:latin typeface="Arial Black" panose="020B0604020202020204" pitchFamily="34" charset="0"/>
              </a:rPr>
              <a:pPr>
                <a:spcBef>
                  <a:spcPct val="0"/>
                </a:spcBef>
                <a:buClrTx/>
                <a:buSzTx/>
                <a:buFontTx/>
                <a:buNone/>
              </a:pPr>
              <a:t>19</a:t>
            </a:fld>
            <a:endParaRPr lang="en-US" altLang="en-US" sz="1000">
              <a:latin typeface="Arial Black" panose="020B0604020202020204" pitchFamily="34" charset="0"/>
            </a:endParaRPr>
          </a:p>
        </p:txBody>
      </p:sp>
      <p:sp>
        <p:nvSpPr>
          <p:cNvPr id="44036" name="Date Placeholder 4">
            <a:extLst>
              <a:ext uri="{FF2B5EF4-FFF2-40B4-BE49-F238E27FC236}">
                <a16:creationId xmlns:a16="http://schemas.microsoft.com/office/drawing/2014/main" id="{99C4B2EA-4A59-3AB9-B525-78D02650781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285871A-A841-1945-8268-43D91E493330}" type="datetime1">
              <a:rPr lang="en-US" altLang="en-US" sz="1200" smtClean="0"/>
              <a:pPr>
                <a:spcBef>
                  <a:spcPct val="0"/>
                </a:spcBef>
                <a:buClrTx/>
                <a:buSzTx/>
                <a:buFontTx/>
                <a:buNone/>
              </a:pPr>
              <a:t>3/13/24</a:t>
            </a:fld>
            <a:endParaRPr lang="en-US" altLang="en-US" sz="1200"/>
          </a:p>
        </p:txBody>
      </p:sp>
      <p:cxnSp>
        <p:nvCxnSpPr>
          <p:cNvPr id="44037" name="Straight Arrow Connector 6">
            <a:extLst>
              <a:ext uri="{FF2B5EF4-FFF2-40B4-BE49-F238E27FC236}">
                <a16:creationId xmlns:a16="http://schemas.microsoft.com/office/drawing/2014/main" id="{804BACED-554D-C60B-3BF4-72E079790D72}"/>
              </a:ext>
            </a:extLst>
          </p:cNvPr>
          <p:cNvCxnSpPr>
            <a:cxnSpLocks noChangeShapeType="1"/>
          </p:cNvCxnSpPr>
          <p:nvPr/>
        </p:nvCxnSpPr>
        <p:spPr bwMode="auto">
          <a:xfrm rot="10800000">
            <a:off x="6477000" y="1905000"/>
            <a:ext cx="762000" cy="3048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5AC8D476-5145-E900-6660-1015EB14D111}"/>
              </a:ext>
            </a:extLst>
          </p:cNvPr>
          <p:cNvSpPr>
            <a:spLocks noGrp="1"/>
          </p:cNvSpPr>
          <p:nvPr>
            <p:ph type="title"/>
          </p:nvPr>
        </p:nvSpPr>
        <p:spPr/>
        <p:txBody>
          <a:bodyPr/>
          <a:lstStyle/>
          <a:p>
            <a:r>
              <a:rPr lang="en-US" altLang="en-US"/>
              <a:t>What New York wants</a:t>
            </a:r>
          </a:p>
        </p:txBody>
      </p:sp>
      <p:sp>
        <p:nvSpPr>
          <p:cNvPr id="45058" name="Content Placeholder 2">
            <a:extLst>
              <a:ext uri="{FF2B5EF4-FFF2-40B4-BE49-F238E27FC236}">
                <a16:creationId xmlns:a16="http://schemas.microsoft.com/office/drawing/2014/main" id="{34D46B79-B915-9968-2EEB-F089FDF0372D}"/>
              </a:ext>
            </a:extLst>
          </p:cNvPr>
          <p:cNvSpPr>
            <a:spLocks noGrp="1"/>
          </p:cNvSpPr>
          <p:nvPr>
            <p:ph idx="1"/>
          </p:nvPr>
        </p:nvSpPr>
        <p:spPr/>
        <p:txBody>
          <a:bodyPr/>
          <a:lstStyle/>
          <a:p>
            <a:pPr>
              <a:buFont typeface="Wingdings" pitchFamily="2" charset="2"/>
              <a:buNone/>
            </a:pPr>
            <a:r>
              <a:rPr lang="en-US" altLang="en-US"/>
              <a:t>A framework so that NY can do the following:</a:t>
            </a:r>
          </a:p>
          <a:p>
            <a:pPr>
              <a:buFont typeface="Wingdings" pitchFamily="2" charset="2"/>
              <a:buNone/>
            </a:pPr>
            <a:endParaRPr lang="en-US" altLang="en-US"/>
          </a:p>
          <a:p>
            <a:r>
              <a:rPr lang="en-US" altLang="en-US"/>
              <a:t>Create pizzas in a NY style</a:t>
            </a:r>
          </a:p>
          <a:p>
            <a:endParaRPr lang="en-US" altLang="en-US"/>
          </a:p>
          <a:p>
            <a:r>
              <a:rPr lang="en-US" altLang="en-US"/>
              <a:t>Add additional functionality that is applicable to NY only.</a:t>
            </a:r>
          </a:p>
        </p:txBody>
      </p:sp>
      <p:sp>
        <p:nvSpPr>
          <p:cNvPr id="45059" name="Slide Number Placeholder 3">
            <a:extLst>
              <a:ext uri="{FF2B5EF4-FFF2-40B4-BE49-F238E27FC236}">
                <a16:creationId xmlns:a16="http://schemas.microsoft.com/office/drawing/2014/main" id="{30F1C317-689E-9E01-08AA-F1CA88088EA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9A24A31-02FA-AB4E-AFEB-1451B2433C8B}" type="slidenum">
              <a:rPr lang="en-US" altLang="en-US" sz="1000">
                <a:latin typeface="Arial Black" panose="020B0604020202020204" pitchFamily="34" charset="0"/>
              </a:rPr>
              <a:pPr>
                <a:spcBef>
                  <a:spcPct val="0"/>
                </a:spcBef>
                <a:buClrTx/>
                <a:buSzTx/>
                <a:buFontTx/>
                <a:buNone/>
              </a:pPr>
              <a:t>20</a:t>
            </a:fld>
            <a:endParaRPr lang="en-US" altLang="en-US" sz="1000">
              <a:latin typeface="Arial Black" panose="020B0604020202020204" pitchFamily="34" charset="0"/>
            </a:endParaRPr>
          </a:p>
        </p:txBody>
      </p:sp>
      <p:sp>
        <p:nvSpPr>
          <p:cNvPr id="45060" name="Date Placeholder 4">
            <a:extLst>
              <a:ext uri="{FF2B5EF4-FFF2-40B4-BE49-F238E27FC236}">
                <a16:creationId xmlns:a16="http://schemas.microsoft.com/office/drawing/2014/main" id="{DEDC9D90-C6AD-DD4C-1E11-8320F9A048A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BFC1479-AB56-4F4B-8486-CC1BA089D264}"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07EDFD03-08A4-ABF3-054C-001DFA53FB0A}"/>
              </a:ext>
            </a:extLst>
          </p:cNvPr>
          <p:cNvSpPr>
            <a:spLocks noGrp="1"/>
          </p:cNvSpPr>
          <p:nvPr>
            <p:ph type="title"/>
          </p:nvPr>
        </p:nvSpPr>
        <p:spPr/>
        <p:txBody>
          <a:bodyPr/>
          <a:lstStyle/>
          <a:p>
            <a:r>
              <a:rPr lang="en-US" altLang="en-US"/>
              <a:t>A Framework for Pizza Store (pg 120)</a:t>
            </a:r>
          </a:p>
        </p:txBody>
      </p:sp>
      <p:sp>
        <p:nvSpPr>
          <p:cNvPr id="46082" name="Content Placeholder 2">
            <a:extLst>
              <a:ext uri="{FF2B5EF4-FFF2-40B4-BE49-F238E27FC236}">
                <a16:creationId xmlns:a16="http://schemas.microsoft.com/office/drawing/2014/main" id="{1EE9B0AF-2809-877D-5DB1-EA532A362DF4}"/>
              </a:ext>
            </a:extLst>
          </p:cNvPr>
          <p:cNvSpPr>
            <a:spLocks noGrp="1"/>
          </p:cNvSpPr>
          <p:nvPr>
            <p:ph idx="1"/>
          </p:nvPr>
        </p:nvSpPr>
        <p:spPr>
          <a:xfrm>
            <a:off x="457200" y="1371600"/>
            <a:ext cx="8229600" cy="35814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a:t>
            </a:r>
            <a:r>
              <a:rPr lang="en-US" altLang="en-US" sz="1600" b="1">
                <a:solidFill>
                  <a:srgbClr val="FF0000"/>
                </a:solidFill>
                <a:latin typeface="Courier New" panose="02070309020205020404" pitchFamily="49" charset="0"/>
                <a:cs typeface="Courier New" panose="02070309020205020404" pitchFamily="49" charset="0"/>
              </a:rPr>
              <a:t>abstract</a:t>
            </a:r>
            <a:r>
              <a:rPr lang="en-US" altLang="en-US" sz="1600">
                <a:latin typeface="Courier New" panose="02070309020205020404" pitchFamily="49" charset="0"/>
                <a:cs typeface="Courier New" panose="02070309020205020404" pitchFamily="49" charset="0"/>
              </a:rPr>
              <a:t> class PizzaStore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abstract Pizza createPizza(String item);</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Pizza orderPizza(String type) {</a:t>
            </a:r>
          </a:p>
          <a:p>
            <a:pPr>
              <a:buFont typeface="Wingdings" pitchFamily="2" charset="2"/>
              <a:buNone/>
            </a:pPr>
            <a:r>
              <a:rPr lang="en-US" altLang="en-US" sz="1600">
                <a:latin typeface="Courier New" panose="02070309020205020404" pitchFamily="49" charset="0"/>
                <a:cs typeface="Courier New" panose="02070309020205020404" pitchFamily="49" charset="0"/>
              </a:rPr>
              <a:t>		Pizza pizza = </a:t>
            </a:r>
            <a:r>
              <a:rPr lang="en-US" altLang="en-US" sz="1600" b="1">
                <a:solidFill>
                  <a:srgbClr val="FF0000"/>
                </a:solidFill>
                <a:latin typeface="Courier New" panose="02070309020205020404" pitchFamily="49" charset="0"/>
                <a:cs typeface="Courier New" panose="02070309020205020404" pitchFamily="49" charset="0"/>
              </a:rPr>
              <a:t>createPizza(type);</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pizza.prepare();</a:t>
            </a:r>
          </a:p>
          <a:p>
            <a:pPr>
              <a:buFont typeface="Wingdings" pitchFamily="2" charset="2"/>
              <a:buNone/>
            </a:pPr>
            <a:r>
              <a:rPr lang="en-US" altLang="en-US" sz="1600">
                <a:latin typeface="Courier New" panose="02070309020205020404" pitchFamily="49" charset="0"/>
                <a:cs typeface="Courier New" panose="02070309020205020404" pitchFamily="49" charset="0"/>
              </a:rPr>
              <a:t>       . . . </a:t>
            </a:r>
          </a:p>
          <a:p>
            <a:pPr>
              <a:buFont typeface="Wingdings" pitchFamily="2" charset="2"/>
              <a:buNone/>
            </a:pPr>
            <a:r>
              <a:rPr lang="en-US" altLang="en-US" sz="1600">
                <a:latin typeface="Courier New" panose="02070309020205020404" pitchFamily="49" charset="0"/>
                <a:cs typeface="Courier New" panose="02070309020205020404" pitchFamily="49" charset="0"/>
              </a:rPr>
              <a:t>		return pizza;</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p:txBody>
      </p:sp>
      <p:sp>
        <p:nvSpPr>
          <p:cNvPr id="46083" name="Slide Number Placeholder 3">
            <a:extLst>
              <a:ext uri="{FF2B5EF4-FFF2-40B4-BE49-F238E27FC236}">
                <a16:creationId xmlns:a16="http://schemas.microsoft.com/office/drawing/2014/main" id="{CB8AFA0C-FFB2-B2F6-CE27-CCCE13FCDA5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81261D3-06D1-9646-B7D7-2F02B0831450}" type="slidenum">
              <a:rPr lang="en-US" altLang="en-US" sz="1000">
                <a:latin typeface="Arial Black" panose="020B0604020202020204" pitchFamily="34" charset="0"/>
              </a:rPr>
              <a:pPr>
                <a:spcBef>
                  <a:spcPct val="0"/>
                </a:spcBef>
                <a:buClrTx/>
                <a:buSzTx/>
                <a:buFontTx/>
                <a:buNone/>
              </a:pPr>
              <a:t>21</a:t>
            </a:fld>
            <a:endParaRPr lang="en-US" altLang="en-US" sz="1000">
              <a:latin typeface="Arial Black" panose="020B0604020202020204" pitchFamily="34" charset="0"/>
            </a:endParaRPr>
          </a:p>
        </p:txBody>
      </p:sp>
      <p:sp>
        <p:nvSpPr>
          <p:cNvPr id="46084" name="Date Placeholder 4">
            <a:extLst>
              <a:ext uri="{FF2B5EF4-FFF2-40B4-BE49-F238E27FC236}">
                <a16:creationId xmlns:a16="http://schemas.microsoft.com/office/drawing/2014/main" id="{F8DDDF7A-81CD-4D3C-5A5C-D8C721A9B81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8D47E1F-0B7F-6045-BEE1-10AC6CC7B721}" type="datetime1">
              <a:rPr lang="en-US" altLang="en-US" sz="1200" smtClean="0"/>
              <a:pPr>
                <a:spcBef>
                  <a:spcPct val="0"/>
                </a:spcBef>
                <a:buClrTx/>
                <a:buSzTx/>
                <a:buFontTx/>
                <a:buNone/>
              </a:pPr>
              <a:t>3/13/24</a:t>
            </a:fld>
            <a:endParaRPr lang="en-US" altLang="en-US" sz="1200"/>
          </a:p>
        </p:txBody>
      </p:sp>
      <p:sp>
        <p:nvSpPr>
          <p:cNvPr id="46085" name="TextBox 5">
            <a:extLst>
              <a:ext uri="{FF2B5EF4-FFF2-40B4-BE49-F238E27FC236}">
                <a16:creationId xmlns:a16="http://schemas.microsoft.com/office/drawing/2014/main" id="{AC872B2A-A6B3-886C-CA8B-543627A2B700}"/>
              </a:ext>
            </a:extLst>
          </p:cNvPr>
          <p:cNvSpPr txBox="1">
            <a:spLocks noChangeArrowheads="1"/>
          </p:cNvSpPr>
          <p:nvPr/>
        </p:nvSpPr>
        <p:spPr bwMode="auto">
          <a:xfrm>
            <a:off x="381000" y="5334000"/>
            <a:ext cx="8001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u="sng"/>
              <a:t>NOTE</a:t>
            </a:r>
            <a:r>
              <a:rPr lang="en-US" altLang="en-US" sz="1800"/>
              <a:t>: We are using </a:t>
            </a:r>
            <a:r>
              <a:rPr lang="en-US" altLang="en-US" sz="1800" i="1"/>
              <a:t>inheritance</a:t>
            </a:r>
            <a:r>
              <a:rPr lang="en-US" altLang="en-US" sz="1800"/>
              <a:t> here to create the pizzas, not composition. Also, the constructor for PizzaStore has been removed.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700C9D4A-A6E4-121B-3AB4-7D71B166E1ED}"/>
              </a:ext>
            </a:extLst>
          </p:cNvPr>
          <p:cNvSpPr>
            <a:spLocks noGrp="1"/>
          </p:cNvSpPr>
          <p:nvPr>
            <p:ph type="title"/>
          </p:nvPr>
        </p:nvSpPr>
        <p:spPr/>
        <p:txBody>
          <a:bodyPr/>
          <a:lstStyle/>
          <a:p>
            <a:r>
              <a:rPr lang="en-US" altLang="en-US"/>
              <a:t>NYPizzaStore (pg 123)</a:t>
            </a:r>
          </a:p>
        </p:txBody>
      </p:sp>
      <p:sp>
        <p:nvSpPr>
          <p:cNvPr id="47106" name="Content Placeholder 2">
            <a:extLst>
              <a:ext uri="{FF2B5EF4-FFF2-40B4-BE49-F238E27FC236}">
                <a16:creationId xmlns:a16="http://schemas.microsoft.com/office/drawing/2014/main" id="{3C185143-8080-2407-2734-3E4DCA26512D}"/>
              </a:ext>
            </a:extLst>
          </p:cNvPr>
          <p:cNvSpPr>
            <a:spLocks noGrp="1"/>
          </p:cNvSpPr>
          <p:nvPr>
            <p:ph idx="1"/>
          </p:nvPr>
        </p:nvSpPr>
        <p:spPr>
          <a:xfrm>
            <a:off x="457200" y="1371600"/>
            <a:ext cx="8229600" cy="4191000"/>
          </a:xfrm>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public class NYPizzaStore extends PizzaStore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lvl="1">
              <a:buFont typeface="Wingdings" pitchFamily="2" charset="2"/>
              <a:buNone/>
            </a:pPr>
            <a:r>
              <a:rPr lang="en-US" altLang="en-US" sz="1400">
                <a:latin typeface="Courier New" panose="02070309020205020404" pitchFamily="49" charset="0"/>
                <a:cs typeface="Courier New" panose="02070309020205020404" pitchFamily="49" charset="0"/>
              </a:rPr>
              <a:t>	</a:t>
            </a:r>
            <a:r>
              <a:rPr lang="en-US" altLang="en-US" sz="1400" b="1">
                <a:solidFill>
                  <a:srgbClr val="FF0000"/>
                </a:solidFill>
                <a:latin typeface="Courier New" panose="02070309020205020404" pitchFamily="49" charset="0"/>
                <a:cs typeface="Courier New" panose="02070309020205020404" pitchFamily="49" charset="0"/>
              </a:rPr>
              <a:t>Pizza createPizza(String item) {</a:t>
            </a:r>
          </a:p>
          <a:p>
            <a:pPr lvl="2">
              <a:buFont typeface="Wingdings" pitchFamily="2" charset="2"/>
              <a:buNone/>
            </a:pPr>
            <a:r>
              <a:rPr lang="en-US" altLang="en-US" sz="1400">
                <a:latin typeface="Courier New" panose="02070309020205020404" pitchFamily="49" charset="0"/>
                <a:cs typeface="Courier New" panose="02070309020205020404" pitchFamily="49" charset="0"/>
              </a:rPr>
              <a:t>		if (item.equals("cheese")) {</a:t>
            </a:r>
          </a:p>
          <a:p>
            <a:pPr lvl="2">
              <a:buFont typeface="Wingdings" pitchFamily="2" charset="2"/>
              <a:buNone/>
            </a:pPr>
            <a:r>
              <a:rPr lang="en-US" altLang="en-US" sz="1400">
                <a:latin typeface="Courier New" panose="02070309020205020404" pitchFamily="49" charset="0"/>
                <a:cs typeface="Courier New" panose="02070309020205020404" pitchFamily="49" charset="0"/>
              </a:rPr>
              <a:t>			return new NYStyleCheesePizza();</a:t>
            </a:r>
          </a:p>
          <a:p>
            <a:pPr lvl="2">
              <a:buFont typeface="Wingdings" pitchFamily="2" charset="2"/>
              <a:buNone/>
            </a:pPr>
            <a:r>
              <a:rPr lang="en-US" altLang="en-US" sz="1400">
                <a:latin typeface="Courier New" panose="02070309020205020404" pitchFamily="49" charset="0"/>
                <a:cs typeface="Courier New" panose="02070309020205020404" pitchFamily="49" charset="0"/>
              </a:rPr>
              <a:t>		} else if (item.equals("veggie")) {</a:t>
            </a:r>
          </a:p>
          <a:p>
            <a:pPr lvl="2">
              <a:buFont typeface="Wingdings" pitchFamily="2" charset="2"/>
              <a:buNone/>
            </a:pPr>
            <a:r>
              <a:rPr lang="en-US" altLang="en-US" sz="1400">
                <a:latin typeface="Courier New" panose="02070309020205020404" pitchFamily="49" charset="0"/>
                <a:cs typeface="Courier New" panose="02070309020205020404" pitchFamily="49" charset="0"/>
              </a:rPr>
              <a:t>			return new NYStyleVeggiePizza();</a:t>
            </a:r>
          </a:p>
          <a:p>
            <a:pPr lvl="2">
              <a:buFont typeface="Wingdings" pitchFamily="2" charset="2"/>
              <a:buNone/>
            </a:pPr>
            <a:r>
              <a:rPr lang="en-US" altLang="en-US" sz="1400">
                <a:latin typeface="Courier New" panose="02070309020205020404" pitchFamily="49" charset="0"/>
                <a:cs typeface="Courier New" panose="02070309020205020404" pitchFamily="49" charset="0"/>
              </a:rPr>
              <a:t>		} else if (item.equals("clam")) {</a:t>
            </a:r>
          </a:p>
          <a:p>
            <a:pPr lvl="2">
              <a:buFont typeface="Wingdings" pitchFamily="2" charset="2"/>
              <a:buNone/>
            </a:pPr>
            <a:r>
              <a:rPr lang="en-US" altLang="en-US" sz="1400">
                <a:latin typeface="Courier New" panose="02070309020205020404" pitchFamily="49" charset="0"/>
                <a:cs typeface="Courier New" panose="02070309020205020404" pitchFamily="49" charset="0"/>
              </a:rPr>
              <a:t>			return new NYStyleClamPizza();</a:t>
            </a:r>
          </a:p>
          <a:p>
            <a:pPr lvl="2">
              <a:buFont typeface="Wingdings" pitchFamily="2" charset="2"/>
              <a:buNone/>
            </a:pPr>
            <a:r>
              <a:rPr lang="en-US" altLang="en-US" sz="1400">
                <a:latin typeface="Courier New" panose="02070309020205020404" pitchFamily="49" charset="0"/>
                <a:cs typeface="Courier New" panose="02070309020205020404" pitchFamily="49" charset="0"/>
              </a:rPr>
              <a:t>		} else if (item.equals("pepperoni")) {</a:t>
            </a:r>
          </a:p>
          <a:p>
            <a:pPr lvl="2">
              <a:buFont typeface="Wingdings" pitchFamily="2" charset="2"/>
              <a:buNone/>
            </a:pPr>
            <a:r>
              <a:rPr lang="en-US" altLang="en-US" sz="1400">
                <a:latin typeface="Courier New" panose="02070309020205020404" pitchFamily="49" charset="0"/>
                <a:cs typeface="Courier New" panose="02070309020205020404" pitchFamily="49" charset="0"/>
              </a:rPr>
              <a:t>			return new NYStylePepperoniPizza();</a:t>
            </a:r>
          </a:p>
          <a:p>
            <a:pPr lvl="2">
              <a:buFont typeface="Wingdings" pitchFamily="2" charset="2"/>
              <a:buNone/>
            </a:pPr>
            <a:r>
              <a:rPr lang="en-US" altLang="en-US" sz="1400">
                <a:latin typeface="Courier New" panose="02070309020205020404" pitchFamily="49" charset="0"/>
                <a:cs typeface="Courier New" panose="02070309020205020404" pitchFamily="49" charset="0"/>
              </a:rPr>
              <a:t>		} else return null;</a:t>
            </a:r>
          </a:p>
          <a:p>
            <a:pPr lvl="1">
              <a:buFont typeface="Wingdings" pitchFamily="2" charset="2"/>
              <a:buNone/>
            </a:pPr>
            <a:r>
              <a:rPr lang="en-US" altLang="en-US" sz="1400">
                <a:latin typeface="Courier New" panose="02070309020205020404" pitchFamily="49" charset="0"/>
                <a:cs typeface="Courier New" panose="02070309020205020404" pitchFamily="49" charset="0"/>
              </a:rPr>
              <a:t>	</a:t>
            </a:r>
            <a:r>
              <a:rPr lang="en-US" altLang="en-US" sz="1400" b="1">
                <a:solidFill>
                  <a:srgbClr val="FF0000"/>
                </a:solidFill>
                <a:latin typeface="Courier New" panose="02070309020205020404" pitchFamily="49" charset="0"/>
                <a:cs typeface="Courier New" panose="02070309020205020404" pitchFamily="49" charset="0"/>
              </a:rPr>
              <a:t>}</a:t>
            </a:r>
          </a:p>
          <a:p>
            <a:pPr lvl="1">
              <a:buFont typeface="Wingdings" pitchFamily="2" charset="2"/>
              <a:buNone/>
            </a:pPr>
            <a:endParaRPr lang="en-US" altLang="en-US" sz="1400">
              <a:latin typeface="Courier New" panose="02070309020205020404" pitchFamily="49" charset="0"/>
              <a:cs typeface="Courier New" panose="02070309020205020404" pitchFamily="49" charset="0"/>
            </a:endParaRPr>
          </a:p>
          <a:p>
            <a:pPr lvl="1">
              <a:buFont typeface="Wingdings" pitchFamily="2" charset="2"/>
              <a:buNone/>
            </a:pPr>
            <a:r>
              <a:rPr lang="en-US" altLang="en-US" sz="1400">
                <a:latin typeface="Courier New" panose="02070309020205020404" pitchFamily="49" charset="0"/>
                <a:cs typeface="Courier New" panose="02070309020205020404" pitchFamily="49" charset="0"/>
              </a:rPr>
              <a:t>   void ScheduleDelivery();</a:t>
            </a:r>
          </a:p>
          <a:p>
            <a:pPr>
              <a:buFont typeface="Wingdings" pitchFamily="2" charset="2"/>
              <a:buNone/>
            </a:pPr>
            <a:r>
              <a:rPr lang="en-US" altLang="en-US" sz="1800">
                <a:latin typeface="Courier New" panose="02070309020205020404" pitchFamily="49" charset="0"/>
                <a:cs typeface="Courier New" panose="02070309020205020404" pitchFamily="49" charset="0"/>
              </a:rPr>
              <a:t>}</a:t>
            </a:r>
          </a:p>
        </p:txBody>
      </p:sp>
      <p:sp>
        <p:nvSpPr>
          <p:cNvPr id="47107" name="Slide Number Placeholder 3">
            <a:extLst>
              <a:ext uri="{FF2B5EF4-FFF2-40B4-BE49-F238E27FC236}">
                <a16:creationId xmlns:a16="http://schemas.microsoft.com/office/drawing/2014/main" id="{E2ADBF49-79C4-DD32-2C4D-3E27F71A954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CE751C3-3D34-994E-948F-64395E3230DD}" type="slidenum">
              <a:rPr lang="en-US" altLang="en-US" sz="1000">
                <a:latin typeface="Arial Black" panose="020B0604020202020204" pitchFamily="34" charset="0"/>
              </a:rPr>
              <a:pPr>
                <a:spcBef>
                  <a:spcPct val="0"/>
                </a:spcBef>
                <a:buClrTx/>
                <a:buSzTx/>
                <a:buFontTx/>
                <a:buNone/>
              </a:pPr>
              <a:t>22</a:t>
            </a:fld>
            <a:endParaRPr lang="en-US" altLang="en-US" sz="1000">
              <a:latin typeface="Arial Black" panose="020B0604020202020204" pitchFamily="34" charset="0"/>
            </a:endParaRPr>
          </a:p>
        </p:txBody>
      </p:sp>
      <p:sp>
        <p:nvSpPr>
          <p:cNvPr id="47108" name="Date Placeholder 4">
            <a:extLst>
              <a:ext uri="{FF2B5EF4-FFF2-40B4-BE49-F238E27FC236}">
                <a16:creationId xmlns:a16="http://schemas.microsoft.com/office/drawing/2014/main" id="{9E686636-F10B-9C31-E5AF-10E286C4717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ED98E01-3700-5543-8AF6-857A4B56F6BC}" type="datetime1">
              <a:rPr lang="en-US" altLang="en-US" sz="1200" smtClean="0"/>
              <a:pPr>
                <a:spcBef>
                  <a:spcPct val="0"/>
                </a:spcBef>
                <a:buClrTx/>
                <a:buSzTx/>
                <a:buFontTx/>
                <a:buNone/>
              </a:pPr>
              <a:t>3/13/24</a:t>
            </a:fld>
            <a:endParaRPr lang="en-US" altLang="en-US" sz="1200"/>
          </a:p>
        </p:txBody>
      </p:sp>
      <p:sp>
        <p:nvSpPr>
          <p:cNvPr id="47109" name="TextBox 5">
            <a:extLst>
              <a:ext uri="{FF2B5EF4-FFF2-40B4-BE49-F238E27FC236}">
                <a16:creationId xmlns:a16="http://schemas.microsoft.com/office/drawing/2014/main" id="{82E94AD5-C970-B8DB-1976-AAB83E3ABC7D}"/>
              </a:ext>
            </a:extLst>
          </p:cNvPr>
          <p:cNvSpPr txBox="1">
            <a:spLocks noChangeArrowheads="1"/>
          </p:cNvSpPr>
          <p:nvPr/>
        </p:nvSpPr>
        <p:spPr bwMode="auto">
          <a:xfrm>
            <a:off x="457200" y="5791200"/>
            <a:ext cx="7772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The subclass is defining how the pizza is created….and it is also providing unique functionality that is applicable to New York.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658EE1CC-128A-C9BB-3633-BBEBB2801459}"/>
              </a:ext>
            </a:extLst>
          </p:cNvPr>
          <p:cNvSpPr>
            <a:spLocks noGrp="1"/>
          </p:cNvSpPr>
          <p:nvPr>
            <p:ph type="title"/>
          </p:nvPr>
        </p:nvSpPr>
        <p:spPr/>
        <p:txBody>
          <a:bodyPr/>
          <a:lstStyle/>
          <a:p>
            <a:r>
              <a:rPr lang="en-US" altLang="en-US"/>
              <a:t>Factory Method</a:t>
            </a:r>
          </a:p>
        </p:txBody>
      </p:sp>
      <p:sp>
        <p:nvSpPr>
          <p:cNvPr id="48130" name="Content Placeholder 2">
            <a:extLst>
              <a:ext uri="{FF2B5EF4-FFF2-40B4-BE49-F238E27FC236}">
                <a16:creationId xmlns:a16="http://schemas.microsoft.com/office/drawing/2014/main" id="{472A6217-626B-E231-82A1-32B5F1E66423}"/>
              </a:ext>
            </a:extLst>
          </p:cNvPr>
          <p:cNvSpPr>
            <a:spLocks noGrp="1"/>
          </p:cNvSpPr>
          <p:nvPr>
            <p:ph idx="1"/>
          </p:nvPr>
        </p:nvSpPr>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public abstract class PizzaStore {</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r>
              <a:rPr lang="en-US" altLang="en-US" sz="1800" b="1">
                <a:solidFill>
                  <a:srgbClr val="FF0000"/>
                </a:solidFill>
                <a:latin typeface="Courier New" panose="02070309020205020404" pitchFamily="49" charset="0"/>
                <a:cs typeface="Courier New" panose="02070309020205020404" pitchFamily="49" charset="0"/>
              </a:rPr>
              <a:t>abstract Pizza createPizza(String item);</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public Pizza orderPizza(String type) {</a:t>
            </a:r>
          </a:p>
          <a:p>
            <a:pPr>
              <a:buFont typeface="Wingdings" pitchFamily="2" charset="2"/>
              <a:buNone/>
            </a:pPr>
            <a:r>
              <a:rPr lang="en-US" altLang="en-US" sz="1800">
                <a:latin typeface="Courier New" panose="02070309020205020404" pitchFamily="49" charset="0"/>
                <a:cs typeface="Courier New" panose="02070309020205020404" pitchFamily="49" charset="0"/>
              </a:rPr>
              <a:t>		Pizza pizza = createPizza(type);</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pizza.prepare();</a:t>
            </a:r>
          </a:p>
          <a:p>
            <a:pPr>
              <a:buFont typeface="Wingdings" pitchFamily="2" charset="2"/>
              <a:buNone/>
            </a:pPr>
            <a:r>
              <a:rPr lang="en-US" altLang="en-US" sz="1800">
                <a:latin typeface="Courier New" panose="02070309020205020404" pitchFamily="49" charset="0"/>
                <a:cs typeface="Courier New" panose="02070309020205020404" pitchFamily="49" charset="0"/>
              </a:rPr>
              <a:t>       . . . </a:t>
            </a:r>
          </a:p>
          <a:p>
            <a:pPr>
              <a:buFont typeface="Wingdings" pitchFamily="2" charset="2"/>
              <a:buNone/>
            </a:pPr>
            <a:r>
              <a:rPr lang="en-US" altLang="en-US" sz="1800">
                <a:latin typeface="Courier New" panose="02070309020205020404" pitchFamily="49" charset="0"/>
                <a:cs typeface="Courier New" panose="02070309020205020404" pitchFamily="49" charset="0"/>
              </a:rPr>
              <a:t>		return pizza;</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a:t>
            </a:r>
          </a:p>
          <a:p>
            <a:pPr>
              <a:buFont typeface="Wingdings" pitchFamily="2" charset="2"/>
              <a:buNone/>
            </a:pPr>
            <a:endParaRPr lang="en-US" altLang="en-US" sz="1800"/>
          </a:p>
        </p:txBody>
      </p:sp>
      <p:sp>
        <p:nvSpPr>
          <p:cNvPr id="48131" name="Slide Number Placeholder 3">
            <a:extLst>
              <a:ext uri="{FF2B5EF4-FFF2-40B4-BE49-F238E27FC236}">
                <a16:creationId xmlns:a16="http://schemas.microsoft.com/office/drawing/2014/main" id="{82474B3A-21D5-8AFA-4AC1-C59C1CCD2F7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466975F-E37D-2648-9CF0-76529B6095EB}" type="slidenum">
              <a:rPr lang="en-US" altLang="en-US" sz="1000">
                <a:latin typeface="Arial Black" panose="020B0604020202020204" pitchFamily="34" charset="0"/>
              </a:rPr>
              <a:pPr>
                <a:spcBef>
                  <a:spcPct val="0"/>
                </a:spcBef>
                <a:buClrTx/>
                <a:buSzTx/>
                <a:buFontTx/>
                <a:buNone/>
              </a:pPr>
              <a:t>23</a:t>
            </a:fld>
            <a:endParaRPr lang="en-US" altLang="en-US" sz="1000">
              <a:latin typeface="Arial Black" panose="020B0604020202020204" pitchFamily="34" charset="0"/>
            </a:endParaRPr>
          </a:p>
        </p:txBody>
      </p:sp>
      <p:sp>
        <p:nvSpPr>
          <p:cNvPr id="48132" name="Date Placeholder 4">
            <a:extLst>
              <a:ext uri="{FF2B5EF4-FFF2-40B4-BE49-F238E27FC236}">
                <a16:creationId xmlns:a16="http://schemas.microsoft.com/office/drawing/2014/main" id="{BBCABE15-391B-BBE0-5B7D-515E5C15B8F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CFDAC9E-8E9C-2C41-B9CA-6A0413D22A5D}" type="datetime1">
              <a:rPr lang="en-US" altLang="en-US" sz="1200" smtClean="0"/>
              <a:pPr>
                <a:spcBef>
                  <a:spcPct val="0"/>
                </a:spcBef>
                <a:buClrTx/>
                <a:buSzTx/>
                <a:buFontTx/>
                <a:buNone/>
              </a:pPr>
              <a:t>3/13/24</a:t>
            </a:fld>
            <a:endParaRPr lang="en-US" altLang="en-US" sz="1200"/>
          </a:p>
        </p:txBody>
      </p:sp>
      <p:sp>
        <p:nvSpPr>
          <p:cNvPr id="48133" name="TextBox 5">
            <a:extLst>
              <a:ext uri="{FF2B5EF4-FFF2-40B4-BE49-F238E27FC236}">
                <a16:creationId xmlns:a16="http://schemas.microsoft.com/office/drawing/2014/main" id="{4065A890-94F7-1936-6188-CAF556F1D571}"/>
              </a:ext>
            </a:extLst>
          </p:cNvPr>
          <p:cNvSpPr txBox="1">
            <a:spLocks noChangeArrowheads="1"/>
          </p:cNvSpPr>
          <p:nvPr/>
        </p:nvSpPr>
        <p:spPr bwMode="auto">
          <a:xfrm>
            <a:off x="457200" y="5638800"/>
            <a:ext cx="7620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Factory Method simply sets up an interface for creating a Product (in this case, a type of Pizza).  Subclasses decide which specific Product to create.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2FA89103-A8B7-8800-6645-E26AE230AAC2}"/>
              </a:ext>
            </a:extLst>
          </p:cNvPr>
          <p:cNvSpPr>
            <a:spLocks noGrp="1"/>
          </p:cNvSpPr>
          <p:nvPr>
            <p:ph type="title"/>
          </p:nvPr>
        </p:nvSpPr>
        <p:spPr/>
        <p:txBody>
          <a:bodyPr/>
          <a:lstStyle/>
          <a:p>
            <a:r>
              <a:rPr lang="en-US" altLang="en-US"/>
              <a:t>Test Drive (pg 127)</a:t>
            </a:r>
          </a:p>
        </p:txBody>
      </p:sp>
      <p:sp>
        <p:nvSpPr>
          <p:cNvPr id="49154" name="Content Placeholder 2">
            <a:extLst>
              <a:ext uri="{FF2B5EF4-FFF2-40B4-BE49-F238E27FC236}">
                <a16:creationId xmlns:a16="http://schemas.microsoft.com/office/drawing/2014/main" id="{44781F48-DDE9-C72B-DECD-C5699C30C2F4}"/>
              </a:ext>
            </a:extLst>
          </p:cNvPr>
          <p:cNvSpPr>
            <a:spLocks noGrp="1"/>
          </p:cNvSpPr>
          <p:nvPr>
            <p:ph idx="1"/>
          </p:nvPr>
        </p:nvSpPr>
        <p:spPr>
          <a:xfrm>
            <a:off x="457200" y="1295400"/>
            <a:ext cx="8229600" cy="4495800"/>
          </a:xfrm>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1) PizzaStore nyStore = new NYPizzaStore();</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2) nyStore.orderPizza("cheese");</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sym typeface="Wingdings" pitchFamily="2" charset="2"/>
              </a:rPr>
              <a:t>3)Calls createPizza(“cheese”). The NYPizzaStore version of createPizza is called. It returns a NYStyleCheesePizza();</a:t>
            </a:r>
          </a:p>
          <a:p>
            <a:pPr>
              <a:buFont typeface="Wingdings" pitchFamily="2" charset="2"/>
              <a:buNone/>
            </a:pPr>
            <a:endParaRPr lang="en-US" altLang="en-US" sz="1800">
              <a:latin typeface="Courier New" panose="02070309020205020404" pitchFamily="49" charset="0"/>
              <a:cs typeface="Courier New" panose="02070309020205020404" pitchFamily="49" charset="0"/>
              <a:sym typeface="Wingdings" pitchFamily="2" charset="2"/>
            </a:endParaRPr>
          </a:p>
          <a:p>
            <a:pPr>
              <a:buFont typeface="Wingdings" pitchFamily="2" charset="2"/>
              <a:buNone/>
            </a:pPr>
            <a:r>
              <a:rPr lang="en-US" altLang="en-US" sz="1800">
                <a:latin typeface="Courier New" panose="02070309020205020404" pitchFamily="49" charset="0"/>
                <a:cs typeface="Courier New" panose="02070309020205020404" pitchFamily="49" charset="0"/>
                <a:sym typeface="Wingdings" pitchFamily="2" charset="2"/>
              </a:rPr>
              <a:t>4) orderPizza continues to call the “parts that do not vary”, such as prepare, bake, cut, box.</a:t>
            </a:r>
          </a:p>
          <a:p>
            <a:pPr>
              <a:buFont typeface="Wingdings" pitchFamily="2" charset="2"/>
              <a:buNone/>
            </a:pPr>
            <a:r>
              <a:rPr lang="en-US" altLang="en-US" sz="1800">
                <a:latin typeface="Courier New" panose="02070309020205020404" pitchFamily="49" charset="0"/>
                <a:cs typeface="Courier New" panose="02070309020205020404" pitchFamily="49" charset="0"/>
                <a:sym typeface="Wingdings" pitchFamily="2" charset="2"/>
              </a:rPr>
              <a:t>	</a:t>
            </a:r>
            <a:endParaRPr lang="en-US" altLang="en-US" sz="1800">
              <a:latin typeface="Courier New" panose="02070309020205020404" pitchFamily="49" charset="0"/>
              <a:cs typeface="Courier New" panose="02070309020205020404" pitchFamily="49" charset="0"/>
            </a:endParaRPr>
          </a:p>
        </p:txBody>
      </p:sp>
      <p:sp>
        <p:nvSpPr>
          <p:cNvPr id="49155" name="Slide Number Placeholder 3">
            <a:extLst>
              <a:ext uri="{FF2B5EF4-FFF2-40B4-BE49-F238E27FC236}">
                <a16:creationId xmlns:a16="http://schemas.microsoft.com/office/drawing/2014/main" id="{C2E8503D-56B5-6922-7126-C0DA18807C4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C910BF3-FF9D-DF4F-8639-9F16AB5D228D}" type="slidenum">
              <a:rPr lang="en-US" altLang="en-US" sz="1000">
                <a:latin typeface="Arial Black" panose="020B0604020202020204" pitchFamily="34" charset="0"/>
              </a:rPr>
              <a:pPr>
                <a:spcBef>
                  <a:spcPct val="0"/>
                </a:spcBef>
                <a:buClrTx/>
                <a:buSzTx/>
                <a:buFontTx/>
                <a:buNone/>
              </a:pPr>
              <a:t>24</a:t>
            </a:fld>
            <a:endParaRPr lang="en-US" altLang="en-US" sz="1000">
              <a:latin typeface="Arial Black" panose="020B0604020202020204" pitchFamily="34" charset="0"/>
            </a:endParaRPr>
          </a:p>
        </p:txBody>
      </p:sp>
      <p:sp>
        <p:nvSpPr>
          <p:cNvPr id="49156" name="Date Placeholder 4">
            <a:extLst>
              <a:ext uri="{FF2B5EF4-FFF2-40B4-BE49-F238E27FC236}">
                <a16:creationId xmlns:a16="http://schemas.microsoft.com/office/drawing/2014/main" id="{293FAE39-180A-8F80-B783-893EFF468E7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2CEA2B3-B696-8B4D-8D6C-65AD0174DDB3}"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89E7A3FD-3025-138B-B292-57AAE10018B1}"/>
              </a:ext>
            </a:extLst>
          </p:cNvPr>
          <p:cNvSpPr>
            <a:spLocks noGrp="1"/>
          </p:cNvSpPr>
          <p:nvPr>
            <p:ph type="title"/>
          </p:nvPr>
        </p:nvSpPr>
        <p:spPr/>
        <p:txBody>
          <a:bodyPr/>
          <a:lstStyle/>
          <a:p>
            <a:r>
              <a:rPr lang="en-US" altLang="en-US"/>
              <a:t>Factory Method Defined</a:t>
            </a:r>
          </a:p>
        </p:txBody>
      </p:sp>
      <p:sp>
        <p:nvSpPr>
          <p:cNvPr id="50178" name="Content Placeholder 2">
            <a:extLst>
              <a:ext uri="{FF2B5EF4-FFF2-40B4-BE49-F238E27FC236}">
                <a16:creationId xmlns:a16="http://schemas.microsoft.com/office/drawing/2014/main" id="{F1DFC35C-C6C6-DC5B-02ED-0E4661AEF8C3}"/>
              </a:ext>
            </a:extLst>
          </p:cNvPr>
          <p:cNvSpPr>
            <a:spLocks noGrp="1"/>
          </p:cNvSpPr>
          <p:nvPr>
            <p:ph idx="1"/>
          </p:nvPr>
        </p:nvSpPr>
        <p:spPr>
          <a:xfrm>
            <a:off x="457200" y="1371600"/>
            <a:ext cx="8229600" cy="1676400"/>
          </a:xfrm>
        </p:spPr>
        <p:txBody>
          <a:bodyPr/>
          <a:lstStyle/>
          <a:p>
            <a:pPr>
              <a:buFont typeface="Wingdings" pitchFamily="2" charset="2"/>
              <a:buNone/>
            </a:pPr>
            <a:r>
              <a:rPr lang="en-US" altLang="en-US"/>
              <a:t>GoF Intent: “Defines an interface for creating an object, but lets subclasses decide which class to instantiate.  Factory Method lets a class defer instantiation to subclasses.”</a:t>
            </a:r>
          </a:p>
          <a:p>
            <a:endParaRPr lang="en-US" altLang="en-US"/>
          </a:p>
          <a:p>
            <a:pPr>
              <a:buFont typeface="Wingdings" pitchFamily="2" charset="2"/>
              <a:buNone/>
            </a:pPr>
            <a:endParaRPr lang="en-US" altLang="en-US"/>
          </a:p>
        </p:txBody>
      </p:sp>
      <p:sp>
        <p:nvSpPr>
          <p:cNvPr id="50179" name="Slide Number Placeholder 3">
            <a:extLst>
              <a:ext uri="{FF2B5EF4-FFF2-40B4-BE49-F238E27FC236}">
                <a16:creationId xmlns:a16="http://schemas.microsoft.com/office/drawing/2014/main" id="{58738148-8BAA-0E0E-F3F9-04350F26F68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275E2C0-044A-AB4B-B584-3FAE87B5331A}" type="slidenum">
              <a:rPr lang="en-US" altLang="en-US" sz="1000">
                <a:latin typeface="Arial Black" panose="020B0604020202020204" pitchFamily="34" charset="0"/>
              </a:rPr>
              <a:pPr>
                <a:spcBef>
                  <a:spcPct val="0"/>
                </a:spcBef>
                <a:buClrTx/>
                <a:buSzTx/>
                <a:buFontTx/>
                <a:buNone/>
              </a:pPr>
              <a:t>25</a:t>
            </a:fld>
            <a:endParaRPr lang="en-US" altLang="en-US" sz="1000">
              <a:latin typeface="Arial Black" panose="020B0604020202020204" pitchFamily="34" charset="0"/>
            </a:endParaRPr>
          </a:p>
        </p:txBody>
      </p:sp>
      <p:sp>
        <p:nvSpPr>
          <p:cNvPr id="50180" name="Date Placeholder 4">
            <a:extLst>
              <a:ext uri="{FF2B5EF4-FFF2-40B4-BE49-F238E27FC236}">
                <a16:creationId xmlns:a16="http://schemas.microsoft.com/office/drawing/2014/main" id="{AB362436-40F2-F1A6-FF0D-A889CC6CA74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EBBA369-2357-074B-84AA-AABA30A48B04}" type="datetime1">
              <a:rPr lang="en-US" altLang="en-US" sz="1200" smtClean="0"/>
              <a:pPr>
                <a:spcBef>
                  <a:spcPct val="0"/>
                </a:spcBef>
                <a:buClrTx/>
                <a:buSzTx/>
                <a:buFontTx/>
                <a:buNone/>
              </a:pPr>
              <a:t>3/13/24</a:t>
            </a:fld>
            <a:endParaRPr lang="en-US" altLang="en-US" sz="1200"/>
          </a:p>
        </p:txBody>
      </p:sp>
      <p:pic>
        <p:nvPicPr>
          <p:cNvPr id="50181" name="Picture 5" descr="factory.gif">
            <a:extLst>
              <a:ext uri="{FF2B5EF4-FFF2-40B4-BE49-F238E27FC236}">
                <a16:creationId xmlns:a16="http://schemas.microsoft.com/office/drawing/2014/main" id="{D0797EA5-6FDE-2306-6464-DC2E732D33F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124200"/>
            <a:ext cx="6567488"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63AEC77A-EB3D-0F0B-68ED-A450116CD284}"/>
              </a:ext>
            </a:extLst>
          </p:cNvPr>
          <p:cNvSpPr>
            <a:spLocks noGrp="1"/>
          </p:cNvSpPr>
          <p:nvPr>
            <p:ph type="title"/>
          </p:nvPr>
        </p:nvSpPr>
        <p:spPr/>
        <p:txBody>
          <a:bodyPr/>
          <a:lstStyle/>
          <a:p>
            <a:r>
              <a:rPr lang="en-US" altLang="en-US"/>
              <a:t>Definitions (pg 134)</a:t>
            </a:r>
          </a:p>
        </p:txBody>
      </p:sp>
      <p:sp>
        <p:nvSpPr>
          <p:cNvPr id="51202" name="Content Placeholder 2">
            <a:extLst>
              <a:ext uri="{FF2B5EF4-FFF2-40B4-BE49-F238E27FC236}">
                <a16:creationId xmlns:a16="http://schemas.microsoft.com/office/drawing/2014/main" id="{D39167C7-8C6D-83C2-8110-04FD008E0BDF}"/>
              </a:ext>
            </a:extLst>
          </p:cNvPr>
          <p:cNvSpPr>
            <a:spLocks noGrp="1"/>
          </p:cNvSpPr>
          <p:nvPr>
            <p:ph idx="1"/>
          </p:nvPr>
        </p:nvSpPr>
        <p:spPr/>
        <p:txBody>
          <a:bodyPr/>
          <a:lstStyle/>
          <a:p>
            <a:r>
              <a:rPr lang="en-US" altLang="en-US"/>
              <a:t>Product  - abstraction of the object that we need to create (Pizza)</a:t>
            </a:r>
          </a:p>
          <a:p>
            <a:pPr>
              <a:buFont typeface="Wingdings" pitchFamily="2" charset="2"/>
              <a:buNone/>
            </a:pPr>
            <a:endParaRPr lang="en-US" altLang="en-US"/>
          </a:p>
          <a:p>
            <a:r>
              <a:rPr lang="en-US" altLang="en-US"/>
              <a:t>Concrete Product – implementations of a specific Product  (NYStyleCheesePizza)</a:t>
            </a:r>
          </a:p>
          <a:p>
            <a:endParaRPr lang="en-US" altLang="en-US"/>
          </a:p>
          <a:p>
            <a:r>
              <a:rPr lang="en-US" altLang="en-US"/>
              <a:t>Creator – abstraction of the object that will create a Product  (PizzaStore).  Contains factory method.</a:t>
            </a:r>
          </a:p>
          <a:p>
            <a:pPr>
              <a:buFont typeface="Wingdings" pitchFamily="2" charset="2"/>
              <a:buNone/>
            </a:pPr>
            <a:endParaRPr lang="en-US" altLang="en-US"/>
          </a:p>
          <a:p>
            <a:r>
              <a:rPr lang="en-US" altLang="en-US"/>
              <a:t>Concrete Creator – implementation of a Creator that creates a specific ConcreteProduct (NYPizzaStore)</a:t>
            </a:r>
          </a:p>
        </p:txBody>
      </p:sp>
      <p:sp>
        <p:nvSpPr>
          <p:cNvPr id="51203" name="Slide Number Placeholder 3">
            <a:extLst>
              <a:ext uri="{FF2B5EF4-FFF2-40B4-BE49-F238E27FC236}">
                <a16:creationId xmlns:a16="http://schemas.microsoft.com/office/drawing/2014/main" id="{03B161DA-FBD0-4988-857F-365D61B8CC5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7F62BE1-7A1B-C84E-ACB1-0BF67B81ABD9}" type="slidenum">
              <a:rPr lang="en-US" altLang="en-US" sz="1000">
                <a:latin typeface="Arial Black" panose="020B0604020202020204" pitchFamily="34" charset="0"/>
              </a:rPr>
              <a:pPr>
                <a:spcBef>
                  <a:spcPct val="0"/>
                </a:spcBef>
                <a:buClrTx/>
                <a:buSzTx/>
                <a:buFontTx/>
                <a:buNone/>
              </a:pPr>
              <a:t>26</a:t>
            </a:fld>
            <a:endParaRPr lang="en-US" altLang="en-US" sz="1000">
              <a:latin typeface="Arial Black" panose="020B0604020202020204" pitchFamily="34" charset="0"/>
            </a:endParaRPr>
          </a:p>
        </p:txBody>
      </p:sp>
      <p:sp>
        <p:nvSpPr>
          <p:cNvPr id="51204" name="Date Placeholder 4">
            <a:extLst>
              <a:ext uri="{FF2B5EF4-FFF2-40B4-BE49-F238E27FC236}">
                <a16:creationId xmlns:a16="http://schemas.microsoft.com/office/drawing/2014/main" id="{47F07A81-6702-C74B-7E92-DA58ED55B0B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0693157-561E-1C46-A894-FBE6DE117B59}"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ED64AB00-0030-E00D-3013-0F88CC4A009A}"/>
              </a:ext>
            </a:extLst>
          </p:cNvPr>
          <p:cNvSpPr>
            <a:spLocks noGrp="1"/>
          </p:cNvSpPr>
          <p:nvPr>
            <p:ph type="title"/>
          </p:nvPr>
        </p:nvSpPr>
        <p:spPr/>
        <p:txBody>
          <a:bodyPr/>
          <a:lstStyle/>
          <a:p>
            <a:r>
              <a:rPr lang="en-US" altLang="en-US" sz="4400">
                <a:solidFill>
                  <a:srgbClr val="FF0000"/>
                </a:solidFill>
              </a:rPr>
              <a:t>IMPORTANT</a:t>
            </a:r>
          </a:p>
        </p:txBody>
      </p:sp>
      <p:sp>
        <p:nvSpPr>
          <p:cNvPr id="52226" name="Content Placeholder 2">
            <a:extLst>
              <a:ext uri="{FF2B5EF4-FFF2-40B4-BE49-F238E27FC236}">
                <a16:creationId xmlns:a16="http://schemas.microsoft.com/office/drawing/2014/main" id="{9DDBF12B-AB00-0D60-7343-1E85A85232EA}"/>
              </a:ext>
            </a:extLst>
          </p:cNvPr>
          <p:cNvSpPr>
            <a:spLocks noGrp="1"/>
          </p:cNvSpPr>
          <p:nvPr>
            <p:ph idx="1"/>
          </p:nvPr>
        </p:nvSpPr>
        <p:spPr/>
        <p:txBody>
          <a:bodyPr/>
          <a:lstStyle/>
          <a:p>
            <a:pPr>
              <a:buFont typeface="Wingdings" pitchFamily="2" charset="2"/>
              <a:buNone/>
            </a:pPr>
            <a:r>
              <a:rPr lang="en-US" altLang="en-US" sz="4000"/>
              <a:t>The Factory Method should just return a ConcreteProduct.</a:t>
            </a:r>
          </a:p>
        </p:txBody>
      </p:sp>
      <p:sp>
        <p:nvSpPr>
          <p:cNvPr id="52227" name="Slide Number Placeholder 3">
            <a:extLst>
              <a:ext uri="{FF2B5EF4-FFF2-40B4-BE49-F238E27FC236}">
                <a16:creationId xmlns:a16="http://schemas.microsoft.com/office/drawing/2014/main" id="{B32D75B3-D582-4E09-9F29-B924A5ED749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9A58364-959A-074B-95FC-DCC02E56C389}" type="slidenum">
              <a:rPr lang="en-US" altLang="en-US" sz="1000">
                <a:latin typeface="Arial Black" panose="020B0604020202020204" pitchFamily="34" charset="0"/>
              </a:rPr>
              <a:pPr>
                <a:spcBef>
                  <a:spcPct val="0"/>
                </a:spcBef>
                <a:buClrTx/>
                <a:buSzTx/>
                <a:buFontTx/>
                <a:buNone/>
              </a:pPr>
              <a:t>27</a:t>
            </a:fld>
            <a:endParaRPr lang="en-US" altLang="en-US" sz="1000">
              <a:latin typeface="Arial Black" panose="020B0604020202020204" pitchFamily="34" charset="0"/>
            </a:endParaRPr>
          </a:p>
        </p:txBody>
      </p:sp>
      <p:sp>
        <p:nvSpPr>
          <p:cNvPr id="52228" name="Date Placeholder 4">
            <a:extLst>
              <a:ext uri="{FF2B5EF4-FFF2-40B4-BE49-F238E27FC236}">
                <a16:creationId xmlns:a16="http://schemas.microsoft.com/office/drawing/2014/main" id="{B441B99A-8357-9E0A-F600-16A367C56C1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1A619C4-B1DD-644E-BBBC-6412D70A3379}"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7A3850BF-DA6A-997B-2B4E-B8A5253531B6}"/>
              </a:ext>
            </a:extLst>
          </p:cNvPr>
          <p:cNvSpPr>
            <a:spLocks noGrp="1"/>
          </p:cNvSpPr>
          <p:nvPr>
            <p:ph type="title"/>
          </p:nvPr>
        </p:nvSpPr>
        <p:spPr/>
        <p:txBody>
          <a:bodyPr/>
          <a:lstStyle/>
          <a:p>
            <a:r>
              <a:rPr lang="en-US" altLang="en-US"/>
              <a:t>Lab</a:t>
            </a:r>
          </a:p>
        </p:txBody>
      </p:sp>
      <p:sp>
        <p:nvSpPr>
          <p:cNvPr id="53250" name="Content Placeholder 2">
            <a:extLst>
              <a:ext uri="{FF2B5EF4-FFF2-40B4-BE49-F238E27FC236}">
                <a16:creationId xmlns:a16="http://schemas.microsoft.com/office/drawing/2014/main" id="{A8B1AAA7-5D1B-C099-E0AF-D87914C667D7}"/>
              </a:ext>
            </a:extLst>
          </p:cNvPr>
          <p:cNvSpPr>
            <a:spLocks noGrp="1"/>
          </p:cNvSpPr>
          <p:nvPr>
            <p:ph idx="1"/>
          </p:nvPr>
        </p:nvSpPr>
        <p:spPr>
          <a:xfrm>
            <a:off x="457200" y="1371600"/>
            <a:ext cx="8229600" cy="30480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abstract class PizzaStore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abstract Pizza createPizza(String item);</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Pizza orderPizza(String type) {</a:t>
            </a:r>
          </a:p>
          <a:p>
            <a:pPr>
              <a:buFont typeface="Wingdings" pitchFamily="2" charset="2"/>
              <a:buNone/>
            </a:pPr>
            <a:r>
              <a:rPr lang="en-US" altLang="en-US" sz="1600">
                <a:latin typeface="Courier New" panose="02070309020205020404" pitchFamily="49" charset="0"/>
                <a:cs typeface="Courier New" panose="02070309020205020404" pitchFamily="49" charset="0"/>
              </a:rPr>
              <a:t>		Pizza pizza = createPizza(type);</a:t>
            </a:r>
          </a:p>
          <a:p>
            <a:pPr>
              <a:buFont typeface="Wingdings" pitchFamily="2" charset="2"/>
              <a:buNone/>
            </a:pPr>
            <a:r>
              <a:rPr lang="en-US" altLang="en-US" sz="1600">
                <a:latin typeface="Courier New" panose="02070309020205020404" pitchFamily="49" charset="0"/>
                <a:cs typeface="Courier New" panose="02070309020205020404" pitchFamily="49" charset="0"/>
              </a:rPr>
              <a:t>		. . . </a:t>
            </a:r>
          </a:p>
          <a:p>
            <a:pPr>
              <a:buFont typeface="Wingdings" pitchFamily="2" charset="2"/>
              <a:buNone/>
            </a:pPr>
            <a:r>
              <a:rPr lang="en-US" altLang="en-US" sz="1600">
                <a:latin typeface="Courier New" panose="02070309020205020404" pitchFamily="49" charset="0"/>
                <a:cs typeface="Courier New" panose="02070309020205020404" pitchFamily="49" charset="0"/>
              </a:rPr>
              <a:t>		return pizza;</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a:p>
        </p:txBody>
      </p:sp>
      <p:sp>
        <p:nvSpPr>
          <p:cNvPr id="53251" name="Slide Number Placeholder 3">
            <a:extLst>
              <a:ext uri="{FF2B5EF4-FFF2-40B4-BE49-F238E27FC236}">
                <a16:creationId xmlns:a16="http://schemas.microsoft.com/office/drawing/2014/main" id="{E7957B99-C29A-7A50-E622-1329DC9E671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549C89F-DA9C-D146-9320-B4644D4E97A7}" type="slidenum">
              <a:rPr lang="en-US" altLang="en-US" sz="1000">
                <a:latin typeface="Arial Black" panose="020B0604020202020204" pitchFamily="34" charset="0"/>
              </a:rPr>
              <a:pPr>
                <a:spcBef>
                  <a:spcPct val="0"/>
                </a:spcBef>
                <a:buClrTx/>
                <a:buSzTx/>
                <a:buFontTx/>
                <a:buNone/>
              </a:pPr>
              <a:t>28</a:t>
            </a:fld>
            <a:endParaRPr lang="en-US" altLang="en-US" sz="1000">
              <a:latin typeface="Arial Black" panose="020B0604020202020204" pitchFamily="34" charset="0"/>
            </a:endParaRPr>
          </a:p>
        </p:txBody>
      </p:sp>
      <p:sp>
        <p:nvSpPr>
          <p:cNvPr id="53252" name="Date Placeholder 4">
            <a:extLst>
              <a:ext uri="{FF2B5EF4-FFF2-40B4-BE49-F238E27FC236}">
                <a16:creationId xmlns:a16="http://schemas.microsoft.com/office/drawing/2014/main" id="{3F4C1279-4A07-43E2-5FCB-1E10978FDD9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E10A249-1B8B-FE49-AE67-533CE24D484B}" type="datetime1">
              <a:rPr lang="en-US" altLang="en-US" sz="1200" smtClean="0"/>
              <a:pPr>
                <a:spcBef>
                  <a:spcPct val="0"/>
                </a:spcBef>
                <a:buClrTx/>
                <a:buSzTx/>
                <a:buFontTx/>
                <a:buNone/>
              </a:pPr>
              <a:t>3/13/24</a:t>
            </a:fld>
            <a:endParaRPr lang="en-US" altLang="en-US" sz="1200"/>
          </a:p>
        </p:txBody>
      </p:sp>
      <p:sp>
        <p:nvSpPr>
          <p:cNvPr id="53253" name="TextBox 5">
            <a:extLst>
              <a:ext uri="{FF2B5EF4-FFF2-40B4-BE49-F238E27FC236}">
                <a16:creationId xmlns:a16="http://schemas.microsoft.com/office/drawing/2014/main" id="{FBF02F64-AADD-6DFB-9034-D2FC377ED4DA}"/>
              </a:ext>
            </a:extLst>
          </p:cNvPr>
          <p:cNvSpPr txBox="1">
            <a:spLocks noChangeArrowheads="1"/>
          </p:cNvSpPr>
          <p:nvPr/>
        </p:nvSpPr>
        <p:spPr bwMode="auto">
          <a:xfrm>
            <a:off x="457200" y="4495800"/>
            <a:ext cx="815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 typeface="Arial" panose="020B0604020202020204" pitchFamily="34" charset="0"/>
              <a:buChar char="•"/>
            </a:pPr>
            <a:r>
              <a:rPr lang="en-US" altLang="en-US" sz="1800"/>
              <a:t>   Did we separate out the parts that vary from the parts that do not vary?</a:t>
            </a:r>
          </a:p>
          <a:p>
            <a:pPr>
              <a:spcBef>
                <a:spcPct val="0"/>
              </a:spcBef>
              <a:buClrTx/>
              <a:buSzTx/>
              <a:buFont typeface="Arial" panose="020B0604020202020204" pitchFamily="34" charset="0"/>
              <a:buChar char="•"/>
            </a:pPr>
            <a:r>
              <a:rPr lang="en-US" altLang="en-US" sz="1800"/>
              <a:t>   Did we Program to an Interface, not an Implementation?</a:t>
            </a:r>
          </a:p>
          <a:p>
            <a:pPr>
              <a:spcBef>
                <a:spcPct val="0"/>
              </a:spcBef>
              <a:buClrTx/>
              <a:buSzTx/>
              <a:buFont typeface="Arial" panose="020B0604020202020204" pitchFamily="34" charset="0"/>
              <a:buChar char="•"/>
            </a:pPr>
            <a:r>
              <a:rPr lang="en-US" altLang="en-US" sz="1800"/>
              <a:t>   Does the Hollywood Principle apply here?</a:t>
            </a:r>
          </a:p>
          <a:p>
            <a:pPr>
              <a:spcBef>
                <a:spcPct val="0"/>
              </a:spcBef>
              <a:buClrTx/>
              <a:buSzTx/>
              <a:buFont typeface="Arial" panose="020B0604020202020204" pitchFamily="34" charset="0"/>
              <a:buChar char="•"/>
            </a:pPr>
            <a:r>
              <a:rPr lang="en-US" altLang="en-US" sz="1800"/>
              <a:t>   Did we favor composition over inheritance?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1556FFEC-E8F7-6B22-27D4-91D45FB404E5}"/>
              </a:ext>
            </a:extLst>
          </p:cNvPr>
          <p:cNvSpPr>
            <a:spLocks noGrp="1"/>
          </p:cNvSpPr>
          <p:nvPr>
            <p:ph type="title"/>
          </p:nvPr>
        </p:nvSpPr>
        <p:spPr/>
        <p:txBody>
          <a:bodyPr/>
          <a:lstStyle/>
          <a:p>
            <a:r>
              <a:rPr lang="en-US" altLang="en-US" i="1"/>
              <a:t>Parameterized</a:t>
            </a:r>
            <a:r>
              <a:rPr lang="en-US" altLang="en-US"/>
              <a:t> Factory Method</a:t>
            </a:r>
          </a:p>
        </p:txBody>
      </p:sp>
      <p:sp>
        <p:nvSpPr>
          <p:cNvPr id="3" name="Content Placeholder 2">
            <a:extLst>
              <a:ext uri="{FF2B5EF4-FFF2-40B4-BE49-F238E27FC236}">
                <a16:creationId xmlns:a16="http://schemas.microsoft.com/office/drawing/2014/main" id="{FEB65B08-3A4B-ED8B-D3BD-C87D382B3124}"/>
              </a:ext>
            </a:extLst>
          </p:cNvPr>
          <p:cNvSpPr>
            <a:spLocks noGrp="1"/>
          </p:cNvSpPr>
          <p:nvPr>
            <p:ph idx="1"/>
          </p:nvPr>
        </p:nvSpPr>
        <p:spPr/>
        <p:txBody>
          <a:bodyPr/>
          <a:lstStyle/>
          <a:p>
            <a:pPr>
              <a:defRPr/>
            </a:pPr>
            <a:r>
              <a:rPr lang="en-US" dirty="0"/>
              <a:t>The example from the book is actually a Parameterized Factory Method since it can make more than one object (based on some input parameter).</a:t>
            </a:r>
          </a:p>
          <a:p>
            <a:pPr>
              <a:defRPr/>
            </a:pPr>
            <a:endParaRPr lang="en-US" dirty="0"/>
          </a:p>
          <a:p>
            <a:pPr>
              <a:buFont typeface="Wingdings" pitchFamily="2" charset="2"/>
              <a:buNone/>
              <a:defRPr/>
            </a:pPr>
            <a:r>
              <a:rPr lang="en-US" dirty="0">
                <a:latin typeface="Courier New" pitchFamily="49" charset="0"/>
                <a:cs typeface="Courier New" pitchFamily="49" charset="0"/>
              </a:rPr>
              <a:t>	abstract Pizza </a:t>
            </a:r>
            <a:r>
              <a:rPr lang="en-US" dirty="0" err="1">
                <a:latin typeface="Courier New" pitchFamily="49" charset="0"/>
                <a:cs typeface="Courier New" pitchFamily="49" charset="0"/>
              </a:rPr>
              <a:t>createPizza</a:t>
            </a:r>
            <a:r>
              <a:rPr lang="en-US" dirty="0">
                <a:latin typeface="Courier New" pitchFamily="49" charset="0"/>
                <a:cs typeface="Courier New" pitchFamily="49" charset="0"/>
              </a:rPr>
              <a:t>(String item);</a:t>
            </a:r>
          </a:p>
          <a:p>
            <a:pPr>
              <a:buFont typeface="Wingdings" pitchFamily="2" charset="2"/>
              <a:buNone/>
              <a:defRPr/>
            </a:pPr>
            <a:endParaRPr lang="en-US" dirty="0">
              <a:latin typeface="Courier New" pitchFamily="49" charset="0"/>
              <a:cs typeface="Courier New" pitchFamily="49" charset="0"/>
            </a:endParaRPr>
          </a:p>
          <a:p>
            <a:pPr>
              <a:defRPr/>
            </a:pPr>
            <a:r>
              <a:rPr lang="en-US" dirty="0">
                <a:latin typeface="+mj-lt"/>
                <a:cs typeface="Courier New" pitchFamily="49" charset="0"/>
              </a:rPr>
              <a:t>It may have been a little easier if the book had started with a simpler Factory Method example…</a:t>
            </a:r>
            <a:endParaRPr lang="en-US" dirty="0">
              <a:latin typeface="+mj-lt"/>
            </a:endParaRPr>
          </a:p>
        </p:txBody>
      </p:sp>
      <p:sp>
        <p:nvSpPr>
          <p:cNvPr id="54275" name="Slide Number Placeholder 3">
            <a:extLst>
              <a:ext uri="{FF2B5EF4-FFF2-40B4-BE49-F238E27FC236}">
                <a16:creationId xmlns:a16="http://schemas.microsoft.com/office/drawing/2014/main" id="{3150E04C-DE84-7B16-CAC5-61CE8C7804F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E29A816-1FEA-2D4F-9E15-E96DA18B6556}" type="slidenum">
              <a:rPr lang="en-US" altLang="en-US" sz="1000">
                <a:latin typeface="Arial Black" panose="020B0604020202020204" pitchFamily="34" charset="0"/>
              </a:rPr>
              <a:pPr>
                <a:spcBef>
                  <a:spcPct val="0"/>
                </a:spcBef>
                <a:buClrTx/>
                <a:buSzTx/>
                <a:buFontTx/>
                <a:buNone/>
              </a:pPr>
              <a:t>29</a:t>
            </a:fld>
            <a:endParaRPr lang="en-US" altLang="en-US" sz="1000">
              <a:latin typeface="Arial Black" panose="020B0604020202020204" pitchFamily="34" charset="0"/>
            </a:endParaRPr>
          </a:p>
        </p:txBody>
      </p:sp>
      <p:sp>
        <p:nvSpPr>
          <p:cNvPr id="54276" name="Date Placeholder 4">
            <a:extLst>
              <a:ext uri="{FF2B5EF4-FFF2-40B4-BE49-F238E27FC236}">
                <a16:creationId xmlns:a16="http://schemas.microsoft.com/office/drawing/2014/main" id="{5EE57754-1359-9A2B-D54E-0F074AE1A73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F6C7452-7A22-1744-BED7-458089926612}"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1C83D16B-263D-7EC9-1828-BEA850026AF4}"/>
              </a:ext>
            </a:extLst>
          </p:cNvPr>
          <p:cNvSpPr>
            <a:spLocks noGrp="1"/>
          </p:cNvSpPr>
          <p:nvPr>
            <p:ph type="title"/>
          </p:nvPr>
        </p:nvSpPr>
        <p:spPr/>
        <p:txBody>
          <a:bodyPr/>
          <a:lstStyle/>
          <a:p>
            <a:r>
              <a:rPr lang="en-US" altLang="en-US"/>
              <a:t>Simple Factory Method</a:t>
            </a:r>
          </a:p>
        </p:txBody>
      </p:sp>
      <p:sp>
        <p:nvSpPr>
          <p:cNvPr id="55298" name="Content Placeholder 2">
            <a:extLst>
              <a:ext uri="{FF2B5EF4-FFF2-40B4-BE49-F238E27FC236}">
                <a16:creationId xmlns:a16="http://schemas.microsoft.com/office/drawing/2014/main" id="{FC5E9DEE-7975-D3B6-3289-5D0480AAD698}"/>
              </a:ext>
            </a:extLst>
          </p:cNvPr>
          <p:cNvSpPr>
            <a:spLocks noGrp="1"/>
          </p:cNvSpPr>
          <p:nvPr>
            <p:ph idx="1"/>
          </p:nvPr>
        </p:nvSpPr>
        <p:spPr>
          <a:xfrm>
            <a:off x="457200" y="1371600"/>
            <a:ext cx="8229600" cy="48768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abstract class PizzaStore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b="1">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abstract Pizza createPizza();  //no parameter!</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Pizza orderPizza(String type) {</a:t>
            </a:r>
          </a:p>
          <a:p>
            <a:pPr>
              <a:buFont typeface="Wingdings" pitchFamily="2" charset="2"/>
              <a:buNone/>
            </a:pPr>
            <a:r>
              <a:rPr lang="en-US" altLang="en-US" sz="1600">
                <a:latin typeface="Courier New" panose="02070309020205020404" pitchFamily="49" charset="0"/>
                <a:cs typeface="Courier New" panose="02070309020205020404" pitchFamily="49" charset="0"/>
              </a:rPr>
              <a:t>		Pizza pizza = createPizza(type);</a:t>
            </a:r>
          </a:p>
          <a:p>
            <a:pPr>
              <a:buFont typeface="Wingdings" pitchFamily="2" charset="2"/>
              <a:buNone/>
            </a:pPr>
            <a:r>
              <a:rPr lang="en-US" altLang="en-US" sz="1600">
                <a:latin typeface="Courier New" panose="02070309020205020404" pitchFamily="49" charset="0"/>
                <a:cs typeface="Courier New" panose="02070309020205020404" pitchFamily="49" charset="0"/>
              </a:rPr>
              <a:t>		. . .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public class NYPizzaStore extends PizzaStore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Pizza createPizza() {</a:t>
            </a: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return new NYStylePizza();  //just one product returned</a:t>
            </a: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p:txBody>
      </p:sp>
      <p:sp>
        <p:nvSpPr>
          <p:cNvPr id="55299" name="Slide Number Placeholder 3">
            <a:extLst>
              <a:ext uri="{FF2B5EF4-FFF2-40B4-BE49-F238E27FC236}">
                <a16:creationId xmlns:a16="http://schemas.microsoft.com/office/drawing/2014/main" id="{2AA9E0C1-B72B-8004-512A-DCDE723CE19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6C0EE77-6C56-A245-B33F-603D49F6608C}" type="slidenum">
              <a:rPr lang="en-US" altLang="en-US" sz="1000">
                <a:latin typeface="Arial Black" panose="020B0604020202020204" pitchFamily="34" charset="0"/>
              </a:rPr>
              <a:pPr>
                <a:spcBef>
                  <a:spcPct val="0"/>
                </a:spcBef>
                <a:buClrTx/>
                <a:buSzTx/>
                <a:buFontTx/>
                <a:buNone/>
              </a:pPr>
              <a:t>30</a:t>
            </a:fld>
            <a:endParaRPr lang="en-US" altLang="en-US" sz="1000">
              <a:latin typeface="Arial Black" panose="020B0604020202020204" pitchFamily="34" charset="0"/>
            </a:endParaRPr>
          </a:p>
        </p:txBody>
      </p:sp>
      <p:sp>
        <p:nvSpPr>
          <p:cNvPr id="55300" name="Date Placeholder 4">
            <a:extLst>
              <a:ext uri="{FF2B5EF4-FFF2-40B4-BE49-F238E27FC236}">
                <a16:creationId xmlns:a16="http://schemas.microsoft.com/office/drawing/2014/main" id="{A8908EEF-706E-24A4-674C-98F3F561CFA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27D0C02-5E0B-CC4D-A832-1C05AAFE7EC8}"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BB5FFE99-F0A5-5843-AFA4-2F2E09645FA7}"/>
              </a:ext>
            </a:extLst>
          </p:cNvPr>
          <p:cNvSpPr>
            <a:spLocks noGrp="1"/>
          </p:cNvSpPr>
          <p:nvPr>
            <p:ph type="title"/>
          </p:nvPr>
        </p:nvSpPr>
        <p:spPr/>
        <p:txBody>
          <a:bodyPr/>
          <a:lstStyle/>
          <a:p>
            <a:r>
              <a:rPr lang="en-US" altLang="en-US"/>
              <a:t>Simple Factory Method (with Default)</a:t>
            </a:r>
          </a:p>
        </p:txBody>
      </p:sp>
      <p:sp>
        <p:nvSpPr>
          <p:cNvPr id="56322" name="Content Placeholder 2">
            <a:extLst>
              <a:ext uri="{FF2B5EF4-FFF2-40B4-BE49-F238E27FC236}">
                <a16:creationId xmlns:a16="http://schemas.microsoft.com/office/drawing/2014/main" id="{02C94CEA-7FB6-E18B-EEF0-5AA00F4AFD96}"/>
              </a:ext>
            </a:extLst>
          </p:cNvPr>
          <p:cNvSpPr>
            <a:spLocks noGrp="1"/>
          </p:cNvSpPr>
          <p:nvPr>
            <p:ph idx="1"/>
          </p:nvPr>
        </p:nvSpPr>
        <p:spPr>
          <a:xfrm>
            <a:off x="457200" y="1371600"/>
            <a:ext cx="8229600" cy="2895600"/>
          </a:xfrm>
        </p:spPr>
        <p:txBody>
          <a:bodyPr/>
          <a:lstStyle/>
          <a:p>
            <a:pPr>
              <a:buFont typeface="Wingdings" pitchFamily="2" charset="2"/>
              <a:buNone/>
            </a:pPr>
            <a:r>
              <a:rPr lang="en-US" altLang="en-US" sz="1400">
                <a:latin typeface="Courier New" panose="02070309020205020404" pitchFamily="49" charset="0"/>
                <a:cs typeface="Courier New" panose="02070309020205020404" pitchFamily="49" charset="0"/>
              </a:rPr>
              <a:t>public abstract class PizzaStore {</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void Pizza createPizza() {</a:t>
            </a:r>
          </a:p>
          <a:p>
            <a:pPr>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return new DefaultPizza();</a:t>
            </a:r>
          </a:p>
          <a:p>
            <a:pPr>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a:t>
            </a:r>
          </a:p>
          <a:p>
            <a:pPr>
              <a:buFont typeface="Wingdings" pitchFamily="2" charset="2"/>
              <a:buNone/>
            </a:pPr>
            <a:r>
              <a:rPr lang="en-US" altLang="en-US" sz="1400" i="1">
                <a:solidFill>
                  <a:srgbClr val="FF0000"/>
                </a:solidFill>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public Pizza orderPizza(String type) {</a:t>
            </a:r>
          </a:p>
          <a:p>
            <a:pPr>
              <a:buFont typeface="Wingdings" pitchFamily="2" charset="2"/>
              <a:buNone/>
            </a:pPr>
            <a:r>
              <a:rPr lang="en-US" altLang="en-US" sz="1400">
                <a:latin typeface="Courier New" panose="02070309020205020404" pitchFamily="49" charset="0"/>
                <a:cs typeface="Courier New" panose="02070309020205020404" pitchFamily="49" charset="0"/>
              </a:rPr>
              <a:t>		Pizza pizza = createPizza(type);</a:t>
            </a:r>
          </a:p>
          <a:p>
            <a:pPr>
              <a:buFont typeface="Wingdings" pitchFamily="2" charset="2"/>
              <a:buNone/>
            </a:pPr>
            <a:r>
              <a:rPr lang="en-US" altLang="en-US" sz="1400">
                <a:latin typeface="Courier New" panose="02070309020205020404" pitchFamily="49" charset="0"/>
                <a:cs typeface="Courier New" panose="02070309020205020404" pitchFamily="49" charset="0"/>
              </a:rPr>
              <a:t>		. . . </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p:txBody>
      </p:sp>
      <p:sp>
        <p:nvSpPr>
          <p:cNvPr id="56323" name="Slide Number Placeholder 3">
            <a:extLst>
              <a:ext uri="{FF2B5EF4-FFF2-40B4-BE49-F238E27FC236}">
                <a16:creationId xmlns:a16="http://schemas.microsoft.com/office/drawing/2014/main" id="{0021F1D8-8604-2C71-E696-D007B093700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F312278-CD50-3A41-9092-998FD6152E30}" type="slidenum">
              <a:rPr lang="en-US" altLang="en-US" sz="1000">
                <a:latin typeface="Arial Black" panose="020B0604020202020204" pitchFamily="34" charset="0"/>
              </a:rPr>
              <a:pPr>
                <a:spcBef>
                  <a:spcPct val="0"/>
                </a:spcBef>
                <a:buClrTx/>
                <a:buSzTx/>
                <a:buFontTx/>
                <a:buNone/>
              </a:pPr>
              <a:t>31</a:t>
            </a:fld>
            <a:endParaRPr lang="en-US" altLang="en-US" sz="1000">
              <a:latin typeface="Arial Black" panose="020B0604020202020204" pitchFamily="34" charset="0"/>
            </a:endParaRPr>
          </a:p>
        </p:txBody>
      </p:sp>
      <p:sp>
        <p:nvSpPr>
          <p:cNvPr id="56324" name="Date Placeholder 4">
            <a:extLst>
              <a:ext uri="{FF2B5EF4-FFF2-40B4-BE49-F238E27FC236}">
                <a16:creationId xmlns:a16="http://schemas.microsoft.com/office/drawing/2014/main" id="{BE6017F9-F19B-1D34-60B7-387C538CAC3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F9644D2-EE53-6E4C-80AB-BA9661937D34}" type="datetime1">
              <a:rPr lang="en-US" altLang="en-US" sz="1200" smtClean="0"/>
              <a:pPr>
                <a:spcBef>
                  <a:spcPct val="0"/>
                </a:spcBef>
                <a:buClrTx/>
                <a:buSzTx/>
                <a:buFontTx/>
                <a:buNone/>
              </a:pPr>
              <a:t>3/13/24</a:t>
            </a:fld>
            <a:endParaRPr lang="en-US" altLang="en-US" sz="1200"/>
          </a:p>
        </p:txBody>
      </p:sp>
      <p:sp>
        <p:nvSpPr>
          <p:cNvPr id="56325" name="TextBox 6">
            <a:extLst>
              <a:ext uri="{FF2B5EF4-FFF2-40B4-BE49-F238E27FC236}">
                <a16:creationId xmlns:a16="http://schemas.microsoft.com/office/drawing/2014/main" id="{872A47A6-1FAA-9231-093A-4CB14FA56273}"/>
              </a:ext>
            </a:extLst>
          </p:cNvPr>
          <p:cNvSpPr txBox="1">
            <a:spLocks noChangeArrowheads="1"/>
          </p:cNvSpPr>
          <p:nvPr/>
        </p:nvSpPr>
        <p:spPr bwMode="auto">
          <a:xfrm>
            <a:off x="457200" y="4648200"/>
            <a:ext cx="784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In this example, there is default Product created (DefaultPizza).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10A1DEE6-99B0-670F-7858-D1977D34BB2A}"/>
              </a:ext>
            </a:extLst>
          </p:cNvPr>
          <p:cNvSpPr>
            <a:spLocks noGrp="1"/>
          </p:cNvSpPr>
          <p:nvPr>
            <p:ph type="title"/>
          </p:nvPr>
        </p:nvSpPr>
        <p:spPr/>
        <p:txBody>
          <a:bodyPr/>
          <a:lstStyle/>
          <a:p>
            <a:r>
              <a:rPr lang="en-US" altLang="en-US"/>
              <a:t>Back to SimUDuck (pg 16)</a:t>
            </a:r>
          </a:p>
        </p:txBody>
      </p:sp>
      <p:sp>
        <p:nvSpPr>
          <p:cNvPr id="58370" name="Content Placeholder 2">
            <a:extLst>
              <a:ext uri="{FF2B5EF4-FFF2-40B4-BE49-F238E27FC236}">
                <a16:creationId xmlns:a16="http://schemas.microsoft.com/office/drawing/2014/main" id="{4F102EC9-2B97-7374-6F9A-41E1997198DE}"/>
              </a:ext>
            </a:extLst>
          </p:cNvPr>
          <p:cNvSpPr>
            <a:spLocks noGrp="1"/>
          </p:cNvSpPr>
          <p:nvPr>
            <p:ph idx="1"/>
          </p:nvPr>
        </p:nvSpPr>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public class MallardDuck extends Duck {</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public MallardDuck() {</a:t>
            </a:r>
          </a:p>
          <a:p>
            <a:pPr>
              <a:buFont typeface="Wingdings" pitchFamily="2" charset="2"/>
              <a:buNone/>
            </a:pPr>
            <a:r>
              <a:rPr lang="en-US" altLang="en-US" sz="1800">
                <a:latin typeface="Courier New" panose="02070309020205020404" pitchFamily="49" charset="0"/>
                <a:cs typeface="Courier New" panose="02070309020205020404" pitchFamily="49" charset="0"/>
              </a:rPr>
              <a:t>		    quackBehavior = new Quack();</a:t>
            </a:r>
          </a:p>
          <a:p>
            <a:pPr>
              <a:buFont typeface="Wingdings" pitchFamily="2" charset="2"/>
              <a:buNone/>
            </a:pPr>
            <a:r>
              <a:rPr lang="en-US" altLang="en-US" sz="1800">
                <a:latin typeface="Courier New" panose="02070309020205020404" pitchFamily="49" charset="0"/>
                <a:cs typeface="Courier New" panose="02070309020205020404" pitchFamily="49" charset="0"/>
              </a:rPr>
              <a:t>           flyBehavior = new FlyWithWings();</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p:txBody>
      </p:sp>
      <p:sp>
        <p:nvSpPr>
          <p:cNvPr id="58371" name="Slide Number Placeholder 3">
            <a:extLst>
              <a:ext uri="{FF2B5EF4-FFF2-40B4-BE49-F238E27FC236}">
                <a16:creationId xmlns:a16="http://schemas.microsoft.com/office/drawing/2014/main" id="{702FC01C-7818-DA7A-C243-37E2C9BBFEC7}"/>
              </a:ext>
            </a:extLst>
          </p:cNvPr>
          <p:cNvSpPr>
            <a:spLocks noGrp="1"/>
          </p:cNvSpPr>
          <p:nvPr>
            <p:ph type="sldNum" sz="quarter" idx="11"/>
          </p:nvPr>
        </p:nvSpPr>
        <p:spPr>
          <a:xfrm>
            <a:off x="6477000" y="64008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35A6B15-0B9E-5241-B608-F921E4C8CB59}" type="slidenum">
              <a:rPr lang="en-US" altLang="en-US" sz="1000">
                <a:latin typeface="Arial Black" panose="020B0604020202020204" pitchFamily="34" charset="0"/>
              </a:rPr>
              <a:pPr>
                <a:spcBef>
                  <a:spcPct val="0"/>
                </a:spcBef>
                <a:buClrTx/>
                <a:buSzTx/>
                <a:buFontTx/>
                <a:buNone/>
              </a:pPr>
              <a:t>32</a:t>
            </a:fld>
            <a:endParaRPr lang="en-US" altLang="en-US" sz="1000">
              <a:latin typeface="Arial Black" panose="020B0604020202020204" pitchFamily="34" charset="0"/>
            </a:endParaRPr>
          </a:p>
        </p:txBody>
      </p:sp>
      <p:sp>
        <p:nvSpPr>
          <p:cNvPr id="58372" name="Date Placeholder 4">
            <a:extLst>
              <a:ext uri="{FF2B5EF4-FFF2-40B4-BE49-F238E27FC236}">
                <a16:creationId xmlns:a16="http://schemas.microsoft.com/office/drawing/2014/main" id="{B47D2623-7B12-F66E-D632-B6ECB720E5D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16F6C6E-D3E5-9A42-8A9F-9835DFFE97FA}" type="datetime1">
              <a:rPr lang="en-US" altLang="en-US" sz="1200" smtClean="0"/>
              <a:pPr>
                <a:spcBef>
                  <a:spcPct val="0"/>
                </a:spcBef>
                <a:buClrTx/>
                <a:buSzTx/>
                <a:buFontTx/>
                <a:buNone/>
              </a:pPr>
              <a:t>3/13/24</a:t>
            </a:fld>
            <a:endParaRPr lang="en-US" altLang="en-US" sz="1200"/>
          </a:p>
        </p:txBody>
      </p:sp>
      <p:cxnSp>
        <p:nvCxnSpPr>
          <p:cNvPr id="58373" name="Straight Arrow Connector 6">
            <a:extLst>
              <a:ext uri="{FF2B5EF4-FFF2-40B4-BE49-F238E27FC236}">
                <a16:creationId xmlns:a16="http://schemas.microsoft.com/office/drawing/2014/main" id="{29A480A2-F687-3451-30B1-395D83F0481D}"/>
              </a:ext>
            </a:extLst>
          </p:cNvPr>
          <p:cNvCxnSpPr>
            <a:cxnSpLocks noChangeShapeType="1"/>
          </p:cNvCxnSpPr>
          <p:nvPr/>
        </p:nvCxnSpPr>
        <p:spPr bwMode="auto">
          <a:xfrm rot="16200000" flipV="1">
            <a:off x="2628900" y="3238500"/>
            <a:ext cx="1524000" cy="11430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58374" name="TextBox 8">
            <a:extLst>
              <a:ext uri="{FF2B5EF4-FFF2-40B4-BE49-F238E27FC236}">
                <a16:creationId xmlns:a16="http://schemas.microsoft.com/office/drawing/2014/main" id="{920F321C-EE51-438A-5B50-8D4512D60494}"/>
              </a:ext>
            </a:extLst>
          </p:cNvPr>
          <p:cNvSpPr txBox="1">
            <a:spLocks noChangeArrowheads="1"/>
          </p:cNvSpPr>
          <p:nvPr/>
        </p:nvSpPr>
        <p:spPr bwMode="auto">
          <a:xfrm>
            <a:off x="3276600" y="4495800"/>
            <a:ext cx="2362200" cy="120015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Developer would have to </a:t>
            </a:r>
            <a:r>
              <a:rPr lang="en-US" altLang="en-US" sz="1800" i="1"/>
              <a:t>know</a:t>
            </a:r>
            <a:r>
              <a:rPr lang="en-US" altLang="en-US" sz="1800"/>
              <a:t> to do this.  The design does not enforce it.</a:t>
            </a:r>
          </a:p>
        </p:txBody>
      </p:sp>
      <p:sp>
        <p:nvSpPr>
          <p:cNvPr id="58375" name="TextBox 7">
            <a:extLst>
              <a:ext uri="{FF2B5EF4-FFF2-40B4-BE49-F238E27FC236}">
                <a16:creationId xmlns:a16="http://schemas.microsoft.com/office/drawing/2014/main" id="{BB34430C-D016-006F-2FD7-DFE33157F749}"/>
              </a:ext>
            </a:extLst>
          </p:cNvPr>
          <p:cNvSpPr txBox="1">
            <a:spLocks noChangeArrowheads="1"/>
          </p:cNvSpPr>
          <p:nvPr/>
        </p:nvSpPr>
        <p:spPr bwMode="auto">
          <a:xfrm>
            <a:off x="6477000" y="1619250"/>
            <a:ext cx="2362200" cy="923925"/>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MallardDuck is tied to two specific implementations.</a:t>
            </a:r>
          </a:p>
        </p:txBody>
      </p:sp>
      <p:cxnSp>
        <p:nvCxnSpPr>
          <p:cNvPr id="58376" name="Straight Arrow Connector 10">
            <a:extLst>
              <a:ext uri="{FF2B5EF4-FFF2-40B4-BE49-F238E27FC236}">
                <a16:creationId xmlns:a16="http://schemas.microsoft.com/office/drawing/2014/main" id="{1C2FF947-201A-EC49-7717-CCFE5C6467DF}"/>
              </a:ext>
            </a:extLst>
          </p:cNvPr>
          <p:cNvCxnSpPr>
            <a:cxnSpLocks noChangeShapeType="1"/>
            <a:stCxn id="58375" idx="1"/>
          </p:cNvCxnSpPr>
          <p:nvPr/>
        </p:nvCxnSpPr>
        <p:spPr bwMode="auto">
          <a:xfrm rot="10800000" flipV="1">
            <a:off x="4800600" y="2081213"/>
            <a:ext cx="1676400" cy="2047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6BA4A9AD-5EE5-9657-94FD-8F7F72D10E15}"/>
              </a:ext>
            </a:extLst>
          </p:cNvPr>
          <p:cNvSpPr>
            <a:spLocks noGrp="1"/>
          </p:cNvSpPr>
          <p:nvPr>
            <p:ph type="title"/>
          </p:nvPr>
        </p:nvSpPr>
        <p:spPr/>
        <p:txBody>
          <a:bodyPr/>
          <a:lstStyle/>
          <a:p>
            <a:r>
              <a:rPr lang="en-US" altLang="en-US"/>
              <a:t>Before</a:t>
            </a:r>
          </a:p>
        </p:txBody>
      </p:sp>
      <p:sp>
        <p:nvSpPr>
          <p:cNvPr id="59394" name="Content Placeholder 2">
            <a:extLst>
              <a:ext uri="{FF2B5EF4-FFF2-40B4-BE49-F238E27FC236}">
                <a16:creationId xmlns:a16="http://schemas.microsoft.com/office/drawing/2014/main" id="{F3DB60FD-8B9D-181F-B274-00CBF791A93D}"/>
              </a:ext>
            </a:extLst>
          </p:cNvPr>
          <p:cNvSpPr>
            <a:spLocks noGrp="1"/>
          </p:cNvSpPr>
          <p:nvPr>
            <p:ph idx="1"/>
          </p:nvPr>
        </p:nvSpPr>
        <p:spPr/>
        <p:txBody>
          <a:bodyPr/>
          <a:lstStyle/>
          <a:p>
            <a:pPr>
              <a:buFont typeface="Wingdings" pitchFamily="2" charset="2"/>
              <a:buNone/>
            </a:pPr>
            <a:r>
              <a:rPr lang="en-US" altLang="en-US" sz="2000">
                <a:latin typeface="Courier New" panose="02070309020205020404" pitchFamily="49" charset="0"/>
                <a:cs typeface="Courier New" panose="02070309020205020404" pitchFamily="49" charset="0"/>
              </a:rPr>
              <a:t>public abstract class Duck {</a:t>
            </a:r>
          </a:p>
          <a:p>
            <a:pPr>
              <a:buFont typeface="Wingdings" pitchFamily="2" charset="2"/>
              <a:buNone/>
            </a:pPr>
            <a:endParaRPr lang="en-US" altLang="en-US" sz="2000">
              <a:latin typeface="Courier New" panose="02070309020205020404" pitchFamily="49" charset="0"/>
              <a:cs typeface="Courier New" panose="02070309020205020404" pitchFamily="49" charset="0"/>
            </a:endParaRPr>
          </a:p>
          <a:p>
            <a:pPr>
              <a:buFont typeface="Wingdings" pitchFamily="2" charset="2"/>
              <a:buNone/>
            </a:pPr>
            <a:r>
              <a:rPr lang="en-US" altLang="en-US" sz="2000">
                <a:latin typeface="Courier New" panose="02070309020205020404" pitchFamily="49" charset="0"/>
                <a:cs typeface="Courier New" panose="02070309020205020404" pitchFamily="49" charset="0"/>
              </a:rPr>
              <a:t>   FlyBehavior flyBehavior;</a:t>
            </a:r>
          </a:p>
          <a:p>
            <a:pPr>
              <a:buFont typeface="Wingdings" pitchFamily="2" charset="2"/>
              <a:buNone/>
            </a:pPr>
            <a:r>
              <a:rPr lang="en-US" altLang="en-US" sz="2000">
                <a:latin typeface="Courier New" panose="02070309020205020404" pitchFamily="49" charset="0"/>
                <a:cs typeface="Courier New" panose="02070309020205020404" pitchFamily="49" charset="0"/>
              </a:rPr>
              <a:t>	 QuackBehavior quackBehavior;</a:t>
            </a:r>
          </a:p>
          <a:p>
            <a:pPr>
              <a:buFont typeface="Wingdings" pitchFamily="2" charset="2"/>
              <a:buNone/>
            </a:pPr>
            <a:r>
              <a:rPr lang="en-US" altLang="en-US" sz="2000">
                <a:latin typeface="Courier New" panose="02070309020205020404" pitchFamily="49" charset="0"/>
                <a:cs typeface="Courier New" panose="02070309020205020404" pitchFamily="49" charset="0"/>
              </a:rPr>
              <a:t> </a:t>
            </a:r>
          </a:p>
          <a:p>
            <a:pPr>
              <a:buFont typeface="Wingdings" pitchFamily="2" charset="2"/>
              <a:buNone/>
            </a:pPr>
            <a:r>
              <a:rPr lang="en-US" altLang="en-US" sz="2000">
                <a:latin typeface="Courier New" panose="02070309020205020404" pitchFamily="49" charset="0"/>
                <a:cs typeface="Courier New" panose="02070309020205020404" pitchFamily="49" charset="0"/>
              </a:rPr>
              <a:t>	public Duck() {</a:t>
            </a:r>
          </a:p>
          <a:p>
            <a:pPr>
              <a:buFont typeface="Wingdings" pitchFamily="2" charset="2"/>
              <a:buNone/>
            </a:pPr>
            <a:r>
              <a:rPr lang="en-US" altLang="en-US" sz="2000">
                <a:latin typeface="Courier New" panose="02070309020205020404" pitchFamily="49" charset="0"/>
                <a:cs typeface="Courier New" panose="02070309020205020404" pitchFamily="49" charset="0"/>
              </a:rPr>
              <a:t>	}</a:t>
            </a:r>
          </a:p>
          <a:p>
            <a:pPr>
              <a:buFont typeface="Wingdings" pitchFamily="2" charset="2"/>
              <a:buNone/>
            </a:pPr>
            <a:endParaRPr lang="en-US" altLang="en-US" sz="2000">
              <a:latin typeface="Courier New" panose="02070309020205020404" pitchFamily="49" charset="0"/>
              <a:cs typeface="Courier New" panose="02070309020205020404" pitchFamily="49" charset="0"/>
            </a:endParaRPr>
          </a:p>
          <a:p>
            <a:pPr>
              <a:buFont typeface="Wingdings" pitchFamily="2" charset="2"/>
              <a:buNone/>
            </a:pPr>
            <a:r>
              <a:rPr lang="en-US" altLang="en-US" sz="2000">
                <a:latin typeface="Courier New" panose="02070309020205020404" pitchFamily="49" charset="0"/>
                <a:cs typeface="Courier New" panose="02070309020205020404" pitchFamily="49" charset="0"/>
              </a:rPr>
              <a:t>  //Not shown: setFlyBehavior, setQuackBehavior</a:t>
            </a:r>
          </a:p>
          <a:p>
            <a:pPr>
              <a:buFont typeface="Wingdings" pitchFamily="2" charset="2"/>
              <a:buNone/>
            </a:pPr>
            <a:r>
              <a:rPr lang="en-US" altLang="en-US" sz="2000">
                <a:latin typeface="Courier New" panose="02070309020205020404" pitchFamily="49" charset="0"/>
                <a:cs typeface="Courier New" panose="02070309020205020404" pitchFamily="49" charset="0"/>
              </a:rPr>
              <a:t>  //Not shown: abstract display method, fly, quack</a:t>
            </a:r>
          </a:p>
          <a:p>
            <a:pPr>
              <a:buFont typeface="Wingdings" pitchFamily="2" charset="2"/>
              <a:buNone/>
            </a:pPr>
            <a:r>
              <a:rPr lang="en-US" altLang="en-US" sz="2000">
                <a:latin typeface="Courier New" panose="02070309020205020404" pitchFamily="49" charset="0"/>
                <a:cs typeface="Courier New" panose="02070309020205020404" pitchFamily="49" charset="0"/>
              </a:rPr>
              <a:t>}</a:t>
            </a:r>
          </a:p>
          <a:p>
            <a:pPr>
              <a:buFont typeface="Wingdings" pitchFamily="2" charset="2"/>
              <a:buNone/>
            </a:pPr>
            <a:r>
              <a:rPr lang="en-US" altLang="en-US" sz="2000">
                <a:latin typeface="Courier New" panose="02070309020205020404" pitchFamily="49" charset="0"/>
                <a:cs typeface="Courier New" panose="02070309020205020404" pitchFamily="49" charset="0"/>
              </a:rPr>
              <a:t> </a:t>
            </a:r>
            <a:endParaRPr lang="en-US" altLang="en-US"/>
          </a:p>
        </p:txBody>
      </p:sp>
      <p:sp>
        <p:nvSpPr>
          <p:cNvPr id="59395" name="Slide Number Placeholder 3">
            <a:extLst>
              <a:ext uri="{FF2B5EF4-FFF2-40B4-BE49-F238E27FC236}">
                <a16:creationId xmlns:a16="http://schemas.microsoft.com/office/drawing/2014/main" id="{94DFCC71-B043-9409-86F1-66866E12C2B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A46927F-56FB-974B-9B4C-F257468826EB}" type="slidenum">
              <a:rPr lang="en-US" altLang="en-US" sz="1000">
                <a:latin typeface="Arial Black" panose="020B0604020202020204" pitchFamily="34" charset="0"/>
              </a:rPr>
              <a:pPr>
                <a:spcBef>
                  <a:spcPct val="0"/>
                </a:spcBef>
                <a:buClrTx/>
                <a:buSzTx/>
                <a:buFontTx/>
                <a:buNone/>
              </a:pPr>
              <a:t>33</a:t>
            </a:fld>
            <a:endParaRPr lang="en-US" altLang="en-US" sz="1000">
              <a:latin typeface="Arial Black" panose="020B0604020202020204" pitchFamily="34" charset="0"/>
            </a:endParaRPr>
          </a:p>
        </p:txBody>
      </p:sp>
      <p:sp>
        <p:nvSpPr>
          <p:cNvPr id="59396" name="Date Placeholder 4">
            <a:extLst>
              <a:ext uri="{FF2B5EF4-FFF2-40B4-BE49-F238E27FC236}">
                <a16:creationId xmlns:a16="http://schemas.microsoft.com/office/drawing/2014/main" id="{8BD1B0CC-B388-18C4-D0DB-D3DA41A9CA3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3C2C7F5-1069-0842-8414-F1E008982BD9}"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5E9A50CE-C060-013A-7255-7EAC28D14985}"/>
              </a:ext>
            </a:extLst>
          </p:cNvPr>
          <p:cNvSpPr>
            <a:spLocks noGrp="1"/>
          </p:cNvSpPr>
          <p:nvPr>
            <p:ph type="title"/>
          </p:nvPr>
        </p:nvSpPr>
        <p:spPr/>
        <p:txBody>
          <a:bodyPr/>
          <a:lstStyle/>
          <a:p>
            <a:r>
              <a:rPr lang="en-US" altLang="en-US"/>
              <a:t>After</a:t>
            </a:r>
          </a:p>
        </p:txBody>
      </p:sp>
      <p:sp>
        <p:nvSpPr>
          <p:cNvPr id="60418" name="Content Placeholder 2">
            <a:extLst>
              <a:ext uri="{FF2B5EF4-FFF2-40B4-BE49-F238E27FC236}">
                <a16:creationId xmlns:a16="http://schemas.microsoft.com/office/drawing/2014/main" id="{645656CA-E883-3CE6-DA12-F49868D75B97}"/>
              </a:ext>
            </a:extLst>
          </p:cNvPr>
          <p:cNvSpPr>
            <a:spLocks noGrp="1"/>
          </p:cNvSpPr>
          <p:nvPr>
            <p:ph idx="1"/>
          </p:nvPr>
        </p:nvSpPr>
        <p:spPr>
          <a:xfrm>
            <a:off x="457200" y="1143000"/>
            <a:ext cx="8229600" cy="5029200"/>
          </a:xfrm>
        </p:spPr>
        <p:txBody>
          <a:bodyPr/>
          <a:lstStyle/>
          <a:p>
            <a:pPr>
              <a:buFont typeface="Wingdings" pitchFamily="2" charset="2"/>
              <a:buNone/>
            </a:pPr>
            <a:r>
              <a:rPr lang="en-US" altLang="en-US" sz="2000">
                <a:latin typeface="Courier New" panose="02070309020205020404" pitchFamily="49" charset="0"/>
                <a:cs typeface="Courier New" panose="02070309020205020404" pitchFamily="49" charset="0"/>
              </a:rPr>
              <a:t>public abstract class Duck {</a:t>
            </a:r>
          </a:p>
          <a:p>
            <a:pPr>
              <a:buFont typeface="Wingdings" pitchFamily="2" charset="2"/>
              <a:buNone/>
            </a:pPr>
            <a:endParaRPr lang="en-US" altLang="en-US" sz="2000">
              <a:latin typeface="Courier New" panose="02070309020205020404" pitchFamily="49" charset="0"/>
              <a:cs typeface="Courier New" panose="02070309020205020404" pitchFamily="49" charset="0"/>
            </a:endParaRPr>
          </a:p>
          <a:p>
            <a:pPr>
              <a:buFont typeface="Wingdings" pitchFamily="2" charset="2"/>
              <a:buNone/>
            </a:pPr>
            <a:r>
              <a:rPr lang="en-US" altLang="en-US" sz="2000">
                <a:latin typeface="Courier New" panose="02070309020205020404" pitchFamily="49" charset="0"/>
                <a:cs typeface="Courier New" panose="02070309020205020404" pitchFamily="49" charset="0"/>
              </a:rPr>
              <a:t>	  FlyBehavior flyBehavior;</a:t>
            </a:r>
          </a:p>
          <a:p>
            <a:pPr>
              <a:buFont typeface="Wingdings" pitchFamily="2" charset="2"/>
              <a:buNone/>
            </a:pPr>
            <a:r>
              <a:rPr lang="en-US" altLang="en-US" sz="2000">
                <a:latin typeface="Courier New" panose="02070309020205020404" pitchFamily="49" charset="0"/>
                <a:cs typeface="Courier New" panose="02070309020205020404" pitchFamily="49" charset="0"/>
              </a:rPr>
              <a:t>	  QuackBehavior quackBehavior;</a:t>
            </a:r>
          </a:p>
          <a:p>
            <a:pPr>
              <a:buFont typeface="Wingdings" pitchFamily="2" charset="2"/>
              <a:buNone/>
            </a:pPr>
            <a:endParaRPr lang="en-US" altLang="en-US" sz="2000">
              <a:latin typeface="Courier New" panose="02070309020205020404" pitchFamily="49" charset="0"/>
              <a:cs typeface="Courier New" panose="02070309020205020404" pitchFamily="49" charset="0"/>
            </a:endParaRPr>
          </a:p>
          <a:p>
            <a:pPr>
              <a:buFont typeface="Wingdings" pitchFamily="2" charset="2"/>
              <a:buNone/>
            </a:pPr>
            <a:r>
              <a:rPr lang="en-US" altLang="en-US" sz="2000" b="1">
                <a:solidFill>
                  <a:srgbClr val="FF0000"/>
                </a:solidFill>
                <a:latin typeface="Courier New" panose="02070309020205020404" pitchFamily="49" charset="0"/>
                <a:cs typeface="Courier New" panose="02070309020205020404" pitchFamily="49" charset="0"/>
              </a:rPr>
              <a:t>    abstract FlyBehavior createFly();</a:t>
            </a:r>
          </a:p>
          <a:p>
            <a:pPr>
              <a:buFont typeface="Wingdings" pitchFamily="2" charset="2"/>
              <a:buNone/>
            </a:pPr>
            <a:r>
              <a:rPr lang="en-US" altLang="en-US" sz="2000" b="1">
                <a:solidFill>
                  <a:srgbClr val="FF0000"/>
                </a:solidFill>
                <a:latin typeface="Courier New" panose="02070309020205020404" pitchFamily="49" charset="0"/>
                <a:cs typeface="Courier New" panose="02070309020205020404" pitchFamily="49" charset="0"/>
              </a:rPr>
              <a:t>    abstract QuackBehavior createQuack();</a:t>
            </a:r>
            <a:endParaRPr lang="en-US" altLang="en-US" sz="2000">
              <a:latin typeface="Courier New" panose="02070309020205020404" pitchFamily="49" charset="0"/>
              <a:cs typeface="Courier New" panose="02070309020205020404" pitchFamily="49" charset="0"/>
            </a:endParaRPr>
          </a:p>
          <a:p>
            <a:pPr>
              <a:buFont typeface="Wingdings" pitchFamily="2" charset="2"/>
              <a:buNone/>
            </a:pPr>
            <a:r>
              <a:rPr lang="en-US" altLang="en-US" sz="2000">
                <a:latin typeface="Courier New" panose="02070309020205020404" pitchFamily="49" charset="0"/>
                <a:cs typeface="Courier New" panose="02070309020205020404" pitchFamily="49" charset="0"/>
              </a:rPr>
              <a:t> </a:t>
            </a:r>
          </a:p>
          <a:p>
            <a:pPr>
              <a:buFont typeface="Wingdings" pitchFamily="2" charset="2"/>
              <a:buNone/>
            </a:pPr>
            <a:r>
              <a:rPr lang="en-US" altLang="en-US" sz="2000">
                <a:latin typeface="Courier New" panose="02070309020205020404" pitchFamily="49" charset="0"/>
                <a:cs typeface="Courier New" panose="02070309020205020404" pitchFamily="49" charset="0"/>
              </a:rPr>
              <a:t>	  public Duck() {</a:t>
            </a:r>
          </a:p>
          <a:p>
            <a:pPr>
              <a:buFont typeface="Wingdings" pitchFamily="2" charset="2"/>
              <a:buNone/>
            </a:pPr>
            <a:r>
              <a:rPr lang="en-US" altLang="en-US" sz="2000">
                <a:latin typeface="Courier New" panose="02070309020205020404" pitchFamily="49" charset="0"/>
                <a:cs typeface="Courier New" panose="02070309020205020404" pitchFamily="49" charset="0"/>
              </a:rPr>
              <a:t>      </a:t>
            </a:r>
            <a:r>
              <a:rPr lang="en-US" altLang="en-US" sz="2000" b="1">
                <a:solidFill>
                  <a:srgbClr val="FF0000"/>
                </a:solidFill>
                <a:latin typeface="Courier New" panose="02070309020205020404" pitchFamily="49" charset="0"/>
                <a:cs typeface="Courier New" panose="02070309020205020404" pitchFamily="49" charset="0"/>
              </a:rPr>
              <a:t>flyBehavior = createFly();</a:t>
            </a:r>
          </a:p>
          <a:p>
            <a:pPr>
              <a:buFont typeface="Wingdings" pitchFamily="2" charset="2"/>
              <a:buNone/>
            </a:pPr>
            <a:r>
              <a:rPr lang="en-US" altLang="en-US" sz="2000" b="1">
                <a:solidFill>
                  <a:srgbClr val="FF0000"/>
                </a:solidFill>
                <a:latin typeface="Courier New" panose="02070309020205020404" pitchFamily="49" charset="0"/>
                <a:cs typeface="Courier New" panose="02070309020205020404" pitchFamily="49" charset="0"/>
              </a:rPr>
              <a:t>      quackBehavior = createQuack();</a:t>
            </a:r>
          </a:p>
          <a:p>
            <a:pPr>
              <a:buFont typeface="Wingdings" pitchFamily="2" charset="2"/>
              <a:buNone/>
            </a:pPr>
            <a:r>
              <a:rPr lang="en-US" altLang="en-US" sz="2000">
                <a:latin typeface="Courier New" panose="02070309020205020404" pitchFamily="49" charset="0"/>
                <a:cs typeface="Courier New" panose="02070309020205020404" pitchFamily="49" charset="0"/>
              </a:rPr>
              <a:t>	  }</a:t>
            </a:r>
          </a:p>
          <a:p>
            <a:pPr>
              <a:buFont typeface="Wingdings" pitchFamily="2" charset="2"/>
              <a:buNone/>
            </a:pPr>
            <a:r>
              <a:rPr lang="en-US" altLang="en-US" sz="2000">
                <a:latin typeface="Courier New" panose="02070309020205020404" pitchFamily="49" charset="0"/>
                <a:cs typeface="Courier New" panose="02070309020205020404" pitchFamily="49" charset="0"/>
              </a:rPr>
              <a:t>}</a:t>
            </a:r>
          </a:p>
          <a:p>
            <a:pPr>
              <a:buFont typeface="Wingdings" pitchFamily="2" charset="2"/>
              <a:buNone/>
            </a:pPr>
            <a:r>
              <a:rPr lang="en-US" altLang="en-US" sz="2000">
                <a:latin typeface="Courier New" panose="02070309020205020404" pitchFamily="49" charset="0"/>
                <a:cs typeface="Courier New" panose="02070309020205020404" pitchFamily="49" charset="0"/>
              </a:rPr>
              <a:t> </a:t>
            </a:r>
            <a:endParaRPr lang="en-US" altLang="en-US"/>
          </a:p>
        </p:txBody>
      </p:sp>
      <p:sp>
        <p:nvSpPr>
          <p:cNvPr id="60419" name="Slide Number Placeholder 3">
            <a:extLst>
              <a:ext uri="{FF2B5EF4-FFF2-40B4-BE49-F238E27FC236}">
                <a16:creationId xmlns:a16="http://schemas.microsoft.com/office/drawing/2014/main" id="{32E10278-92B1-07BC-EB18-738482559D6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89006FF-3C27-484F-8170-5738425C54BB}" type="slidenum">
              <a:rPr lang="en-US" altLang="en-US" sz="1000">
                <a:latin typeface="Arial Black" panose="020B0604020202020204" pitchFamily="34" charset="0"/>
              </a:rPr>
              <a:pPr>
                <a:spcBef>
                  <a:spcPct val="0"/>
                </a:spcBef>
                <a:buClrTx/>
                <a:buSzTx/>
                <a:buFontTx/>
                <a:buNone/>
              </a:pPr>
              <a:t>34</a:t>
            </a:fld>
            <a:endParaRPr lang="en-US" altLang="en-US" sz="1000">
              <a:latin typeface="Arial Black" panose="020B0604020202020204" pitchFamily="34" charset="0"/>
            </a:endParaRPr>
          </a:p>
        </p:txBody>
      </p:sp>
      <p:sp>
        <p:nvSpPr>
          <p:cNvPr id="60420" name="Date Placeholder 4">
            <a:extLst>
              <a:ext uri="{FF2B5EF4-FFF2-40B4-BE49-F238E27FC236}">
                <a16:creationId xmlns:a16="http://schemas.microsoft.com/office/drawing/2014/main" id="{A9F51B9E-8073-D691-4F5D-E8C0E2AAEDA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1932F19-8B3A-1642-BC17-E06035CF28F3}" type="datetime1">
              <a:rPr lang="en-US" altLang="en-US" sz="1200" smtClean="0"/>
              <a:pPr>
                <a:spcBef>
                  <a:spcPct val="0"/>
                </a:spcBef>
                <a:buClrTx/>
                <a:buSzTx/>
                <a:buFontTx/>
                <a:buNone/>
              </a:pPr>
              <a:t>3/13/24</a:t>
            </a:fld>
            <a:endParaRPr lang="en-US" altLang="en-US" sz="1200"/>
          </a:p>
        </p:txBody>
      </p:sp>
      <p:sp>
        <p:nvSpPr>
          <p:cNvPr id="60421" name="TextBox 5">
            <a:extLst>
              <a:ext uri="{FF2B5EF4-FFF2-40B4-BE49-F238E27FC236}">
                <a16:creationId xmlns:a16="http://schemas.microsoft.com/office/drawing/2014/main" id="{984D44F9-F1DC-F94D-F5DA-55CEBA58484A}"/>
              </a:ext>
            </a:extLst>
          </p:cNvPr>
          <p:cNvSpPr txBox="1">
            <a:spLocks noChangeArrowheads="1"/>
          </p:cNvSpPr>
          <p:nvPr/>
        </p:nvSpPr>
        <p:spPr bwMode="auto">
          <a:xfrm>
            <a:off x="6934200" y="2590800"/>
            <a:ext cx="198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Factory Methods</a:t>
            </a:r>
          </a:p>
        </p:txBody>
      </p:sp>
      <p:cxnSp>
        <p:nvCxnSpPr>
          <p:cNvPr id="60422" name="Straight Arrow Connector 7">
            <a:extLst>
              <a:ext uri="{FF2B5EF4-FFF2-40B4-BE49-F238E27FC236}">
                <a16:creationId xmlns:a16="http://schemas.microsoft.com/office/drawing/2014/main" id="{5EAA776C-226B-B8D5-09E5-9BCB5735A2F4}"/>
              </a:ext>
            </a:extLst>
          </p:cNvPr>
          <p:cNvCxnSpPr>
            <a:cxnSpLocks noChangeShapeType="1"/>
          </p:cNvCxnSpPr>
          <p:nvPr/>
        </p:nvCxnSpPr>
        <p:spPr bwMode="auto">
          <a:xfrm rot="5400000">
            <a:off x="6438900" y="2857500"/>
            <a:ext cx="381000" cy="3048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4449C034-D8B1-4876-CDF5-BFB5060870AF}"/>
              </a:ext>
            </a:extLst>
          </p:cNvPr>
          <p:cNvSpPr>
            <a:spLocks noGrp="1"/>
          </p:cNvSpPr>
          <p:nvPr>
            <p:ph type="title"/>
          </p:nvPr>
        </p:nvSpPr>
        <p:spPr/>
        <p:txBody>
          <a:bodyPr/>
          <a:lstStyle/>
          <a:p>
            <a:r>
              <a:rPr lang="en-US" altLang="en-US"/>
              <a:t>Now we create MallardDuck…</a:t>
            </a:r>
          </a:p>
        </p:txBody>
      </p:sp>
      <p:sp>
        <p:nvSpPr>
          <p:cNvPr id="61442" name="Content Placeholder 2">
            <a:extLst>
              <a:ext uri="{FF2B5EF4-FFF2-40B4-BE49-F238E27FC236}">
                <a16:creationId xmlns:a16="http://schemas.microsoft.com/office/drawing/2014/main" id="{241FB58C-E904-DBB3-0B2B-032552F5EDA9}"/>
              </a:ext>
            </a:extLst>
          </p:cNvPr>
          <p:cNvSpPr>
            <a:spLocks noGrp="1"/>
          </p:cNvSpPr>
          <p:nvPr>
            <p:ph idx="1"/>
          </p:nvPr>
        </p:nvSpPr>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class MallardDuck extends Duck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MallardDuck()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FlyBehavior createFly() {</a:t>
            </a: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return FlyWithWings();</a:t>
            </a: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a:t>
            </a: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a:t>
            </a: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QuackBehavior createQuack() {</a:t>
            </a: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return Quack();</a:t>
            </a: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a:t>
            </a: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p:txBody>
      </p:sp>
      <p:sp>
        <p:nvSpPr>
          <p:cNvPr id="61443" name="Slide Number Placeholder 3">
            <a:extLst>
              <a:ext uri="{FF2B5EF4-FFF2-40B4-BE49-F238E27FC236}">
                <a16:creationId xmlns:a16="http://schemas.microsoft.com/office/drawing/2014/main" id="{203FA2C9-44D4-52EC-92D5-1F80CDC6BBE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FE0E280-31E0-2B4B-8FFD-FE3B925E2013}" type="slidenum">
              <a:rPr lang="en-US" altLang="en-US" sz="1000">
                <a:latin typeface="Arial Black" panose="020B0604020202020204" pitchFamily="34" charset="0"/>
              </a:rPr>
              <a:pPr>
                <a:spcBef>
                  <a:spcPct val="0"/>
                </a:spcBef>
                <a:buClrTx/>
                <a:buSzTx/>
                <a:buFontTx/>
                <a:buNone/>
              </a:pPr>
              <a:t>35</a:t>
            </a:fld>
            <a:endParaRPr lang="en-US" altLang="en-US" sz="1000">
              <a:latin typeface="Arial Black" panose="020B0604020202020204" pitchFamily="34" charset="0"/>
            </a:endParaRPr>
          </a:p>
        </p:txBody>
      </p:sp>
      <p:sp>
        <p:nvSpPr>
          <p:cNvPr id="61444" name="Date Placeholder 4">
            <a:extLst>
              <a:ext uri="{FF2B5EF4-FFF2-40B4-BE49-F238E27FC236}">
                <a16:creationId xmlns:a16="http://schemas.microsoft.com/office/drawing/2014/main" id="{317D77EE-7D48-98D9-3405-ED50AEA28EC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4CB96BC-9E18-3E40-987A-0CE45D2D76FB}" type="datetime1">
              <a:rPr lang="en-US" altLang="en-US" sz="1200" smtClean="0"/>
              <a:pPr>
                <a:spcBef>
                  <a:spcPct val="0"/>
                </a:spcBef>
                <a:buClrTx/>
                <a:buSzTx/>
                <a:buFontTx/>
                <a:buNone/>
              </a:pPr>
              <a:t>3/13/24</a:t>
            </a:fld>
            <a:endParaRPr lang="en-US" altLang="en-US" sz="1200"/>
          </a:p>
        </p:txBody>
      </p:sp>
      <p:sp>
        <p:nvSpPr>
          <p:cNvPr id="61445" name="TextBox 5">
            <a:extLst>
              <a:ext uri="{FF2B5EF4-FFF2-40B4-BE49-F238E27FC236}">
                <a16:creationId xmlns:a16="http://schemas.microsoft.com/office/drawing/2014/main" id="{2A6FAE80-1C17-BE3D-B967-34F3BD941A80}"/>
              </a:ext>
            </a:extLst>
          </p:cNvPr>
          <p:cNvSpPr txBox="1">
            <a:spLocks noChangeArrowheads="1"/>
          </p:cNvSpPr>
          <p:nvPr/>
        </p:nvSpPr>
        <p:spPr bwMode="auto">
          <a:xfrm>
            <a:off x="6096000" y="3724275"/>
            <a:ext cx="2895600" cy="923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Developer is “forced” to specify implementations of Fly and Quack.</a:t>
            </a:r>
          </a:p>
        </p:txBody>
      </p:sp>
      <p:cxnSp>
        <p:nvCxnSpPr>
          <p:cNvPr id="61446" name="Straight Arrow Connector 7">
            <a:extLst>
              <a:ext uri="{FF2B5EF4-FFF2-40B4-BE49-F238E27FC236}">
                <a16:creationId xmlns:a16="http://schemas.microsoft.com/office/drawing/2014/main" id="{D2107F0D-0432-E983-D9B1-B8A4BA4F7AEC}"/>
              </a:ext>
            </a:extLst>
          </p:cNvPr>
          <p:cNvCxnSpPr>
            <a:cxnSpLocks noChangeShapeType="1"/>
            <a:stCxn id="61445" idx="1"/>
          </p:cNvCxnSpPr>
          <p:nvPr/>
        </p:nvCxnSpPr>
        <p:spPr bwMode="auto">
          <a:xfrm rot="10800000" flipV="1">
            <a:off x="4648200" y="4186238"/>
            <a:ext cx="1447800" cy="476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61447" name="TextBox 9">
            <a:extLst>
              <a:ext uri="{FF2B5EF4-FFF2-40B4-BE49-F238E27FC236}">
                <a16:creationId xmlns:a16="http://schemas.microsoft.com/office/drawing/2014/main" id="{7D34089F-F90C-95B8-9A7C-5A6A1FE741FD}"/>
              </a:ext>
            </a:extLst>
          </p:cNvPr>
          <p:cNvSpPr txBox="1">
            <a:spLocks noChangeArrowheads="1"/>
          </p:cNvSpPr>
          <p:nvPr/>
        </p:nvSpPr>
        <p:spPr bwMode="auto">
          <a:xfrm>
            <a:off x="6248400" y="1828800"/>
            <a:ext cx="2514600"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Note that the constructor is empty.</a:t>
            </a:r>
          </a:p>
        </p:txBody>
      </p:sp>
      <p:cxnSp>
        <p:nvCxnSpPr>
          <p:cNvPr id="61448" name="Straight Arrow Connector 11">
            <a:extLst>
              <a:ext uri="{FF2B5EF4-FFF2-40B4-BE49-F238E27FC236}">
                <a16:creationId xmlns:a16="http://schemas.microsoft.com/office/drawing/2014/main" id="{3568E2E5-32DC-EA15-F860-3EFFAA7A4C52}"/>
              </a:ext>
            </a:extLst>
          </p:cNvPr>
          <p:cNvCxnSpPr>
            <a:cxnSpLocks noChangeShapeType="1"/>
            <a:stCxn id="61447" idx="1"/>
          </p:cNvCxnSpPr>
          <p:nvPr/>
        </p:nvCxnSpPr>
        <p:spPr bwMode="auto">
          <a:xfrm rot="10800000">
            <a:off x="3733800" y="2133600"/>
            <a:ext cx="2514600" cy="1905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B21CFAE8-FDC0-9F28-48A4-9B6D4BCD6D10}"/>
              </a:ext>
            </a:extLst>
          </p:cNvPr>
          <p:cNvSpPr>
            <a:spLocks noGrp="1"/>
          </p:cNvSpPr>
          <p:nvPr>
            <p:ph type="title"/>
          </p:nvPr>
        </p:nvSpPr>
        <p:spPr/>
        <p:txBody>
          <a:bodyPr/>
          <a:lstStyle/>
          <a:p>
            <a:r>
              <a:rPr lang="en-US" altLang="en-US"/>
              <a:t>Alternative Design: Default Behavior</a:t>
            </a:r>
          </a:p>
        </p:txBody>
      </p:sp>
      <p:sp>
        <p:nvSpPr>
          <p:cNvPr id="3" name="Content Placeholder 2">
            <a:extLst>
              <a:ext uri="{FF2B5EF4-FFF2-40B4-BE49-F238E27FC236}">
                <a16:creationId xmlns:a16="http://schemas.microsoft.com/office/drawing/2014/main" id="{CBC481CB-89DC-D154-2A9C-CDED0F28F0D9}"/>
              </a:ext>
            </a:extLst>
          </p:cNvPr>
          <p:cNvSpPr>
            <a:spLocks noGrp="1"/>
          </p:cNvSpPr>
          <p:nvPr>
            <p:ph idx="1"/>
          </p:nvPr>
        </p:nvSpPr>
        <p:spPr>
          <a:xfrm>
            <a:off x="457200" y="1143000"/>
            <a:ext cx="8229600" cy="5486400"/>
          </a:xfrm>
        </p:spPr>
        <p:txBody>
          <a:bodyPr/>
          <a:lstStyle/>
          <a:p>
            <a:pPr>
              <a:buFont typeface="Wingdings" pitchFamily="2" charset="2"/>
              <a:buNone/>
              <a:defRPr/>
            </a:pPr>
            <a:r>
              <a:rPr lang="en-US" sz="1400" dirty="0">
                <a:latin typeface="Courier New" pitchFamily="49" charset="0"/>
                <a:cs typeface="Courier New" pitchFamily="49" charset="0"/>
              </a:rPr>
              <a:t>public abstract class Duck {</a:t>
            </a:r>
          </a:p>
          <a:p>
            <a:pPr>
              <a:buFont typeface="Wingdings" pitchFamily="2" charset="2"/>
              <a:buNone/>
              <a:defRPr/>
            </a:pPr>
            <a:endParaRPr lang="en-US" sz="1400" dirty="0">
              <a:latin typeface="Courier New" pitchFamily="49" charset="0"/>
              <a:cs typeface="Courier New" pitchFamily="49" charset="0"/>
            </a:endParaRPr>
          </a:p>
          <a:p>
            <a:pPr>
              <a:buFont typeface="Wingdings" pitchFamily="2" charset="2"/>
              <a:buNone/>
              <a:defRPr/>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FlyBehavior</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flyBehavior</a:t>
            </a:r>
            <a:r>
              <a:rPr lang="en-US" sz="1400" dirty="0">
                <a:latin typeface="Courier New" pitchFamily="49" charset="0"/>
                <a:cs typeface="Courier New" pitchFamily="49" charset="0"/>
              </a:rPr>
              <a:t>;</a:t>
            </a:r>
          </a:p>
          <a:p>
            <a:pPr>
              <a:buFont typeface="Wingdings" pitchFamily="2" charset="2"/>
              <a:buNone/>
              <a:defRPr/>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QuackBehavior</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quackBehavior</a:t>
            </a:r>
            <a:r>
              <a:rPr lang="en-US" sz="1400" dirty="0">
                <a:latin typeface="Courier New" pitchFamily="49" charset="0"/>
                <a:cs typeface="Courier New" pitchFamily="49" charset="0"/>
              </a:rPr>
              <a:t>;</a:t>
            </a:r>
          </a:p>
          <a:p>
            <a:pPr>
              <a:buFont typeface="Wingdings" pitchFamily="2" charset="2"/>
              <a:buNone/>
              <a:defRPr/>
            </a:pPr>
            <a:endParaRPr lang="en-US" sz="1400" dirty="0">
              <a:latin typeface="Courier New" pitchFamily="49" charset="0"/>
              <a:cs typeface="Courier New" pitchFamily="49" charset="0"/>
            </a:endParaRPr>
          </a:p>
          <a:p>
            <a:pPr>
              <a:buFont typeface="Wingdings" pitchFamily="2" charset="2"/>
              <a:buNone/>
              <a:defRPr/>
            </a:pPr>
            <a:r>
              <a:rPr lang="en-US" sz="1400" b="1" dirty="0">
                <a:solidFill>
                  <a:srgbClr val="FF0000"/>
                </a:solidFill>
                <a:latin typeface="Courier New" pitchFamily="49" charset="0"/>
                <a:cs typeface="Courier New" pitchFamily="49" charset="0"/>
              </a:rPr>
              <a:t>     </a:t>
            </a:r>
            <a:r>
              <a:rPr lang="en-US" sz="1400" b="1" dirty="0" err="1">
                <a:solidFill>
                  <a:srgbClr val="FF0000"/>
                </a:solidFill>
                <a:latin typeface="Courier New" pitchFamily="49" charset="0"/>
                <a:cs typeface="Courier New" pitchFamily="49" charset="0"/>
              </a:rPr>
              <a:t>FlyBehavior</a:t>
            </a:r>
            <a:r>
              <a:rPr lang="en-US" sz="1400" b="1" dirty="0">
                <a:solidFill>
                  <a:srgbClr val="FF0000"/>
                </a:solidFill>
                <a:latin typeface="Courier New" pitchFamily="49" charset="0"/>
                <a:cs typeface="Courier New" pitchFamily="49" charset="0"/>
              </a:rPr>
              <a:t> </a:t>
            </a:r>
            <a:r>
              <a:rPr lang="en-US" sz="1400" b="1" dirty="0" err="1">
                <a:solidFill>
                  <a:srgbClr val="FF0000"/>
                </a:solidFill>
                <a:latin typeface="Courier New" pitchFamily="49" charset="0"/>
                <a:cs typeface="Courier New" pitchFamily="49" charset="0"/>
              </a:rPr>
              <a:t>createFly</a:t>
            </a:r>
            <a:r>
              <a:rPr lang="en-US" sz="1400" b="1" dirty="0">
                <a:solidFill>
                  <a:srgbClr val="FF0000"/>
                </a:solidFill>
                <a:latin typeface="Courier New" pitchFamily="49" charset="0"/>
                <a:cs typeface="Courier New" pitchFamily="49" charset="0"/>
              </a:rPr>
              <a:t>() {</a:t>
            </a:r>
          </a:p>
          <a:p>
            <a:pPr>
              <a:buFont typeface="Wingdings" pitchFamily="2" charset="2"/>
              <a:buNone/>
              <a:defRPr/>
            </a:pPr>
            <a:r>
              <a:rPr lang="en-US" sz="1400" b="1" dirty="0">
                <a:solidFill>
                  <a:srgbClr val="FF0000"/>
                </a:solidFill>
                <a:latin typeface="Courier New" pitchFamily="49" charset="0"/>
                <a:cs typeface="Courier New" pitchFamily="49" charset="0"/>
              </a:rPr>
              <a:t> 		return </a:t>
            </a:r>
            <a:r>
              <a:rPr lang="en-US" sz="1400" b="1" dirty="0" err="1">
                <a:solidFill>
                  <a:srgbClr val="FF0000"/>
                </a:solidFill>
                <a:latin typeface="Courier New" pitchFamily="49" charset="0"/>
                <a:cs typeface="Courier New" pitchFamily="49" charset="0"/>
              </a:rPr>
              <a:t>DefaultFly</a:t>
            </a:r>
            <a:r>
              <a:rPr lang="en-US" sz="1400" b="1" dirty="0">
                <a:solidFill>
                  <a:srgbClr val="FF0000"/>
                </a:solidFill>
                <a:latin typeface="Courier New" pitchFamily="49" charset="0"/>
                <a:cs typeface="Courier New" pitchFamily="49" charset="0"/>
              </a:rPr>
              <a:t>();</a:t>
            </a:r>
          </a:p>
          <a:p>
            <a:pPr>
              <a:buFont typeface="Wingdings" pitchFamily="2" charset="2"/>
              <a:buNone/>
              <a:defRPr/>
            </a:pPr>
            <a:r>
              <a:rPr lang="en-US" sz="1400" b="1" dirty="0">
                <a:solidFill>
                  <a:srgbClr val="FF0000"/>
                </a:solidFill>
                <a:latin typeface="Courier New" pitchFamily="49" charset="0"/>
                <a:cs typeface="Courier New" pitchFamily="49" charset="0"/>
              </a:rPr>
              <a:t>     }</a:t>
            </a:r>
          </a:p>
          <a:p>
            <a:pPr>
              <a:buFont typeface="Wingdings" pitchFamily="2" charset="2"/>
              <a:buNone/>
              <a:defRPr/>
            </a:pPr>
            <a:r>
              <a:rPr lang="en-US" sz="1400" b="1" dirty="0">
                <a:solidFill>
                  <a:srgbClr val="FF0000"/>
                </a:solidFill>
                <a:latin typeface="Courier New" pitchFamily="49" charset="0"/>
                <a:cs typeface="Courier New" pitchFamily="49" charset="0"/>
              </a:rPr>
              <a:t>    </a:t>
            </a:r>
          </a:p>
          <a:p>
            <a:pPr>
              <a:buFont typeface="Wingdings" pitchFamily="2" charset="2"/>
              <a:buNone/>
              <a:defRPr/>
            </a:pPr>
            <a:r>
              <a:rPr lang="en-US" sz="1400" b="1" dirty="0">
                <a:solidFill>
                  <a:srgbClr val="FF0000"/>
                </a:solidFill>
                <a:latin typeface="Courier New" pitchFamily="49" charset="0"/>
                <a:cs typeface="Courier New" pitchFamily="49" charset="0"/>
              </a:rPr>
              <a:t>     </a:t>
            </a:r>
            <a:r>
              <a:rPr lang="en-US" sz="1400" b="1" dirty="0" err="1">
                <a:solidFill>
                  <a:srgbClr val="FF0000"/>
                </a:solidFill>
                <a:latin typeface="Courier New" pitchFamily="49" charset="0"/>
                <a:cs typeface="Courier New" pitchFamily="49" charset="0"/>
              </a:rPr>
              <a:t>QuackBehavior</a:t>
            </a:r>
            <a:r>
              <a:rPr lang="en-US" sz="1400" b="1" dirty="0">
                <a:solidFill>
                  <a:srgbClr val="FF0000"/>
                </a:solidFill>
                <a:latin typeface="Courier New" pitchFamily="49" charset="0"/>
                <a:cs typeface="Courier New" pitchFamily="49" charset="0"/>
              </a:rPr>
              <a:t> </a:t>
            </a:r>
            <a:r>
              <a:rPr lang="en-US" sz="1400" b="1" dirty="0" err="1">
                <a:solidFill>
                  <a:srgbClr val="FF0000"/>
                </a:solidFill>
                <a:latin typeface="Courier New" pitchFamily="49" charset="0"/>
                <a:cs typeface="Courier New" pitchFamily="49" charset="0"/>
              </a:rPr>
              <a:t>createQuack</a:t>
            </a:r>
            <a:r>
              <a:rPr lang="en-US" sz="1400" b="1" dirty="0">
                <a:solidFill>
                  <a:srgbClr val="FF0000"/>
                </a:solidFill>
                <a:latin typeface="Courier New" pitchFamily="49" charset="0"/>
                <a:cs typeface="Courier New" pitchFamily="49" charset="0"/>
              </a:rPr>
              <a:t>() {</a:t>
            </a:r>
          </a:p>
          <a:p>
            <a:pPr>
              <a:buFont typeface="Wingdings" pitchFamily="2" charset="2"/>
              <a:buNone/>
              <a:defRPr/>
            </a:pPr>
            <a:r>
              <a:rPr lang="en-US" sz="1400" b="1" dirty="0">
                <a:solidFill>
                  <a:srgbClr val="FF0000"/>
                </a:solidFill>
                <a:latin typeface="Courier New" pitchFamily="49" charset="0"/>
                <a:cs typeface="Courier New" pitchFamily="49" charset="0"/>
              </a:rPr>
              <a:t>		return </a:t>
            </a:r>
            <a:r>
              <a:rPr lang="en-US" sz="1400" b="1" dirty="0" err="1">
                <a:solidFill>
                  <a:srgbClr val="FF0000"/>
                </a:solidFill>
                <a:latin typeface="Courier New" pitchFamily="49" charset="0"/>
                <a:cs typeface="Courier New" pitchFamily="49" charset="0"/>
              </a:rPr>
              <a:t>DefaultQuack</a:t>
            </a:r>
            <a:r>
              <a:rPr lang="en-US" sz="1400" b="1" dirty="0">
                <a:solidFill>
                  <a:srgbClr val="FF0000"/>
                </a:solidFill>
                <a:latin typeface="Courier New" pitchFamily="49" charset="0"/>
                <a:cs typeface="Courier New" pitchFamily="49" charset="0"/>
              </a:rPr>
              <a:t>();</a:t>
            </a:r>
          </a:p>
          <a:p>
            <a:pPr>
              <a:buFont typeface="Wingdings" pitchFamily="2" charset="2"/>
              <a:buNone/>
              <a:defRPr/>
            </a:pPr>
            <a:r>
              <a:rPr lang="en-US" sz="1400" b="1" dirty="0">
                <a:solidFill>
                  <a:srgbClr val="FF0000"/>
                </a:solidFill>
                <a:latin typeface="Courier New" pitchFamily="49" charset="0"/>
                <a:cs typeface="Courier New" pitchFamily="49" charset="0"/>
              </a:rPr>
              <a:t>    }</a:t>
            </a:r>
            <a:r>
              <a:rPr lang="en-US" sz="1400" dirty="0">
                <a:latin typeface="Courier New" pitchFamily="49" charset="0"/>
                <a:cs typeface="Courier New" pitchFamily="49" charset="0"/>
              </a:rPr>
              <a:t> </a:t>
            </a:r>
          </a:p>
          <a:p>
            <a:pPr>
              <a:buFont typeface="Wingdings" pitchFamily="2" charset="2"/>
              <a:buNone/>
              <a:defRPr/>
            </a:pPr>
            <a:r>
              <a:rPr lang="en-US" sz="1400" dirty="0">
                <a:latin typeface="Courier New" pitchFamily="49" charset="0"/>
                <a:cs typeface="Courier New" pitchFamily="49" charset="0"/>
              </a:rPr>
              <a:t>	 </a:t>
            </a:r>
          </a:p>
          <a:p>
            <a:pPr>
              <a:buFont typeface="Wingdings" pitchFamily="2" charset="2"/>
              <a:buNone/>
              <a:defRPr/>
            </a:pPr>
            <a:r>
              <a:rPr lang="en-US" sz="1400" dirty="0">
                <a:latin typeface="Courier New" pitchFamily="49" charset="0"/>
                <a:cs typeface="Courier New" pitchFamily="49" charset="0"/>
              </a:rPr>
              <a:t>     public Duck() {</a:t>
            </a:r>
          </a:p>
          <a:p>
            <a:pPr>
              <a:buFont typeface="Wingdings" pitchFamily="2" charset="2"/>
              <a:buNone/>
              <a:defRPr/>
            </a:pPr>
            <a:r>
              <a:rPr lang="en-US" sz="1400" dirty="0">
                <a:latin typeface="Courier New" pitchFamily="49" charset="0"/>
                <a:cs typeface="Courier New" pitchFamily="49" charset="0"/>
              </a:rPr>
              <a:t>     </a:t>
            </a:r>
            <a:r>
              <a:rPr lang="en-US" sz="1400" dirty="0">
                <a:solidFill>
                  <a:schemeClr val="accent4"/>
                </a:solidFill>
                <a:latin typeface="Courier New" pitchFamily="49" charset="0"/>
                <a:cs typeface="Courier New" pitchFamily="49" charset="0"/>
              </a:rPr>
              <a:t>   </a:t>
            </a:r>
            <a:r>
              <a:rPr lang="en-US" sz="1400" dirty="0" err="1">
                <a:solidFill>
                  <a:schemeClr val="accent4"/>
                </a:solidFill>
                <a:latin typeface="Courier New" pitchFamily="49" charset="0"/>
                <a:cs typeface="Courier New" pitchFamily="49" charset="0"/>
              </a:rPr>
              <a:t>flyBehavior</a:t>
            </a:r>
            <a:r>
              <a:rPr lang="en-US" sz="1400" dirty="0">
                <a:solidFill>
                  <a:schemeClr val="accent4"/>
                </a:solidFill>
                <a:latin typeface="Courier New" pitchFamily="49" charset="0"/>
                <a:cs typeface="Courier New" pitchFamily="49" charset="0"/>
              </a:rPr>
              <a:t> = </a:t>
            </a:r>
            <a:r>
              <a:rPr lang="en-US" sz="1400" dirty="0" err="1">
                <a:solidFill>
                  <a:schemeClr val="accent4"/>
                </a:solidFill>
                <a:latin typeface="Courier New" pitchFamily="49" charset="0"/>
                <a:cs typeface="Courier New" pitchFamily="49" charset="0"/>
              </a:rPr>
              <a:t>createFly</a:t>
            </a:r>
            <a:r>
              <a:rPr lang="en-US" sz="1400" dirty="0">
                <a:solidFill>
                  <a:schemeClr val="accent4"/>
                </a:solidFill>
                <a:latin typeface="Courier New" pitchFamily="49" charset="0"/>
                <a:cs typeface="Courier New" pitchFamily="49" charset="0"/>
              </a:rPr>
              <a:t>();</a:t>
            </a:r>
          </a:p>
          <a:p>
            <a:pPr>
              <a:buFont typeface="Wingdings" pitchFamily="2" charset="2"/>
              <a:buNone/>
              <a:defRPr/>
            </a:pPr>
            <a:r>
              <a:rPr lang="en-US" sz="1400" dirty="0">
                <a:solidFill>
                  <a:schemeClr val="accent4"/>
                </a:solidFill>
                <a:latin typeface="Courier New" pitchFamily="49" charset="0"/>
                <a:cs typeface="Courier New" pitchFamily="49" charset="0"/>
              </a:rPr>
              <a:t>        </a:t>
            </a:r>
            <a:r>
              <a:rPr lang="en-US" sz="1400" dirty="0" err="1">
                <a:solidFill>
                  <a:schemeClr val="accent4"/>
                </a:solidFill>
                <a:latin typeface="Courier New" pitchFamily="49" charset="0"/>
                <a:cs typeface="Courier New" pitchFamily="49" charset="0"/>
              </a:rPr>
              <a:t>quackBehavior</a:t>
            </a:r>
            <a:r>
              <a:rPr lang="en-US" sz="1400" dirty="0">
                <a:solidFill>
                  <a:schemeClr val="accent4"/>
                </a:solidFill>
                <a:latin typeface="Courier New" pitchFamily="49" charset="0"/>
                <a:cs typeface="Courier New" pitchFamily="49" charset="0"/>
              </a:rPr>
              <a:t> = </a:t>
            </a:r>
            <a:r>
              <a:rPr lang="en-US" sz="1400" dirty="0" err="1">
                <a:solidFill>
                  <a:schemeClr val="accent4"/>
                </a:solidFill>
                <a:latin typeface="Courier New" pitchFamily="49" charset="0"/>
                <a:cs typeface="Courier New" pitchFamily="49" charset="0"/>
              </a:rPr>
              <a:t>createQuack</a:t>
            </a:r>
            <a:r>
              <a:rPr lang="en-US" sz="1400" dirty="0">
                <a:solidFill>
                  <a:schemeClr val="accent4"/>
                </a:solidFill>
                <a:latin typeface="Courier New" pitchFamily="49" charset="0"/>
                <a:cs typeface="Courier New" pitchFamily="49" charset="0"/>
              </a:rPr>
              <a:t>();</a:t>
            </a:r>
          </a:p>
          <a:p>
            <a:pPr>
              <a:buFont typeface="Wingdings" pitchFamily="2" charset="2"/>
              <a:buNone/>
              <a:defRPr/>
            </a:pPr>
            <a:r>
              <a:rPr lang="en-US" sz="1400" dirty="0">
                <a:latin typeface="Courier New" pitchFamily="49" charset="0"/>
                <a:cs typeface="Courier New" pitchFamily="49" charset="0"/>
              </a:rPr>
              <a:t>	  }</a:t>
            </a:r>
          </a:p>
          <a:p>
            <a:pPr>
              <a:buFont typeface="Wingdings" pitchFamily="2" charset="2"/>
              <a:buNone/>
              <a:defRPr/>
            </a:pPr>
            <a:r>
              <a:rPr lang="en-US" sz="1400" dirty="0">
                <a:latin typeface="Courier New" pitchFamily="49" charset="0"/>
                <a:cs typeface="Courier New" pitchFamily="49" charset="0"/>
              </a:rPr>
              <a:t>}</a:t>
            </a:r>
          </a:p>
          <a:p>
            <a:pPr>
              <a:buFont typeface="Wingdings" pitchFamily="2" charset="2"/>
              <a:buNone/>
              <a:defRPr/>
            </a:pPr>
            <a:r>
              <a:rPr lang="en-US" sz="1400" dirty="0">
                <a:latin typeface="Courier New" pitchFamily="49" charset="0"/>
                <a:cs typeface="Courier New" pitchFamily="49" charset="0"/>
              </a:rPr>
              <a:t> </a:t>
            </a:r>
            <a:endParaRPr lang="en-US" sz="1400" dirty="0"/>
          </a:p>
        </p:txBody>
      </p:sp>
      <p:sp>
        <p:nvSpPr>
          <p:cNvPr id="62467" name="Slide Number Placeholder 3">
            <a:extLst>
              <a:ext uri="{FF2B5EF4-FFF2-40B4-BE49-F238E27FC236}">
                <a16:creationId xmlns:a16="http://schemas.microsoft.com/office/drawing/2014/main" id="{F5FA4B36-FEFC-3CDA-4DDF-5CA4952EE5B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99A5A7E-7B04-4145-8D1C-4CB04919D4F4}" type="slidenum">
              <a:rPr lang="en-US" altLang="en-US" sz="1000">
                <a:latin typeface="Arial Black" panose="020B0604020202020204" pitchFamily="34" charset="0"/>
              </a:rPr>
              <a:pPr>
                <a:spcBef>
                  <a:spcPct val="0"/>
                </a:spcBef>
                <a:buClrTx/>
                <a:buSzTx/>
                <a:buFontTx/>
                <a:buNone/>
              </a:pPr>
              <a:t>36</a:t>
            </a:fld>
            <a:endParaRPr lang="en-US" altLang="en-US" sz="1000">
              <a:latin typeface="Arial Black" panose="020B0604020202020204" pitchFamily="34" charset="0"/>
            </a:endParaRPr>
          </a:p>
        </p:txBody>
      </p:sp>
      <p:sp>
        <p:nvSpPr>
          <p:cNvPr id="62468" name="Date Placeholder 4">
            <a:extLst>
              <a:ext uri="{FF2B5EF4-FFF2-40B4-BE49-F238E27FC236}">
                <a16:creationId xmlns:a16="http://schemas.microsoft.com/office/drawing/2014/main" id="{C3D106FB-3D39-AA58-E977-A47334CD535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0D0190C-BA6D-334D-8946-1229B7C1ADBF}" type="datetime1">
              <a:rPr lang="en-US" altLang="en-US" sz="1200" smtClean="0"/>
              <a:pPr>
                <a:spcBef>
                  <a:spcPct val="0"/>
                </a:spcBef>
                <a:buClrTx/>
                <a:buSzTx/>
                <a:buFontTx/>
                <a:buNone/>
              </a:pPr>
              <a:t>3/13/24</a:t>
            </a:fld>
            <a:endParaRPr lang="en-US" altLang="en-US" sz="1200"/>
          </a:p>
        </p:txBody>
      </p:sp>
      <p:sp>
        <p:nvSpPr>
          <p:cNvPr id="62469" name="TextBox 5">
            <a:extLst>
              <a:ext uri="{FF2B5EF4-FFF2-40B4-BE49-F238E27FC236}">
                <a16:creationId xmlns:a16="http://schemas.microsoft.com/office/drawing/2014/main" id="{B549D27E-4439-8207-14D8-56CBED8E5DC2}"/>
              </a:ext>
            </a:extLst>
          </p:cNvPr>
          <p:cNvSpPr txBox="1">
            <a:spLocks noChangeArrowheads="1"/>
          </p:cNvSpPr>
          <p:nvPr/>
        </p:nvSpPr>
        <p:spPr bwMode="auto">
          <a:xfrm>
            <a:off x="5562600" y="2362200"/>
            <a:ext cx="2895600" cy="923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MallardDuck does not </a:t>
            </a:r>
            <a:r>
              <a:rPr lang="en-US" altLang="en-US" sz="1800" i="1"/>
              <a:t>have</a:t>
            </a:r>
            <a:r>
              <a:rPr lang="en-US" altLang="en-US" sz="1800"/>
              <a:t> to implement these methods.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78FFEB2C-424A-50E7-C4C5-E3B588BCEFF3}"/>
              </a:ext>
            </a:extLst>
          </p:cNvPr>
          <p:cNvSpPr>
            <a:spLocks noGrp="1"/>
          </p:cNvSpPr>
          <p:nvPr>
            <p:ph type="title"/>
          </p:nvPr>
        </p:nvSpPr>
        <p:spPr/>
        <p:txBody>
          <a:bodyPr/>
          <a:lstStyle/>
          <a:p>
            <a:r>
              <a:rPr lang="en-US" altLang="en-US"/>
              <a:t>Changes..</a:t>
            </a:r>
          </a:p>
        </p:txBody>
      </p:sp>
      <p:sp>
        <p:nvSpPr>
          <p:cNvPr id="65538" name="Content Placeholder 2">
            <a:extLst>
              <a:ext uri="{FF2B5EF4-FFF2-40B4-BE49-F238E27FC236}">
                <a16:creationId xmlns:a16="http://schemas.microsoft.com/office/drawing/2014/main" id="{FCD3528F-D5DA-E4D3-0E73-60AFB7F657C3}"/>
              </a:ext>
            </a:extLst>
          </p:cNvPr>
          <p:cNvSpPr>
            <a:spLocks noGrp="1"/>
          </p:cNvSpPr>
          <p:nvPr>
            <p:ph idx="1"/>
          </p:nvPr>
        </p:nvSpPr>
        <p:spPr>
          <a:xfrm>
            <a:off x="457200" y="1143000"/>
            <a:ext cx="8229600" cy="5410200"/>
          </a:xfrm>
        </p:spPr>
        <p:txBody>
          <a:bodyPr/>
          <a:lstStyle/>
          <a:p>
            <a:r>
              <a:rPr lang="en-US" altLang="en-US"/>
              <a:t>Objectville Pizza HQ gets complaints that the different franchises are not using quality ingredients. They decide that all Pizzas must be composed of the following ingredients:</a:t>
            </a:r>
          </a:p>
          <a:p>
            <a:pPr lvl="1"/>
            <a:r>
              <a:rPr lang="en-US" altLang="en-US"/>
              <a:t>Dough, Sauce, Cheese, Veggies, Pepperoni, and Clams.</a:t>
            </a:r>
          </a:p>
          <a:p>
            <a:endParaRPr lang="en-US" altLang="en-US"/>
          </a:p>
          <a:p>
            <a:r>
              <a:rPr lang="en-US" altLang="en-US"/>
              <a:t>New York says those ingredients are fine, but they want to use their own regional ingredients for all types of pizza, for example</a:t>
            </a:r>
          </a:p>
          <a:p>
            <a:pPr lvl="1"/>
            <a:r>
              <a:rPr lang="en-US" altLang="en-US"/>
              <a:t>Dough = Thin Crust Dough</a:t>
            </a:r>
          </a:p>
          <a:p>
            <a:pPr lvl="1"/>
            <a:r>
              <a:rPr lang="en-US" altLang="en-US"/>
              <a:t>Sauce = Marinara </a:t>
            </a:r>
          </a:p>
          <a:p>
            <a:pPr lvl="1"/>
            <a:r>
              <a:rPr lang="en-US" altLang="en-US"/>
              <a:t>Cheese = Reggiano</a:t>
            </a:r>
          </a:p>
          <a:p>
            <a:pPr lvl="1"/>
            <a:r>
              <a:rPr lang="en-US" altLang="en-US"/>
              <a:t>Veggies = Garlic, Onion</a:t>
            </a:r>
          </a:p>
          <a:p>
            <a:endParaRPr lang="en-US" altLang="en-US"/>
          </a:p>
          <a:p>
            <a:pPr>
              <a:buFont typeface="Wingdings" pitchFamily="2" charset="2"/>
              <a:buNone/>
            </a:pPr>
            <a:endParaRPr lang="en-US" altLang="en-US"/>
          </a:p>
          <a:p>
            <a:endParaRPr lang="en-US" altLang="en-US"/>
          </a:p>
        </p:txBody>
      </p:sp>
      <p:sp>
        <p:nvSpPr>
          <p:cNvPr id="65539" name="Slide Number Placeholder 3">
            <a:extLst>
              <a:ext uri="{FF2B5EF4-FFF2-40B4-BE49-F238E27FC236}">
                <a16:creationId xmlns:a16="http://schemas.microsoft.com/office/drawing/2014/main" id="{A5A64A0A-A203-9F9B-5850-FC6CCF40B7E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6AD88E3-10CE-1B4B-AAE7-9DACB0F7C40A}" type="slidenum">
              <a:rPr lang="en-US" altLang="en-US" sz="1000">
                <a:latin typeface="Arial Black" panose="020B0604020202020204" pitchFamily="34" charset="0"/>
              </a:rPr>
              <a:pPr>
                <a:spcBef>
                  <a:spcPct val="0"/>
                </a:spcBef>
                <a:buClrTx/>
                <a:buSzTx/>
                <a:buFontTx/>
                <a:buNone/>
              </a:pPr>
              <a:t>37</a:t>
            </a:fld>
            <a:endParaRPr lang="en-US" altLang="en-US" sz="1000">
              <a:latin typeface="Arial Black" panose="020B0604020202020204" pitchFamily="34" charset="0"/>
            </a:endParaRPr>
          </a:p>
        </p:txBody>
      </p:sp>
      <p:sp>
        <p:nvSpPr>
          <p:cNvPr id="65540" name="Date Placeholder 4">
            <a:extLst>
              <a:ext uri="{FF2B5EF4-FFF2-40B4-BE49-F238E27FC236}">
                <a16:creationId xmlns:a16="http://schemas.microsoft.com/office/drawing/2014/main" id="{6AB1F9E0-087F-557B-6587-19714681A0A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26C2223-6176-994F-87F8-1995937DEAE5}"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a:extLst>
              <a:ext uri="{FF2B5EF4-FFF2-40B4-BE49-F238E27FC236}">
                <a16:creationId xmlns:a16="http://schemas.microsoft.com/office/drawing/2014/main" id="{96B32288-F16A-30F6-41C7-C69A01E8E20D}"/>
              </a:ext>
            </a:extLst>
          </p:cNvPr>
          <p:cNvSpPr>
            <a:spLocks noGrp="1"/>
          </p:cNvSpPr>
          <p:nvPr>
            <p:ph type="title"/>
          </p:nvPr>
        </p:nvSpPr>
        <p:spPr/>
        <p:txBody>
          <a:bodyPr/>
          <a:lstStyle/>
          <a:p>
            <a:r>
              <a:rPr lang="en-US" altLang="en-US"/>
              <a:t>Pizza  </a:t>
            </a:r>
          </a:p>
        </p:txBody>
      </p:sp>
      <p:sp>
        <p:nvSpPr>
          <p:cNvPr id="66562" name="Content Placeholder 2">
            <a:extLst>
              <a:ext uri="{FF2B5EF4-FFF2-40B4-BE49-F238E27FC236}">
                <a16:creationId xmlns:a16="http://schemas.microsoft.com/office/drawing/2014/main" id="{3F814779-DF9F-8205-B09F-06A3E9056E44}"/>
              </a:ext>
            </a:extLst>
          </p:cNvPr>
          <p:cNvSpPr>
            <a:spLocks noGrp="1"/>
          </p:cNvSpPr>
          <p:nvPr>
            <p:ph idx="1"/>
          </p:nvPr>
        </p:nvSpPr>
        <p:spPr>
          <a:xfrm>
            <a:off x="457200" y="1371600"/>
            <a:ext cx="4419600" cy="44958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class Pizza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Dough dough;</a:t>
            </a:r>
          </a:p>
          <a:p>
            <a:pPr>
              <a:buFont typeface="Wingdings" pitchFamily="2" charset="2"/>
              <a:buNone/>
            </a:pPr>
            <a:r>
              <a:rPr lang="en-US" altLang="en-US" sz="1600">
                <a:latin typeface="Courier New" panose="02070309020205020404" pitchFamily="49" charset="0"/>
                <a:cs typeface="Courier New" panose="02070309020205020404" pitchFamily="49" charset="0"/>
              </a:rPr>
              <a:t>	Sauce sauce;</a:t>
            </a:r>
          </a:p>
          <a:p>
            <a:pPr>
              <a:buFont typeface="Wingdings" pitchFamily="2" charset="2"/>
              <a:buNone/>
            </a:pPr>
            <a:r>
              <a:rPr lang="en-US" altLang="en-US" sz="1600">
                <a:latin typeface="Courier New" panose="02070309020205020404" pitchFamily="49" charset="0"/>
                <a:cs typeface="Courier New" panose="02070309020205020404" pitchFamily="49" charset="0"/>
              </a:rPr>
              <a:t>	Veggies veggies[];</a:t>
            </a:r>
          </a:p>
          <a:p>
            <a:pPr>
              <a:buFont typeface="Wingdings" pitchFamily="2" charset="2"/>
              <a:buNone/>
            </a:pPr>
            <a:r>
              <a:rPr lang="en-US" altLang="en-US" sz="1600">
                <a:latin typeface="Courier New" panose="02070309020205020404" pitchFamily="49" charset="0"/>
                <a:cs typeface="Courier New" panose="02070309020205020404" pitchFamily="49" charset="0"/>
              </a:rPr>
              <a:t>	Cheese cheese;</a:t>
            </a:r>
          </a:p>
          <a:p>
            <a:pPr>
              <a:buFont typeface="Wingdings" pitchFamily="2" charset="2"/>
              <a:buNone/>
            </a:pPr>
            <a:r>
              <a:rPr lang="en-US" altLang="en-US" sz="1600">
                <a:latin typeface="Courier New" panose="02070309020205020404" pitchFamily="49" charset="0"/>
                <a:cs typeface="Courier New" panose="02070309020205020404" pitchFamily="49" charset="0"/>
              </a:rPr>
              <a:t>	Pepperoni pepperoni;</a:t>
            </a:r>
          </a:p>
          <a:p>
            <a:pPr>
              <a:buFont typeface="Wingdings" pitchFamily="2" charset="2"/>
              <a:buNone/>
            </a:pPr>
            <a:r>
              <a:rPr lang="en-US" altLang="en-US" sz="1600">
                <a:latin typeface="Courier New" panose="02070309020205020404" pitchFamily="49" charset="0"/>
                <a:cs typeface="Courier New" panose="02070309020205020404" pitchFamily="49" charset="0"/>
              </a:rPr>
              <a:t>	Clams clam;</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 .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a:t>
            </a:r>
          </a:p>
        </p:txBody>
      </p:sp>
      <p:sp>
        <p:nvSpPr>
          <p:cNvPr id="66563" name="Slide Number Placeholder 3">
            <a:extLst>
              <a:ext uri="{FF2B5EF4-FFF2-40B4-BE49-F238E27FC236}">
                <a16:creationId xmlns:a16="http://schemas.microsoft.com/office/drawing/2014/main" id="{98AAC7D9-E665-7102-506A-D2D550BC461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AD466EC-FA43-CF44-B9BC-06A3F386E4E0}" type="slidenum">
              <a:rPr lang="en-US" altLang="en-US" sz="1000">
                <a:latin typeface="Arial Black" panose="020B0604020202020204" pitchFamily="34" charset="0"/>
              </a:rPr>
              <a:pPr>
                <a:spcBef>
                  <a:spcPct val="0"/>
                </a:spcBef>
                <a:buClrTx/>
                <a:buSzTx/>
                <a:buFontTx/>
                <a:buNone/>
              </a:pPr>
              <a:t>38</a:t>
            </a:fld>
            <a:endParaRPr lang="en-US" altLang="en-US" sz="1000">
              <a:latin typeface="Arial Black" panose="020B0604020202020204" pitchFamily="34" charset="0"/>
            </a:endParaRPr>
          </a:p>
        </p:txBody>
      </p:sp>
      <p:sp>
        <p:nvSpPr>
          <p:cNvPr id="66564" name="Date Placeholder 4">
            <a:extLst>
              <a:ext uri="{FF2B5EF4-FFF2-40B4-BE49-F238E27FC236}">
                <a16:creationId xmlns:a16="http://schemas.microsoft.com/office/drawing/2014/main" id="{30A2AAD2-5A1A-AA54-5F70-AA6BFF196ED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D390EE7-7B98-C948-8293-245444C9B495}" type="datetime1">
              <a:rPr lang="en-US" altLang="en-US" sz="1200" smtClean="0"/>
              <a:pPr>
                <a:spcBef>
                  <a:spcPct val="0"/>
                </a:spcBef>
                <a:buClrTx/>
                <a:buSzTx/>
                <a:buFontTx/>
                <a:buNone/>
              </a:pPr>
              <a:t>3/13/24</a:t>
            </a:fld>
            <a:endParaRPr lang="en-US" altLang="en-US" sz="1200"/>
          </a:p>
        </p:txBody>
      </p:sp>
      <p:sp>
        <p:nvSpPr>
          <p:cNvPr id="66565" name="TextBox 5">
            <a:extLst>
              <a:ext uri="{FF2B5EF4-FFF2-40B4-BE49-F238E27FC236}">
                <a16:creationId xmlns:a16="http://schemas.microsoft.com/office/drawing/2014/main" id="{86F2EA62-18A9-8E71-034D-83EA10E1A8A8}"/>
              </a:ext>
            </a:extLst>
          </p:cNvPr>
          <p:cNvSpPr txBox="1">
            <a:spLocks noChangeArrowheads="1"/>
          </p:cNvSpPr>
          <p:nvPr/>
        </p:nvSpPr>
        <p:spPr bwMode="auto">
          <a:xfrm>
            <a:off x="5181600" y="2286000"/>
            <a:ext cx="3352800"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Pizza becomes composed of different ingredients.</a:t>
            </a:r>
          </a:p>
        </p:txBody>
      </p:sp>
      <p:cxnSp>
        <p:nvCxnSpPr>
          <p:cNvPr id="66566" name="Straight Arrow Connector 7">
            <a:extLst>
              <a:ext uri="{FF2B5EF4-FFF2-40B4-BE49-F238E27FC236}">
                <a16:creationId xmlns:a16="http://schemas.microsoft.com/office/drawing/2014/main" id="{8123FA0C-AFC2-0202-77C0-176C91C85368}"/>
              </a:ext>
            </a:extLst>
          </p:cNvPr>
          <p:cNvCxnSpPr>
            <a:cxnSpLocks noChangeShapeType="1"/>
          </p:cNvCxnSpPr>
          <p:nvPr/>
        </p:nvCxnSpPr>
        <p:spPr bwMode="auto">
          <a:xfrm rot="10800000">
            <a:off x="3505200" y="2667000"/>
            <a:ext cx="15240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66567" name="TextBox 11">
            <a:extLst>
              <a:ext uri="{FF2B5EF4-FFF2-40B4-BE49-F238E27FC236}">
                <a16:creationId xmlns:a16="http://schemas.microsoft.com/office/drawing/2014/main" id="{0B04C496-B38A-5C89-F1E7-C96CC5FD006F}"/>
              </a:ext>
            </a:extLst>
          </p:cNvPr>
          <p:cNvSpPr txBox="1">
            <a:spLocks noChangeArrowheads="1"/>
          </p:cNvSpPr>
          <p:nvPr/>
        </p:nvSpPr>
        <p:spPr bwMode="auto">
          <a:xfrm>
            <a:off x="5486400" y="3962400"/>
            <a:ext cx="2514600"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Question: How do we get these ingredients associated with a Pizza??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a:extLst>
              <a:ext uri="{FF2B5EF4-FFF2-40B4-BE49-F238E27FC236}">
                <a16:creationId xmlns:a16="http://schemas.microsoft.com/office/drawing/2014/main" id="{1C03345A-E919-ECCF-3DE6-B5A7CF8F5365}"/>
              </a:ext>
            </a:extLst>
          </p:cNvPr>
          <p:cNvSpPr>
            <a:spLocks noGrp="1"/>
          </p:cNvSpPr>
          <p:nvPr>
            <p:ph type="title"/>
          </p:nvPr>
        </p:nvSpPr>
        <p:spPr/>
        <p:txBody>
          <a:bodyPr/>
          <a:lstStyle/>
          <a:p>
            <a:r>
              <a:rPr lang="en-US" altLang="en-US"/>
              <a:t>One idea…Constructor w/many parameters</a:t>
            </a:r>
          </a:p>
        </p:txBody>
      </p:sp>
      <p:sp>
        <p:nvSpPr>
          <p:cNvPr id="67586" name="Content Placeholder 2">
            <a:extLst>
              <a:ext uri="{FF2B5EF4-FFF2-40B4-BE49-F238E27FC236}">
                <a16:creationId xmlns:a16="http://schemas.microsoft.com/office/drawing/2014/main" id="{2AED82F4-7AEC-5813-344F-7808019D097F}"/>
              </a:ext>
            </a:extLst>
          </p:cNvPr>
          <p:cNvSpPr>
            <a:spLocks noGrp="1"/>
          </p:cNvSpPr>
          <p:nvPr>
            <p:ph idx="1"/>
          </p:nvPr>
        </p:nvSpPr>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public class Pizza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public Pizza(</a:t>
            </a:r>
            <a:r>
              <a:rPr lang="en-US" altLang="en-US" sz="1800" b="1">
                <a:solidFill>
                  <a:srgbClr val="FF0000"/>
                </a:solidFill>
                <a:latin typeface="Courier New" panose="02070309020205020404" pitchFamily="49" charset="0"/>
                <a:cs typeface="Courier New" panose="02070309020205020404" pitchFamily="49" charset="0"/>
              </a:rPr>
              <a:t>Dough d, Sauce s, Cheese c, Veggies v,   </a:t>
            </a:r>
          </a:p>
          <a:p>
            <a:pPr>
              <a:buFont typeface="Wingdings" pitchFamily="2" charset="2"/>
              <a:buNone/>
            </a:pPr>
            <a:r>
              <a:rPr lang="en-US" altLang="en-US" sz="1800" b="1">
                <a:solidFill>
                  <a:srgbClr val="FF0000"/>
                </a:solidFill>
                <a:latin typeface="Courier New" panose="02070309020205020404" pitchFamily="49" charset="0"/>
                <a:cs typeface="Courier New" panose="02070309020205020404" pitchFamily="49" charset="0"/>
              </a:rPr>
              <a:t>               Pepperoni p, Clams c</a:t>
            </a:r>
            <a:r>
              <a:rPr lang="en-US" altLang="en-US" sz="1800">
                <a:latin typeface="Courier New" panose="02070309020205020404" pitchFamily="49" charset="0"/>
                <a:cs typeface="Courier New" panose="02070309020205020404" pitchFamily="49" charset="0"/>
              </a:rPr>
              <a:t>)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this.dough = d;</a:t>
            </a:r>
          </a:p>
          <a:p>
            <a:pPr>
              <a:buFont typeface="Wingdings" pitchFamily="2" charset="2"/>
              <a:buNone/>
            </a:pPr>
            <a:r>
              <a:rPr lang="en-US" altLang="en-US" sz="1800">
                <a:latin typeface="Courier New" panose="02070309020205020404" pitchFamily="49" charset="0"/>
                <a:cs typeface="Courier New" panose="02070309020205020404" pitchFamily="49" charset="0"/>
              </a:rPr>
              <a:t>       this.sauce = s;</a:t>
            </a:r>
          </a:p>
          <a:p>
            <a:pPr>
              <a:buFont typeface="Wingdings" pitchFamily="2" charset="2"/>
              <a:buNone/>
            </a:pPr>
            <a:r>
              <a:rPr lang="en-US" altLang="en-US" sz="1800">
                <a:latin typeface="Courier New" panose="02070309020205020404" pitchFamily="49" charset="0"/>
                <a:cs typeface="Courier New" panose="02070309020205020404" pitchFamily="49" charset="0"/>
              </a:rPr>
              <a:t>       this.veggies = v;</a:t>
            </a:r>
          </a:p>
          <a:p>
            <a:pPr>
              <a:buFont typeface="Wingdings" pitchFamily="2" charset="2"/>
              <a:buNone/>
            </a:pPr>
            <a:r>
              <a:rPr lang="en-US" altLang="en-US" sz="1800">
                <a:latin typeface="Courier New" panose="02070309020205020404" pitchFamily="49" charset="0"/>
                <a:cs typeface="Courier New" panose="02070309020205020404" pitchFamily="49" charset="0"/>
              </a:rPr>
              <a:t>       this.cheese = c;</a:t>
            </a:r>
          </a:p>
          <a:p>
            <a:pPr>
              <a:buFont typeface="Wingdings" pitchFamily="2" charset="2"/>
              <a:buNone/>
            </a:pPr>
            <a:r>
              <a:rPr lang="en-US" altLang="en-US" sz="1800">
                <a:latin typeface="Courier New" panose="02070309020205020404" pitchFamily="49" charset="0"/>
                <a:cs typeface="Courier New" panose="02070309020205020404" pitchFamily="49" charset="0"/>
              </a:rPr>
              <a:t>       this.pepperoni  = p;</a:t>
            </a:r>
          </a:p>
          <a:p>
            <a:pPr>
              <a:buFont typeface="Wingdings" pitchFamily="2" charset="2"/>
              <a:buNone/>
            </a:pPr>
            <a:r>
              <a:rPr lang="en-US" altLang="en-US" sz="1800">
                <a:latin typeface="Courier New" panose="02070309020205020404" pitchFamily="49" charset="0"/>
                <a:cs typeface="Courier New" panose="02070309020205020404" pitchFamily="49" charset="0"/>
              </a:rPr>
              <a:t>       this.clam = c;</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a:t>
            </a:r>
          </a:p>
          <a:p>
            <a:pPr>
              <a:buFont typeface="Wingdings" pitchFamily="2" charset="2"/>
              <a:buNone/>
            </a:pPr>
            <a:endParaRPr lang="en-US" altLang="en-US" sz="1800"/>
          </a:p>
        </p:txBody>
      </p:sp>
      <p:sp>
        <p:nvSpPr>
          <p:cNvPr id="67587" name="Slide Number Placeholder 3">
            <a:extLst>
              <a:ext uri="{FF2B5EF4-FFF2-40B4-BE49-F238E27FC236}">
                <a16:creationId xmlns:a16="http://schemas.microsoft.com/office/drawing/2014/main" id="{37CC8A9A-7F26-AB99-9AE4-778FAD5AA3E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6D67AE7-10A6-B842-AB8A-1CB0B76D771B}" type="slidenum">
              <a:rPr lang="en-US" altLang="en-US" sz="1000">
                <a:latin typeface="Arial Black" panose="020B0604020202020204" pitchFamily="34" charset="0"/>
              </a:rPr>
              <a:pPr>
                <a:spcBef>
                  <a:spcPct val="0"/>
                </a:spcBef>
                <a:buClrTx/>
                <a:buSzTx/>
                <a:buFontTx/>
                <a:buNone/>
              </a:pPr>
              <a:t>39</a:t>
            </a:fld>
            <a:endParaRPr lang="en-US" altLang="en-US" sz="1000">
              <a:latin typeface="Arial Black" panose="020B0604020202020204" pitchFamily="34" charset="0"/>
            </a:endParaRPr>
          </a:p>
        </p:txBody>
      </p:sp>
      <p:sp>
        <p:nvSpPr>
          <p:cNvPr id="67588" name="Date Placeholder 4">
            <a:extLst>
              <a:ext uri="{FF2B5EF4-FFF2-40B4-BE49-F238E27FC236}">
                <a16:creationId xmlns:a16="http://schemas.microsoft.com/office/drawing/2014/main" id="{72A966BD-ADEB-CD18-7B4F-480B92616EF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D4BA53B-AB94-B049-9590-0AC149F71922}" type="datetime1">
              <a:rPr lang="en-US" altLang="en-US" sz="1200" smtClean="0"/>
              <a:pPr>
                <a:spcBef>
                  <a:spcPct val="0"/>
                </a:spcBef>
                <a:buClrTx/>
                <a:buSzTx/>
                <a:buFontTx/>
                <a:buNone/>
              </a:pPr>
              <a:t>3/13/24</a:t>
            </a:fld>
            <a:endParaRPr lang="en-US" altLang="en-US" sz="1200"/>
          </a:p>
        </p:txBody>
      </p:sp>
      <p:sp>
        <p:nvSpPr>
          <p:cNvPr id="67589" name="TextBox 5">
            <a:extLst>
              <a:ext uri="{FF2B5EF4-FFF2-40B4-BE49-F238E27FC236}">
                <a16:creationId xmlns:a16="http://schemas.microsoft.com/office/drawing/2014/main" id="{0E8BCA49-4B08-8517-7625-2E9FA42281AF}"/>
              </a:ext>
            </a:extLst>
          </p:cNvPr>
          <p:cNvSpPr txBox="1">
            <a:spLocks noChangeArrowheads="1"/>
          </p:cNvSpPr>
          <p:nvPr/>
        </p:nvSpPr>
        <p:spPr bwMode="auto">
          <a:xfrm>
            <a:off x="5715000" y="3886200"/>
            <a:ext cx="2819400"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Makes sense…whenever you create a pizza, you must specify these ingredients…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a:extLst>
              <a:ext uri="{FF2B5EF4-FFF2-40B4-BE49-F238E27FC236}">
                <a16:creationId xmlns:a16="http://schemas.microsoft.com/office/drawing/2014/main" id="{E6444D66-C7A3-42E1-2AD1-4F5CC5E50D4A}"/>
              </a:ext>
            </a:extLst>
          </p:cNvPr>
          <p:cNvSpPr>
            <a:spLocks noGrp="1"/>
          </p:cNvSpPr>
          <p:nvPr>
            <p:ph type="title"/>
          </p:nvPr>
        </p:nvSpPr>
        <p:spPr>
          <a:xfrm>
            <a:off x="457200" y="457200"/>
            <a:ext cx="4648200" cy="762000"/>
          </a:xfrm>
        </p:spPr>
        <p:txBody>
          <a:bodyPr/>
          <a:lstStyle/>
          <a:p>
            <a:r>
              <a:rPr lang="en-US" altLang="en-US"/>
              <a:t>Rework NYPizzaStore</a:t>
            </a:r>
          </a:p>
        </p:txBody>
      </p:sp>
      <p:sp>
        <p:nvSpPr>
          <p:cNvPr id="68610" name="Content Placeholder 2">
            <a:extLst>
              <a:ext uri="{FF2B5EF4-FFF2-40B4-BE49-F238E27FC236}">
                <a16:creationId xmlns:a16="http://schemas.microsoft.com/office/drawing/2014/main" id="{A93102E1-1FBF-C945-72F8-DD2E05C82F4A}"/>
              </a:ext>
            </a:extLst>
          </p:cNvPr>
          <p:cNvSpPr>
            <a:spLocks noGrp="1"/>
          </p:cNvSpPr>
          <p:nvPr>
            <p:ph idx="1"/>
          </p:nvPr>
        </p:nvSpPr>
        <p:spPr>
          <a:xfrm>
            <a:off x="457200" y="1371600"/>
            <a:ext cx="8229600" cy="3581400"/>
          </a:xfrm>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public class NYPizzaStore extends PizzaStore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lvl="1">
              <a:buFont typeface="Wingdings" pitchFamily="2" charset="2"/>
              <a:buNone/>
            </a:pPr>
            <a:r>
              <a:rPr lang="en-US" altLang="en-US" sz="1400">
                <a:latin typeface="Courier New" panose="02070309020205020404" pitchFamily="49" charset="0"/>
                <a:cs typeface="Courier New" panose="02070309020205020404" pitchFamily="49" charset="0"/>
              </a:rPr>
              <a:t>	Pizza createPizza(String item) {</a:t>
            </a:r>
          </a:p>
          <a:p>
            <a:pPr lvl="2">
              <a:buFont typeface="Wingdings" pitchFamily="2" charset="2"/>
              <a:buNone/>
            </a:pPr>
            <a:endParaRPr lang="en-US" altLang="en-US" sz="1400">
              <a:latin typeface="Courier New" panose="02070309020205020404" pitchFamily="49" charset="0"/>
              <a:cs typeface="Courier New" panose="02070309020205020404" pitchFamily="49" charset="0"/>
            </a:endParaRPr>
          </a:p>
          <a:p>
            <a:pPr lvl="2">
              <a:buFont typeface="Wingdings" pitchFamily="2" charset="2"/>
              <a:buNone/>
            </a:pPr>
            <a:r>
              <a:rPr lang="en-US" altLang="en-US" sz="1400">
                <a:latin typeface="Courier New" panose="02070309020205020404" pitchFamily="49" charset="0"/>
                <a:cs typeface="Courier New" panose="02070309020205020404" pitchFamily="49" charset="0"/>
              </a:rPr>
              <a:t> if (item.equals("cheese")) {</a:t>
            </a:r>
            <a:r>
              <a:rPr lang="en-US" altLang="en-US" sz="1400" b="1">
                <a:solidFill>
                  <a:srgbClr val="FF0000"/>
                </a:solidFill>
                <a:latin typeface="Courier New" panose="02070309020205020404" pitchFamily="49" charset="0"/>
                <a:cs typeface="Courier New" panose="02070309020205020404" pitchFamily="49" charset="0"/>
              </a:rPr>
              <a:t>  </a:t>
            </a:r>
          </a:p>
          <a:p>
            <a:pPr lvl="2">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return new NYStyleCheesePizza(new ThinCrustDough(), </a:t>
            </a:r>
          </a:p>
          <a:p>
            <a:pPr lvl="2">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new Marinara(), new Reggiano(), null, null );</a:t>
            </a:r>
          </a:p>
          <a:p>
            <a:pPr lvl="2">
              <a:buFont typeface="Wingdings" pitchFamily="2" charset="2"/>
              <a:buNone/>
            </a:pPr>
            <a:r>
              <a:rPr lang="en-US" altLang="en-US" sz="1400">
                <a:latin typeface="Courier New" panose="02070309020205020404" pitchFamily="49" charset="0"/>
                <a:cs typeface="Courier New" panose="02070309020205020404" pitchFamily="49" charset="0"/>
              </a:rPr>
              <a:t> </a:t>
            </a:r>
          </a:p>
          <a:p>
            <a:pPr lvl="2">
              <a:buFont typeface="Wingdings" pitchFamily="2" charset="2"/>
              <a:buNone/>
            </a:pPr>
            <a:r>
              <a:rPr lang="en-US" altLang="en-US" sz="1400">
                <a:latin typeface="Courier New" panose="02070309020205020404" pitchFamily="49" charset="0"/>
                <a:cs typeface="Courier New" panose="02070309020205020404" pitchFamily="49" charset="0"/>
              </a:rPr>
              <a:t>} else if (item.equals("veggie")) {</a:t>
            </a:r>
            <a:r>
              <a:rPr lang="en-US" altLang="en-US" sz="1400" b="1">
                <a:solidFill>
                  <a:srgbClr val="FF0000"/>
                </a:solidFill>
                <a:latin typeface="Courier New" panose="02070309020205020404" pitchFamily="49" charset="0"/>
                <a:cs typeface="Courier New" panose="02070309020205020404" pitchFamily="49" charset="0"/>
              </a:rPr>
              <a:t> </a:t>
            </a:r>
          </a:p>
          <a:p>
            <a:pPr lvl="2">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return new NYStyleVeggiaPizza(new ThinCrustDough(), </a:t>
            </a:r>
          </a:p>
          <a:p>
            <a:pPr lvl="2">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new Marinara(), new Reggiano(), mew Garlic() , null) </a:t>
            </a:r>
            <a:endParaRPr lang="en-US" altLang="en-US" sz="1400">
              <a:latin typeface="Courier New" panose="02070309020205020404" pitchFamily="49" charset="0"/>
              <a:cs typeface="Courier New" panose="02070309020205020404" pitchFamily="49" charset="0"/>
            </a:endParaRPr>
          </a:p>
          <a:p>
            <a:pPr lvl="1">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a:t>
            </a:r>
          </a:p>
        </p:txBody>
      </p:sp>
      <p:sp>
        <p:nvSpPr>
          <p:cNvPr id="68611" name="Slide Number Placeholder 3">
            <a:extLst>
              <a:ext uri="{FF2B5EF4-FFF2-40B4-BE49-F238E27FC236}">
                <a16:creationId xmlns:a16="http://schemas.microsoft.com/office/drawing/2014/main" id="{D383AF85-D40B-F082-4240-41DFB325A57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FE94CF0-BBFB-2946-BECA-2FA0A9655B60}" type="slidenum">
              <a:rPr lang="en-US" altLang="en-US" sz="1000">
                <a:latin typeface="Arial Black" panose="020B0604020202020204" pitchFamily="34" charset="0"/>
              </a:rPr>
              <a:pPr>
                <a:spcBef>
                  <a:spcPct val="0"/>
                </a:spcBef>
                <a:buClrTx/>
                <a:buSzTx/>
                <a:buFontTx/>
                <a:buNone/>
              </a:pPr>
              <a:t>40</a:t>
            </a:fld>
            <a:endParaRPr lang="en-US" altLang="en-US" sz="1000">
              <a:latin typeface="Arial Black" panose="020B0604020202020204" pitchFamily="34" charset="0"/>
            </a:endParaRPr>
          </a:p>
        </p:txBody>
      </p:sp>
      <p:sp>
        <p:nvSpPr>
          <p:cNvPr id="68612" name="Date Placeholder 4">
            <a:extLst>
              <a:ext uri="{FF2B5EF4-FFF2-40B4-BE49-F238E27FC236}">
                <a16:creationId xmlns:a16="http://schemas.microsoft.com/office/drawing/2014/main" id="{4B527487-C0CE-F449-9CD2-7E16EC113CCF}"/>
              </a:ext>
            </a:extLst>
          </p:cNvPr>
          <p:cNvSpPr>
            <a:spLocks noGrp="1"/>
          </p:cNvSpPr>
          <p:nvPr>
            <p:ph type="dt" sz="quarter" idx="12"/>
          </p:nvPr>
        </p:nvSpPr>
        <p:spPr>
          <a:xfrm>
            <a:off x="457200"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E1AE200-B0EA-304E-90B3-B3AE20B72A11}" type="datetime1">
              <a:rPr lang="en-US" altLang="en-US" sz="1200" smtClean="0"/>
              <a:pPr>
                <a:spcBef>
                  <a:spcPct val="0"/>
                </a:spcBef>
                <a:buClrTx/>
                <a:buSzTx/>
                <a:buFontTx/>
                <a:buNone/>
              </a:pPr>
              <a:t>3/13/24</a:t>
            </a:fld>
            <a:endParaRPr lang="en-US" altLang="en-US" sz="1200"/>
          </a:p>
        </p:txBody>
      </p:sp>
      <p:sp>
        <p:nvSpPr>
          <p:cNvPr id="68613" name="TextBox 6">
            <a:extLst>
              <a:ext uri="{FF2B5EF4-FFF2-40B4-BE49-F238E27FC236}">
                <a16:creationId xmlns:a16="http://schemas.microsoft.com/office/drawing/2014/main" id="{A1D0063E-C364-4BA0-9D73-5555C98404C9}"/>
              </a:ext>
            </a:extLst>
          </p:cNvPr>
          <p:cNvSpPr txBox="1">
            <a:spLocks noChangeArrowheads="1"/>
          </p:cNvSpPr>
          <p:nvPr/>
        </p:nvSpPr>
        <p:spPr bwMode="auto">
          <a:xfrm>
            <a:off x="457200" y="5029200"/>
            <a:ext cx="80772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This will cause a lot of maintenance headaches!!!   Imagine what happens when we create a new pizza!   </a:t>
            </a:r>
          </a:p>
          <a:p>
            <a:pPr>
              <a:spcBef>
                <a:spcPct val="0"/>
              </a:spcBef>
              <a:buClrTx/>
              <a:buSzTx/>
              <a:buFontTx/>
              <a:buNone/>
            </a:pPr>
            <a:r>
              <a:rPr lang="en-US" altLang="en-US" sz="1800"/>
              <a:t>We know that we have a certain set of ingredients that are used for New York..yet we have to keep repeating that set with each constructor.  Can we define this unique set just once??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DB768C87-F650-2E12-ED50-87B0D07BCA28}"/>
              </a:ext>
            </a:extLst>
          </p:cNvPr>
          <p:cNvSpPr>
            <a:spLocks noGrp="1"/>
          </p:cNvSpPr>
          <p:nvPr>
            <p:ph type="title"/>
          </p:nvPr>
        </p:nvSpPr>
        <p:spPr/>
        <p:txBody>
          <a:bodyPr/>
          <a:lstStyle/>
          <a:p>
            <a:r>
              <a:rPr lang="en-US" altLang="en-US"/>
              <a:t>PizzaIngredientFactory (pg 146)</a:t>
            </a:r>
          </a:p>
        </p:txBody>
      </p:sp>
      <p:sp>
        <p:nvSpPr>
          <p:cNvPr id="69634" name="Content Placeholder 2">
            <a:extLst>
              <a:ext uri="{FF2B5EF4-FFF2-40B4-BE49-F238E27FC236}">
                <a16:creationId xmlns:a16="http://schemas.microsoft.com/office/drawing/2014/main" id="{7AB48DB6-539F-CD2D-CA38-C23D4BF4BC81}"/>
              </a:ext>
            </a:extLst>
          </p:cNvPr>
          <p:cNvSpPr>
            <a:spLocks noGrp="1"/>
          </p:cNvSpPr>
          <p:nvPr>
            <p:ph idx="1"/>
          </p:nvPr>
        </p:nvSpPr>
        <p:spPr>
          <a:xfrm>
            <a:off x="381000" y="2286000"/>
            <a:ext cx="8229600" cy="3276600"/>
          </a:xfrm>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public interface PizzaIngredientFactory {</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public Dough createDough();</a:t>
            </a:r>
          </a:p>
          <a:p>
            <a:pPr>
              <a:buFont typeface="Wingdings" pitchFamily="2" charset="2"/>
              <a:buNone/>
            </a:pPr>
            <a:r>
              <a:rPr lang="en-US" altLang="en-US" sz="1800">
                <a:latin typeface="Courier New" panose="02070309020205020404" pitchFamily="49" charset="0"/>
                <a:cs typeface="Courier New" panose="02070309020205020404" pitchFamily="49" charset="0"/>
              </a:rPr>
              <a:t>	public Sauce createSauce();</a:t>
            </a:r>
          </a:p>
          <a:p>
            <a:pPr>
              <a:buFont typeface="Wingdings" pitchFamily="2" charset="2"/>
              <a:buNone/>
            </a:pPr>
            <a:r>
              <a:rPr lang="en-US" altLang="en-US" sz="1800">
                <a:latin typeface="Courier New" panose="02070309020205020404" pitchFamily="49" charset="0"/>
                <a:cs typeface="Courier New" panose="02070309020205020404" pitchFamily="49" charset="0"/>
              </a:rPr>
              <a:t>	public Cheese createCheese();</a:t>
            </a:r>
          </a:p>
          <a:p>
            <a:pPr>
              <a:buFont typeface="Wingdings" pitchFamily="2" charset="2"/>
              <a:buNone/>
            </a:pPr>
            <a:r>
              <a:rPr lang="en-US" altLang="en-US" sz="1800">
                <a:latin typeface="Courier New" panose="02070309020205020404" pitchFamily="49" charset="0"/>
                <a:cs typeface="Courier New" panose="02070309020205020404" pitchFamily="49" charset="0"/>
              </a:rPr>
              <a:t>	public Veggies[] createVeggies();</a:t>
            </a:r>
          </a:p>
          <a:p>
            <a:pPr>
              <a:buFont typeface="Wingdings" pitchFamily="2" charset="2"/>
              <a:buNone/>
            </a:pPr>
            <a:r>
              <a:rPr lang="en-US" altLang="en-US" sz="1800">
                <a:latin typeface="Courier New" panose="02070309020205020404" pitchFamily="49" charset="0"/>
                <a:cs typeface="Courier New" panose="02070309020205020404" pitchFamily="49" charset="0"/>
              </a:rPr>
              <a:t>	public Pepperoni createPepperoni();</a:t>
            </a:r>
          </a:p>
          <a:p>
            <a:pPr>
              <a:buFont typeface="Wingdings" pitchFamily="2" charset="2"/>
              <a:buNone/>
            </a:pPr>
            <a:r>
              <a:rPr lang="en-US" altLang="en-US" sz="1800">
                <a:latin typeface="Courier New" panose="02070309020205020404" pitchFamily="49" charset="0"/>
                <a:cs typeface="Courier New" panose="02070309020205020404" pitchFamily="49" charset="0"/>
              </a:rPr>
              <a:t>	public Clams createClam();</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a:t>
            </a:r>
          </a:p>
        </p:txBody>
      </p:sp>
      <p:sp>
        <p:nvSpPr>
          <p:cNvPr id="69635" name="Slide Number Placeholder 3">
            <a:extLst>
              <a:ext uri="{FF2B5EF4-FFF2-40B4-BE49-F238E27FC236}">
                <a16:creationId xmlns:a16="http://schemas.microsoft.com/office/drawing/2014/main" id="{902EC3BD-A47B-18D6-CCF9-E9657B673EF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21D35D2-9C2B-B04F-A8EC-DA24D4BB75D5}" type="slidenum">
              <a:rPr lang="en-US" altLang="en-US" sz="1000">
                <a:latin typeface="Arial Black" panose="020B0604020202020204" pitchFamily="34" charset="0"/>
              </a:rPr>
              <a:pPr>
                <a:spcBef>
                  <a:spcPct val="0"/>
                </a:spcBef>
                <a:buClrTx/>
                <a:buSzTx/>
                <a:buFontTx/>
                <a:buNone/>
              </a:pPr>
              <a:t>41</a:t>
            </a:fld>
            <a:endParaRPr lang="en-US" altLang="en-US" sz="1000">
              <a:latin typeface="Arial Black" panose="020B0604020202020204" pitchFamily="34" charset="0"/>
            </a:endParaRPr>
          </a:p>
        </p:txBody>
      </p:sp>
      <p:sp>
        <p:nvSpPr>
          <p:cNvPr id="69636" name="Date Placeholder 4">
            <a:extLst>
              <a:ext uri="{FF2B5EF4-FFF2-40B4-BE49-F238E27FC236}">
                <a16:creationId xmlns:a16="http://schemas.microsoft.com/office/drawing/2014/main" id="{72DF5982-A9B3-0DF3-89C9-FA74901BBC8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508D906-0B23-1C44-AA51-D46830D51C46}" type="datetime1">
              <a:rPr lang="en-US" altLang="en-US" sz="1200" smtClean="0"/>
              <a:pPr>
                <a:spcBef>
                  <a:spcPct val="0"/>
                </a:spcBef>
                <a:buClrTx/>
                <a:buSzTx/>
                <a:buFontTx/>
                <a:buNone/>
              </a:pPr>
              <a:t>3/13/24</a:t>
            </a:fld>
            <a:endParaRPr lang="en-US" altLang="en-US" sz="1200"/>
          </a:p>
        </p:txBody>
      </p:sp>
      <p:sp>
        <p:nvSpPr>
          <p:cNvPr id="69637" name="TextBox 5">
            <a:extLst>
              <a:ext uri="{FF2B5EF4-FFF2-40B4-BE49-F238E27FC236}">
                <a16:creationId xmlns:a16="http://schemas.microsoft.com/office/drawing/2014/main" id="{BB30525D-E051-350C-C6FE-9AFACFAE50E1}"/>
              </a:ext>
            </a:extLst>
          </p:cNvPr>
          <p:cNvSpPr txBox="1">
            <a:spLocks noChangeArrowheads="1"/>
          </p:cNvSpPr>
          <p:nvPr/>
        </p:nvSpPr>
        <p:spPr bwMode="auto">
          <a:xfrm>
            <a:off x="381000" y="1295400"/>
            <a:ext cx="7772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Create an interface for creating the different ingredients of Pizza.</a:t>
            </a:r>
          </a:p>
        </p:txBody>
      </p:sp>
      <p:sp>
        <p:nvSpPr>
          <p:cNvPr id="69638" name="TextBox 6">
            <a:extLst>
              <a:ext uri="{FF2B5EF4-FFF2-40B4-BE49-F238E27FC236}">
                <a16:creationId xmlns:a16="http://schemas.microsoft.com/office/drawing/2014/main" id="{9D2B61CA-205F-BB28-1AFB-78EBB097492E}"/>
              </a:ext>
            </a:extLst>
          </p:cNvPr>
          <p:cNvSpPr txBox="1">
            <a:spLocks noChangeArrowheads="1"/>
          </p:cNvSpPr>
          <p:nvPr/>
        </p:nvSpPr>
        <p:spPr bwMode="auto">
          <a:xfrm>
            <a:off x="6400800" y="3124200"/>
            <a:ext cx="2286000" cy="1477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Note that each ingredient of Pizza has a corresponding method defined in the interface.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638FB88D-4F45-2110-DA63-36F82873F49C}"/>
              </a:ext>
            </a:extLst>
          </p:cNvPr>
          <p:cNvSpPr>
            <a:spLocks noGrp="1"/>
          </p:cNvSpPr>
          <p:nvPr>
            <p:ph type="title"/>
          </p:nvPr>
        </p:nvSpPr>
        <p:spPr/>
        <p:txBody>
          <a:bodyPr/>
          <a:lstStyle/>
          <a:p>
            <a:r>
              <a:rPr lang="en-US" altLang="en-US"/>
              <a:t>NYPizzaIngredientFactory (pg 147)</a:t>
            </a:r>
          </a:p>
        </p:txBody>
      </p:sp>
      <p:sp>
        <p:nvSpPr>
          <p:cNvPr id="70658" name="Content Placeholder 2">
            <a:extLst>
              <a:ext uri="{FF2B5EF4-FFF2-40B4-BE49-F238E27FC236}">
                <a16:creationId xmlns:a16="http://schemas.microsoft.com/office/drawing/2014/main" id="{BA46FE11-1BE9-04E6-25A9-A4ADF70534B3}"/>
              </a:ext>
            </a:extLst>
          </p:cNvPr>
          <p:cNvSpPr>
            <a:spLocks noGrp="1"/>
          </p:cNvSpPr>
          <p:nvPr>
            <p:ph idx="1"/>
          </p:nvPr>
        </p:nvSpPr>
        <p:spPr/>
        <p:txBody>
          <a:bodyPr/>
          <a:lstStyle/>
          <a:p>
            <a:pPr>
              <a:buFont typeface="Wingdings" pitchFamily="2" charset="2"/>
              <a:buNone/>
            </a:pPr>
            <a:r>
              <a:rPr lang="en-US" altLang="en-US" sz="1400">
                <a:latin typeface="Courier New" panose="02070309020205020404" pitchFamily="49" charset="0"/>
                <a:cs typeface="Courier New" panose="02070309020205020404" pitchFamily="49" charset="0"/>
              </a:rPr>
              <a:t>public class NYPizzaIngredientFactory implements PizzaIngredientFactory {</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public Dough createDough() {</a:t>
            </a:r>
          </a:p>
          <a:p>
            <a:pPr>
              <a:buFont typeface="Wingdings" pitchFamily="2" charset="2"/>
              <a:buNone/>
            </a:pPr>
            <a:r>
              <a:rPr lang="en-US" altLang="en-US" sz="1400">
                <a:latin typeface="Courier New" panose="02070309020205020404" pitchFamily="49" charset="0"/>
                <a:cs typeface="Courier New" panose="02070309020205020404" pitchFamily="49" charset="0"/>
              </a:rPr>
              <a:t>		return new ThinCrustDough();</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public Sauce createSauce() {</a:t>
            </a:r>
          </a:p>
          <a:p>
            <a:pPr>
              <a:buFont typeface="Wingdings" pitchFamily="2" charset="2"/>
              <a:buNone/>
            </a:pPr>
            <a:r>
              <a:rPr lang="en-US" altLang="en-US" sz="1400">
                <a:latin typeface="Courier New" panose="02070309020205020404" pitchFamily="49" charset="0"/>
                <a:cs typeface="Courier New" panose="02070309020205020404" pitchFamily="49" charset="0"/>
              </a:rPr>
              <a:t>		return new MarinaraSauce();</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public Cheese createCheese() {</a:t>
            </a:r>
          </a:p>
          <a:p>
            <a:pPr>
              <a:buFont typeface="Wingdings" pitchFamily="2" charset="2"/>
              <a:buNone/>
            </a:pPr>
            <a:r>
              <a:rPr lang="en-US" altLang="en-US" sz="1400">
                <a:latin typeface="Courier New" panose="02070309020205020404" pitchFamily="49" charset="0"/>
                <a:cs typeface="Courier New" panose="02070309020205020404" pitchFamily="49" charset="0"/>
              </a:rPr>
              <a:t>		return new ReggianoCheese();</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 . . 	</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a:latin typeface="Courier New" panose="02070309020205020404" pitchFamily="49" charset="0"/>
                <a:cs typeface="Courier New" panose="02070309020205020404" pitchFamily="49" charset="0"/>
              </a:rPr>
              <a:t>}</a:t>
            </a:r>
          </a:p>
        </p:txBody>
      </p:sp>
      <p:sp>
        <p:nvSpPr>
          <p:cNvPr id="70659" name="Slide Number Placeholder 3">
            <a:extLst>
              <a:ext uri="{FF2B5EF4-FFF2-40B4-BE49-F238E27FC236}">
                <a16:creationId xmlns:a16="http://schemas.microsoft.com/office/drawing/2014/main" id="{7F21E927-530A-2F0D-F938-B9F2A6D10DE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1B19FD7-9411-2D41-95C4-AA142F53A286}" type="slidenum">
              <a:rPr lang="en-US" altLang="en-US" sz="1000">
                <a:latin typeface="Arial Black" panose="020B0604020202020204" pitchFamily="34" charset="0"/>
              </a:rPr>
              <a:pPr>
                <a:spcBef>
                  <a:spcPct val="0"/>
                </a:spcBef>
                <a:buClrTx/>
                <a:buSzTx/>
                <a:buFontTx/>
                <a:buNone/>
              </a:pPr>
              <a:t>42</a:t>
            </a:fld>
            <a:endParaRPr lang="en-US" altLang="en-US" sz="1000">
              <a:latin typeface="Arial Black" panose="020B0604020202020204" pitchFamily="34" charset="0"/>
            </a:endParaRPr>
          </a:p>
        </p:txBody>
      </p:sp>
      <p:sp>
        <p:nvSpPr>
          <p:cNvPr id="70660" name="Date Placeholder 4">
            <a:extLst>
              <a:ext uri="{FF2B5EF4-FFF2-40B4-BE49-F238E27FC236}">
                <a16:creationId xmlns:a16="http://schemas.microsoft.com/office/drawing/2014/main" id="{7509591E-5578-9920-F737-986B210E928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A7DF542-6B83-B64D-BCA5-0B134BAD2E1B}" type="datetime1">
              <a:rPr lang="en-US" altLang="en-US" sz="1200" smtClean="0"/>
              <a:pPr>
                <a:spcBef>
                  <a:spcPct val="0"/>
                </a:spcBef>
                <a:buClrTx/>
                <a:buSzTx/>
                <a:buFontTx/>
                <a:buNone/>
              </a:pPr>
              <a:t>3/13/24</a:t>
            </a:fld>
            <a:endParaRPr lang="en-US" altLang="en-US" sz="1200"/>
          </a:p>
        </p:txBody>
      </p:sp>
      <p:sp>
        <p:nvSpPr>
          <p:cNvPr id="70661" name="TextBox 7">
            <a:extLst>
              <a:ext uri="{FF2B5EF4-FFF2-40B4-BE49-F238E27FC236}">
                <a16:creationId xmlns:a16="http://schemas.microsoft.com/office/drawing/2014/main" id="{B82373C5-AC24-4B6F-F815-98051BE26714}"/>
              </a:ext>
            </a:extLst>
          </p:cNvPr>
          <p:cNvSpPr txBox="1">
            <a:spLocks noChangeArrowheads="1"/>
          </p:cNvSpPr>
          <p:nvPr/>
        </p:nvSpPr>
        <p:spPr bwMode="auto">
          <a:xfrm>
            <a:off x="5943600" y="2590800"/>
            <a:ext cx="2362200"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Here we see the set of ingredients that are specific to the NY region.</a:t>
            </a:r>
          </a:p>
        </p:txBody>
      </p:sp>
      <p:sp>
        <p:nvSpPr>
          <p:cNvPr id="70662" name="TextBox 9">
            <a:extLst>
              <a:ext uri="{FF2B5EF4-FFF2-40B4-BE49-F238E27FC236}">
                <a16:creationId xmlns:a16="http://schemas.microsoft.com/office/drawing/2014/main" id="{00F5341B-09D8-4D8C-6F02-8B579A21A0DB}"/>
              </a:ext>
            </a:extLst>
          </p:cNvPr>
          <p:cNvSpPr txBox="1">
            <a:spLocks noChangeArrowheads="1"/>
          </p:cNvSpPr>
          <p:nvPr/>
        </p:nvSpPr>
        <p:spPr bwMode="auto">
          <a:xfrm>
            <a:off x="5943600" y="4572000"/>
            <a:ext cx="2514600" cy="1477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Note  that each time a createXXX() method is called, a new instance is returned.  This will be important later 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2C7ABC1B-0A84-5DFB-1784-397DA8C9572E}"/>
              </a:ext>
            </a:extLst>
          </p:cNvPr>
          <p:cNvSpPr>
            <a:spLocks noGrp="1"/>
          </p:cNvSpPr>
          <p:nvPr>
            <p:ph type="title"/>
          </p:nvPr>
        </p:nvSpPr>
        <p:spPr/>
        <p:txBody>
          <a:bodyPr/>
          <a:lstStyle/>
          <a:p>
            <a:r>
              <a:rPr lang="en-US" altLang="en-US"/>
              <a:t>CheesePizza (pg 150)</a:t>
            </a:r>
          </a:p>
        </p:txBody>
      </p:sp>
      <p:sp>
        <p:nvSpPr>
          <p:cNvPr id="71682" name="Content Placeholder 2">
            <a:extLst>
              <a:ext uri="{FF2B5EF4-FFF2-40B4-BE49-F238E27FC236}">
                <a16:creationId xmlns:a16="http://schemas.microsoft.com/office/drawing/2014/main" id="{8DC400AE-BE5F-0CFD-E6BF-DD2711F03116}"/>
              </a:ext>
            </a:extLst>
          </p:cNvPr>
          <p:cNvSpPr>
            <a:spLocks noGrp="1"/>
          </p:cNvSpPr>
          <p:nvPr>
            <p:ph idx="1"/>
          </p:nvPr>
        </p:nvSpPr>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class CheesePizza extends Pizza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PizzaIngredientFactory ingredientFactory;</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CheesePizza(</a:t>
            </a:r>
            <a:r>
              <a:rPr lang="en-US" altLang="en-US" sz="1600" b="1">
                <a:solidFill>
                  <a:srgbClr val="FF0000"/>
                </a:solidFill>
                <a:latin typeface="Courier New" panose="02070309020205020404" pitchFamily="49" charset="0"/>
                <a:cs typeface="Courier New" panose="02070309020205020404" pitchFamily="49" charset="0"/>
              </a:rPr>
              <a:t>PizzaIngredientFactory ingredientFactory</a:t>
            </a: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this.ingredientFactory = ingredientFactory;</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void prepare() {</a:t>
            </a:r>
          </a:p>
          <a:p>
            <a:pPr>
              <a:buFont typeface="Wingdings" pitchFamily="2" charset="2"/>
              <a:buNone/>
            </a:pPr>
            <a:r>
              <a:rPr lang="en-US" altLang="en-US" sz="1600">
                <a:latin typeface="Courier New" panose="02070309020205020404" pitchFamily="49" charset="0"/>
                <a:cs typeface="Courier New" panose="02070309020205020404" pitchFamily="49" charset="0"/>
              </a:rPr>
              <a:t>		dough = </a:t>
            </a:r>
            <a:r>
              <a:rPr lang="en-US" altLang="en-US" sz="1600" b="1">
                <a:solidFill>
                  <a:srgbClr val="FF0000"/>
                </a:solidFill>
                <a:latin typeface="Courier New" panose="02070309020205020404" pitchFamily="49" charset="0"/>
                <a:cs typeface="Courier New" panose="02070309020205020404" pitchFamily="49" charset="0"/>
              </a:rPr>
              <a:t>ingredientFactory.createDough();</a:t>
            </a:r>
          </a:p>
          <a:p>
            <a:pPr>
              <a:buFont typeface="Wingdings" pitchFamily="2" charset="2"/>
              <a:buNone/>
            </a:pPr>
            <a:r>
              <a:rPr lang="en-US" altLang="en-US" sz="1600">
                <a:latin typeface="Courier New" panose="02070309020205020404" pitchFamily="49" charset="0"/>
                <a:cs typeface="Courier New" panose="02070309020205020404" pitchFamily="49" charset="0"/>
              </a:rPr>
              <a:t>		sauce = </a:t>
            </a:r>
            <a:r>
              <a:rPr lang="en-US" altLang="en-US" sz="1600" b="1">
                <a:solidFill>
                  <a:srgbClr val="FF0000"/>
                </a:solidFill>
                <a:latin typeface="Courier New" panose="02070309020205020404" pitchFamily="49" charset="0"/>
                <a:cs typeface="Courier New" panose="02070309020205020404" pitchFamily="49" charset="0"/>
              </a:rPr>
              <a:t>ingredientFactory.createSauce();</a:t>
            </a:r>
          </a:p>
          <a:p>
            <a:pPr>
              <a:buFont typeface="Wingdings" pitchFamily="2" charset="2"/>
              <a:buNone/>
            </a:pPr>
            <a:r>
              <a:rPr lang="en-US" altLang="en-US" sz="1600">
                <a:latin typeface="Courier New" panose="02070309020205020404" pitchFamily="49" charset="0"/>
                <a:cs typeface="Courier New" panose="02070309020205020404" pitchFamily="49" charset="0"/>
              </a:rPr>
              <a:t>		cheese = </a:t>
            </a:r>
            <a:r>
              <a:rPr lang="en-US" altLang="en-US" sz="1600" b="1">
                <a:solidFill>
                  <a:srgbClr val="FF0000"/>
                </a:solidFill>
                <a:latin typeface="Courier New" panose="02070309020205020404" pitchFamily="49" charset="0"/>
                <a:cs typeface="Courier New" panose="02070309020205020404" pitchFamily="49" charset="0"/>
              </a:rPr>
              <a:t>ingredientFactory.createCheese();</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p:txBody>
      </p:sp>
      <p:sp>
        <p:nvSpPr>
          <p:cNvPr id="71683" name="Slide Number Placeholder 3">
            <a:extLst>
              <a:ext uri="{FF2B5EF4-FFF2-40B4-BE49-F238E27FC236}">
                <a16:creationId xmlns:a16="http://schemas.microsoft.com/office/drawing/2014/main" id="{58B0D00F-A0EC-7007-D64F-0295617B65E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D8B2BAC-41F5-AA49-BB94-071FA0979E71}" type="slidenum">
              <a:rPr lang="en-US" altLang="en-US" sz="1000">
                <a:latin typeface="Arial Black" panose="020B0604020202020204" pitchFamily="34" charset="0"/>
              </a:rPr>
              <a:pPr>
                <a:spcBef>
                  <a:spcPct val="0"/>
                </a:spcBef>
                <a:buClrTx/>
                <a:buSzTx/>
                <a:buFontTx/>
                <a:buNone/>
              </a:pPr>
              <a:t>43</a:t>
            </a:fld>
            <a:endParaRPr lang="en-US" altLang="en-US" sz="1000">
              <a:latin typeface="Arial Black" panose="020B0604020202020204" pitchFamily="34" charset="0"/>
            </a:endParaRPr>
          </a:p>
        </p:txBody>
      </p:sp>
      <p:sp>
        <p:nvSpPr>
          <p:cNvPr id="71684" name="Date Placeholder 4">
            <a:extLst>
              <a:ext uri="{FF2B5EF4-FFF2-40B4-BE49-F238E27FC236}">
                <a16:creationId xmlns:a16="http://schemas.microsoft.com/office/drawing/2014/main" id="{73BB55B2-BFF5-EBB5-108D-6C36F6BE3AF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9CAA31D-0493-714E-946C-250E1FF0EE59}" type="datetime1">
              <a:rPr lang="en-US" altLang="en-US" sz="1200" smtClean="0"/>
              <a:pPr>
                <a:spcBef>
                  <a:spcPct val="0"/>
                </a:spcBef>
                <a:buClrTx/>
                <a:buSzTx/>
                <a:buFontTx/>
                <a:buNone/>
              </a:pPr>
              <a:t>3/13/24</a:t>
            </a:fld>
            <a:endParaRPr lang="en-US" altLang="en-US" sz="1200"/>
          </a:p>
        </p:txBody>
      </p:sp>
      <p:cxnSp>
        <p:nvCxnSpPr>
          <p:cNvPr id="71685" name="Straight Arrow Connector 6">
            <a:extLst>
              <a:ext uri="{FF2B5EF4-FFF2-40B4-BE49-F238E27FC236}">
                <a16:creationId xmlns:a16="http://schemas.microsoft.com/office/drawing/2014/main" id="{64A77513-7108-AB1D-3508-0DD79A4F0A9B}"/>
              </a:ext>
            </a:extLst>
          </p:cNvPr>
          <p:cNvCxnSpPr>
            <a:cxnSpLocks noChangeShapeType="1"/>
          </p:cNvCxnSpPr>
          <p:nvPr/>
        </p:nvCxnSpPr>
        <p:spPr bwMode="auto">
          <a:xfrm rot="5400000">
            <a:off x="6705600" y="1981200"/>
            <a:ext cx="533400" cy="5334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71686" name="TextBox 7">
            <a:extLst>
              <a:ext uri="{FF2B5EF4-FFF2-40B4-BE49-F238E27FC236}">
                <a16:creationId xmlns:a16="http://schemas.microsoft.com/office/drawing/2014/main" id="{92FE6103-43C8-DE97-9626-EEFF84F287DB}"/>
              </a:ext>
            </a:extLst>
          </p:cNvPr>
          <p:cNvSpPr txBox="1">
            <a:spLocks noChangeArrowheads="1"/>
          </p:cNvSpPr>
          <p:nvPr/>
        </p:nvSpPr>
        <p:spPr bwMode="auto">
          <a:xfrm>
            <a:off x="6248400" y="1057275"/>
            <a:ext cx="2590800" cy="923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Instead of many ingredient parameters, we just pass one.</a:t>
            </a:r>
          </a:p>
        </p:txBody>
      </p:sp>
      <p:sp>
        <p:nvSpPr>
          <p:cNvPr id="71687" name="TextBox 8">
            <a:extLst>
              <a:ext uri="{FF2B5EF4-FFF2-40B4-BE49-F238E27FC236}">
                <a16:creationId xmlns:a16="http://schemas.microsoft.com/office/drawing/2014/main" id="{487FF326-ECDA-424E-402A-4A62568F0BBA}"/>
              </a:ext>
            </a:extLst>
          </p:cNvPr>
          <p:cNvSpPr txBox="1">
            <a:spLocks noChangeArrowheads="1"/>
          </p:cNvSpPr>
          <p:nvPr/>
        </p:nvSpPr>
        <p:spPr bwMode="auto">
          <a:xfrm>
            <a:off x="457200" y="5943600"/>
            <a:ext cx="464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Does this remind you of another pattern??</a:t>
            </a:r>
          </a:p>
        </p:txBody>
      </p:sp>
      <p:cxnSp>
        <p:nvCxnSpPr>
          <p:cNvPr id="71688" name="Straight Arrow Connector 12">
            <a:extLst>
              <a:ext uri="{FF2B5EF4-FFF2-40B4-BE49-F238E27FC236}">
                <a16:creationId xmlns:a16="http://schemas.microsoft.com/office/drawing/2014/main" id="{04BF9CC5-3237-E2E0-B676-B3549E9BA745}"/>
              </a:ext>
            </a:extLst>
          </p:cNvPr>
          <p:cNvCxnSpPr>
            <a:cxnSpLocks noChangeShapeType="1"/>
          </p:cNvCxnSpPr>
          <p:nvPr/>
        </p:nvCxnSpPr>
        <p:spPr bwMode="auto">
          <a:xfrm rot="10800000">
            <a:off x="6553200" y="4419600"/>
            <a:ext cx="3048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71689" name="TextBox 13">
            <a:extLst>
              <a:ext uri="{FF2B5EF4-FFF2-40B4-BE49-F238E27FC236}">
                <a16:creationId xmlns:a16="http://schemas.microsoft.com/office/drawing/2014/main" id="{D3234AD4-AF8D-BBE0-8574-D984305CA50F}"/>
              </a:ext>
            </a:extLst>
          </p:cNvPr>
          <p:cNvSpPr txBox="1">
            <a:spLocks noChangeArrowheads="1"/>
          </p:cNvSpPr>
          <p:nvPr/>
        </p:nvSpPr>
        <p:spPr bwMode="auto">
          <a:xfrm>
            <a:off x="6934200" y="4191000"/>
            <a:ext cx="1219200"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Creation delegated</a:t>
            </a:r>
          </a:p>
        </p:txBody>
      </p:sp>
      <p:sp>
        <p:nvSpPr>
          <p:cNvPr id="71690" name="TextBox 10">
            <a:extLst>
              <a:ext uri="{FF2B5EF4-FFF2-40B4-BE49-F238E27FC236}">
                <a16:creationId xmlns:a16="http://schemas.microsoft.com/office/drawing/2014/main" id="{6193482D-EAFC-BCF4-55ED-E2F108763059}"/>
              </a:ext>
            </a:extLst>
          </p:cNvPr>
          <p:cNvSpPr txBox="1">
            <a:spLocks noChangeArrowheads="1"/>
          </p:cNvSpPr>
          <p:nvPr/>
        </p:nvSpPr>
        <p:spPr bwMode="auto">
          <a:xfrm>
            <a:off x="6096000" y="5705475"/>
            <a:ext cx="2133600" cy="923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Note: Not all ingredients have to be used!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15635EEE-E240-7ED4-55F2-B77889648231}"/>
              </a:ext>
            </a:extLst>
          </p:cNvPr>
          <p:cNvSpPr>
            <a:spLocks noGrp="1"/>
          </p:cNvSpPr>
          <p:nvPr>
            <p:ph type="title"/>
          </p:nvPr>
        </p:nvSpPr>
        <p:spPr/>
        <p:txBody>
          <a:bodyPr/>
          <a:lstStyle/>
          <a:p>
            <a:r>
              <a:rPr lang="en-US" altLang="en-US"/>
              <a:t>NYPizzaStore (pg 152)</a:t>
            </a:r>
          </a:p>
        </p:txBody>
      </p:sp>
      <p:sp>
        <p:nvSpPr>
          <p:cNvPr id="72706" name="Content Placeholder 2">
            <a:extLst>
              <a:ext uri="{FF2B5EF4-FFF2-40B4-BE49-F238E27FC236}">
                <a16:creationId xmlns:a16="http://schemas.microsoft.com/office/drawing/2014/main" id="{849D36E6-54AB-9B83-3680-94B4080F03D6}"/>
              </a:ext>
            </a:extLst>
          </p:cNvPr>
          <p:cNvSpPr>
            <a:spLocks noGrp="1"/>
          </p:cNvSpPr>
          <p:nvPr>
            <p:ph idx="1"/>
          </p:nvPr>
        </p:nvSpPr>
        <p:spPr>
          <a:xfrm>
            <a:off x="457200" y="1219200"/>
            <a:ext cx="8229600" cy="51054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class NYPizzaStore extends PizzaStore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protected Pizza createPizza(String item) {</a:t>
            </a:r>
          </a:p>
          <a:p>
            <a:pPr>
              <a:buFont typeface="Wingdings" pitchFamily="2" charset="2"/>
              <a:buNone/>
            </a:pPr>
            <a:r>
              <a:rPr lang="en-US" altLang="en-US" sz="1600">
                <a:latin typeface="Courier New" panose="02070309020205020404" pitchFamily="49" charset="0"/>
                <a:cs typeface="Courier New" panose="02070309020205020404" pitchFamily="49" charset="0"/>
              </a:rPr>
              <a:t>		Pizza pizza = null;</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solidFill>
                  <a:srgbClr val="FF0000"/>
                </a:solidFill>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	PizzaIngredientFactory ingredientFactory = </a:t>
            </a: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new NYPizzaIngredientFactory();</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if (item.equals("cheese")) {</a:t>
            </a:r>
          </a:p>
          <a:p>
            <a:pPr>
              <a:buFont typeface="Wingdings" pitchFamily="2" charset="2"/>
              <a:buNone/>
            </a:pPr>
            <a:r>
              <a:rPr lang="en-US" altLang="en-US" sz="1600">
                <a:solidFill>
                  <a:srgbClr val="FF0000"/>
                </a:solidFill>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pizza = new CheesePizza(ingredientFactory);</a:t>
            </a:r>
          </a:p>
          <a:p>
            <a:pPr>
              <a:buFont typeface="Wingdings" pitchFamily="2" charset="2"/>
              <a:buNone/>
            </a:pPr>
            <a:r>
              <a:rPr lang="en-US" altLang="en-US" sz="1600">
                <a:latin typeface="Courier New" panose="02070309020205020404" pitchFamily="49" charset="0"/>
                <a:cs typeface="Courier New" panose="02070309020205020404" pitchFamily="49" charset="0"/>
              </a:rPr>
              <a:t>		} else if (item.equals("veggie")) {</a:t>
            </a:r>
          </a:p>
          <a:p>
            <a:pPr>
              <a:buFont typeface="Wingdings" pitchFamily="2" charset="2"/>
              <a:buNone/>
            </a:pPr>
            <a:r>
              <a:rPr lang="en-US" altLang="en-US" sz="1600">
                <a:solidFill>
                  <a:srgbClr val="FF0000"/>
                </a:solidFill>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pizza = new VeggiePizza(ingredientFactory);</a:t>
            </a:r>
            <a:r>
              <a:rPr lang="en-US" altLang="en-US" sz="1600" b="1">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 else if (item.equals("clam")) {</a:t>
            </a:r>
          </a:p>
          <a:p>
            <a:pPr>
              <a:buFont typeface="Wingdings" pitchFamily="2" charset="2"/>
              <a:buNone/>
            </a:pPr>
            <a:r>
              <a:rPr lang="en-US" altLang="en-US" sz="1600">
                <a:solidFill>
                  <a:srgbClr val="FF0000"/>
                </a:solidFill>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	pizza = new ClamPizza(ingredientFactory);</a:t>
            </a:r>
            <a:r>
              <a:rPr lang="en-US" altLang="en-US" sz="1600" b="1">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 else if (item.equals("pepperoni")) {</a:t>
            </a:r>
          </a:p>
          <a:p>
            <a:pPr>
              <a:buFont typeface="Wingdings" pitchFamily="2" charset="2"/>
              <a:buNone/>
            </a:pPr>
            <a:r>
              <a:rPr lang="en-US" altLang="en-US" sz="1600">
                <a:solidFill>
                  <a:srgbClr val="FF0000"/>
                </a:solidFill>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	pizza = new PepperoniPizza(ingredientFactory);</a:t>
            </a:r>
            <a:r>
              <a:rPr lang="en-US" altLang="en-US" sz="1600" b="1">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 </a:t>
            </a:r>
          </a:p>
          <a:p>
            <a:pPr>
              <a:buFont typeface="Wingdings" pitchFamily="2" charset="2"/>
              <a:buNone/>
            </a:pPr>
            <a:r>
              <a:rPr lang="en-US" altLang="en-US" sz="1600">
                <a:latin typeface="Courier New" panose="02070309020205020404" pitchFamily="49" charset="0"/>
                <a:cs typeface="Courier New" panose="02070309020205020404" pitchFamily="49" charset="0"/>
              </a:rPr>
              <a:t>		return pizza;</a:t>
            </a:r>
          </a:p>
        </p:txBody>
      </p:sp>
      <p:sp>
        <p:nvSpPr>
          <p:cNvPr id="72707" name="Slide Number Placeholder 3">
            <a:extLst>
              <a:ext uri="{FF2B5EF4-FFF2-40B4-BE49-F238E27FC236}">
                <a16:creationId xmlns:a16="http://schemas.microsoft.com/office/drawing/2014/main" id="{C3E5D0F5-E75D-396B-B444-9DF56DA91A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088B3FF-B1F4-2749-8583-523FDF2ACE39}" type="slidenum">
              <a:rPr lang="en-US" altLang="en-US" sz="1000">
                <a:latin typeface="Arial Black" panose="020B0604020202020204" pitchFamily="34" charset="0"/>
              </a:rPr>
              <a:pPr>
                <a:spcBef>
                  <a:spcPct val="0"/>
                </a:spcBef>
                <a:buClrTx/>
                <a:buSzTx/>
                <a:buFontTx/>
                <a:buNone/>
              </a:pPr>
              <a:t>44</a:t>
            </a:fld>
            <a:endParaRPr lang="en-US" altLang="en-US" sz="1000">
              <a:latin typeface="Arial Black" panose="020B0604020202020204" pitchFamily="34" charset="0"/>
            </a:endParaRPr>
          </a:p>
        </p:txBody>
      </p:sp>
      <p:sp>
        <p:nvSpPr>
          <p:cNvPr id="72708" name="Date Placeholder 4">
            <a:extLst>
              <a:ext uri="{FF2B5EF4-FFF2-40B4-BE49-F238E27FC236}">
                <a16:creationId xmlns:a16="http://schemas.microsoft.com/office/drawing/2014/main" id="{5935E8AE-36A4-7CA4-1FBA-07822C9554F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01C8A66-F756-214E-999A-B860052CCEA4}" type="datetime1">
              <a:rPr lang="en-US" altLang="en-US" sz="1200" smtClean="0"/>
              <a:pPr>
                <a:spcBef>
                  <a:spcPct val="0"/>
                </a:spcBef>
                <a:buClrTx/>
                <a:buSzTx/>
                <a:buFontTx/>
                <a:buNone/>
              </a:pPr>
              <a:t>3/13/24</a:t>
            </a:fld>
            <a:endParaRPr lang="en-US" altLang="en-US" sz="1200"/>
          </a:p>
        </p:txBody>
      </p:sp>
      <p:sp>
        <p:nvSpPr>
          <p:cNvPr id="72709" name="TextBox 5">
            <a:extLst>
              <a:ext uri="{FF2B5EF4-FFF2-40B4-BE49-F238E27FC236}">
                <a16:creationId xmlns:a16="http://schemas.microsoft.com/office/drawing/2014/main" id="{EE6DB6B6-FD4B-C5FC-4364-C5066F1D50E9}"/>
              </a:ext>
            </a:extLst>
          </p:cNvPr>
          <p:cNvSpPr txBox="1">
            <a:spLocks noChangeArrowheads="1"/>
          </p:cNvSpPr>
          <p:nvPr/>
        </p:nvSpPr>
        <p:spPr bwMode="auto">
          <a:xfrm>
            <a:off x="6858000" y="1676400"/>
            <a:ext cx="1981200"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The specific ingredient factory is defined once for the NY region.</a:t>
            </a:r>
          </a:p>
        </p:txBody>
      </p:sp>
      <p:cxnSp>
        <p:nvCxnSpPr>
          <p:cNvPr id="72710" name="Straight Arrow Connector 7">
            <a:extLst>
              <a:ext uri="{FF2B5EF4-FFF2-40B4-BE49-F238E27FC236}">
                <a16:creationId xmlns:a16="http://schemas.microsoft.com/office/drawing/2014/main" id="{DBB9A36C-3BFC-6320-CFB8-8026CDB24B8C}"/>
              </a:ext>
            </a:extLst>
          </p:cNvPr>
          <p:cNvCxnSpPr>
            <a:cxnSpLocks noChangeShapeType="1"/>
          </p:cNvCxnSpPr>
          <p:nvPr/>
        </p:nvCxnSpPr>
        <p:spPr bwMode="auto">
          <a:xfrm rot="10800000" flipV="1">
            <a:off x="6248400" y="2286000"/>
            <a:ext cx="609600" cy="3048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DD5F3E35-9042-87AE-870D-C8C91FF74AF4}"/>
              </a:ext>
            </a:extLst>
          </p:cNvPr>
          <p:cNvSpPr>
            <a:spLocks noGrp="1"/>
          </p:cNvSpPr>
          <p:nvPr>
            <p:ph type="title"/>
          </p:nvPr>
        </p:nvSpPr>
        <p:spPr/>
        <p:txBody>
          <a:bodyPr/>
          <a:lstStyle/>
          <a:p>
            <a:r>
              <a:rPr lang="en-US" altLang="en-US"/>
              <a:t>Abstract Factory Defined</a:t>
            </a:r>
          </a:p>
        </p:txBody>
      </p:sp>
      <p:sp>
        <p:nvSpPr>
          <p:cNvPr id="73730" name="Content Placeholder 2">
            <a:extLst>
              <a:ext uri="{FF2B5EF4-FFF2-40B4-BE49-F238E27FC236}">
                <a16:creationId xmlns:a16="http://schemas.microsoft.com/office/drawing/2014/main" id="{1E9A451D-4F57-F92F-617D-94F22610387B}"/>
              </a:ext>
            </a:extLst>
          </p:cNvPr>
          <p:cNvSpPr>
            <a:spLocks noGrp="1"/>
          </p:cNvSpPr>
          <p:nvPr>
            <p:ph idx="1"/>
          </p:nvPr>
        </p:nvSpPr>
        <p:spPr>
          <a:xfrm>
            <a:off x="457200" y="1371600"/>
            <a:ext cx="8229600" cy="1219200"/>
          </a:xfrm>
        </p:spPr>
        <p:txBody>
          <a:bodyPr/>
          <a:lstStyle/>
          <a:p>
            <a:pPr>
              <a:buFont typeface="Wingdings" pitchFamily="2" charset="2"/>
              <a:buNone/>
            </a:pPr>
            <a:r>
              <a:rPr lang="en-US" altLang="en-US"/>
              <a:t>GoF Intent: “Provides an interface for creating families of related or dependent objects without specifying their concrete classes.”</a:t>
            </a:r>
          </a:p>
          <a:p>
            <a:pPr>
              <a:buFont typeface="Wingdings" pitchFamily="2" charset="2"/>
              <a:buNone/>
            </a:pPr>
            <a:endParaRPr lang="en-US" altLang="en-US"/>
          </a:p>
          <a:p>
            <a:pPr>
              <a:buFont typeface="Wingdings" pitchFamily="2" charset="2"/>
              <a:buNone/>
            </a:pPr>
            <a:endParaRPr lang="en-US" altLang="en-US"/>
          </a:p>
        </p:txBody>
      </p:sp>
      <p:sp>
        <p:nvSpPr>
          <p:cNvPr id="73731" name="Slide Number Placeholder 3">
            <a:extLst>
              <a:ext uri="{FF2B5EF4-FFF2-40B4-BE49-F238E27FC236}">
                <a16:creationId xmlns:a16="http://schemas.microsoft.com/office/drawing/2014/main" id="{E25A7D1C-43CB-509C-5DF4-F5C7561A981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C6BB027-D3E3-B24A-A39C-A7382AAFFDDC}" type="slidenum">
              <a:rPr lang="en-US" altLang="en-US" sz="1000">
                <a:latin typeface="Arial Black" panose="020B0604020202020204" pitchFamily="34" charset="0"/>
              </a:rPr>
              <a:pPr>
                <a:spcBef>
                  <a:spcPct val="0"/>
                </a:spcBef>
                <a:buClrTx/>
                <a:buSzTx/>
                <a:buFontTx/>
                <a:buNone/>
              </a:pPr>
              <a:t>45</a:t>
            </a:fld>
            <a:endParaRPr lang="en-US" altLang="en-US" sz="1000">
              <a:latin typeface="Arial Black" panose="020B0604020202020204" pitchFamily="34" charset="0"/>
            </a:endParaRPr>
          </a:p>
        </p:txBody>
      </p:sp>
      <p:sp>
        <p:nvSpPr>
          <p:cNvPr id="73732" name="Date Placeholder 4">
            <a:extLst>
              <a:ext uri="{FF2B5EF4-FFF2-40B4-BE49-F238E27FC236}">
                <a16:creationId xmlns:a16="http://schemas.microsoft.com/office/drawing/2014/main" id="{E2A43A83-6DAD-CF28-A3A5-445C14C6986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4D72A8C-2286-194B-B421-59E820270C81}"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01ACAD89-CF36-5FB2-F713-B4792E1ED0B8}"/>
              </a:ext>
            </a:extLst>
          </p:cNvPr>
          <p:cNvSpPr>
            <a:spLocks noGrp="1"/>
          </p:cNvSpPr>
          <p:nvPr>
            <p:ph type="title"/>
          </p:nvPr>
        </p:nvSpPr>
        <p:spPr/>
        <p:txBody>
          <a:bodyPr/>
          <a:lstStyle/>
          <a:p>
            <a:r>
              <a:rPr lang="en-US" altLang="en-US"/>
              <a:t>Factory Method vs. Abstract Factory</a:t>
            </a:r>
          </a:p>
        </p:txBody>
      </p:sp>
      <p:sp>
        <p:nvSpPr>
          <p:cNvPr id="74754" name="Content Placeholder 2">
            <a:extLst>
              <a:ext uri="{FF2B5EF4-FFF2-40B4-BE49-F238E27FC236}">
                <a16:creationId xmlns:a16="http://schemas.microsoft.com/office/drawing/2014/main" id="{B95488B8-CB63-444E-2AA3-C2BA228AC9E1}"/>
              </a:ext>
            </a:extLst>
          </p:cNvPr>
          <p:cNvSpPr>
            <a:spLocks noGrp="1"/>
          </p:cNvSpPr>
          <p:nvPr>
            <p:ph idx="1"/>
          </p:nvPr>
        </p:nvSpPr>
        <p:spPr>
          <a:xfrm>
            <a:off x="457200" y="1295400"/>
            <a:ext cx="8229600" cy="4495800"/>
          </a:xfrm>
        </p:spPr>
        <p:txBody>
          <a:bodyPr/>
          <a:lstStyle/>
          <a:p>
            <a:r>
              <a:rPr lang="en-US" altLang="en-US"/>
              <a:t>Factory Method</a:t>
            </a:r>
          </a:p>
          <a:p>
            <a:pPr lvl="1"/>
            <a:r>
              <a:rPr lang="en-US" altLang="en-US"/>
              <a:t>Uses inheritance  to create a Concrete Product</a:t>
            </a:r>
          </a:p>
          <a:p>
            <a:pPr lvl="1"/>
            <a:r>
              <a:rPr lang="en-US" altLang="en-US"/>
              <a:t>Sub classes decide which Concrete Product to use</a:t>
            </a:r>
          </a:p>
          <a:p>
            <a:pPr lvl="1"/>
            <a:endParaRPr lang="en-US" altLang="en-US"/>
          </a:p>
          <a:p>
            <a:r>
              <a:rPr lang="en-US" altLang="en-US"/>
              <a:t>Abstract Factory</a:t>
            </a:r>
          </a:p>
          <a:p>
            <a:pPr lvl="1"/>
            <a:r>
              <a:rPr lang="en-US" altLang="en-US"/>
              <a:t>Uses composition to create objects</a:t>
            </a:r>
          </a:p>
          <a:p>
            <a:pPr lvl="1"/>
            <a:r>
              <a:rPr lang="en-US" altLang="en-US"/>
              <a:t>The objects created were a part of a family of objects. For example, NY region had a specific set of ingredients.</a:t>
            </a:r>
          </a:p>
          <a:p>
            <a:pPr lvl="1"/>
            <a:r>
              <a:rPr lang="en-US" altLang="en-US"/>
              <a:t>An abstract factory actually contains one or more Factory Methods!</a:t>
            </a:r>
          </a:p>
          <a:p>
            <a:pPr lvl="1"/>
            <a:endParaRPr lang="en-US" altLang="en-US"/>
          </a:p>
        </p:txBody>
      </p:sp>
      <p:sp>
        <p:nvSpPr>
          <p:cNvPr id="74755" name="Slide Number Placeholder 3">
            <a:extLst>
              <a:ext uri="{FF2B5EF4-FFF2-40B4-BE49-F238E27FC236}">
                <a16:creationId xmlns:a16="http://schemas.microsoft.com/office/drawing/2014/main" id="{6EC8D393-7F8B-8CB5-7A4F-55F14153C6F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0BA8698-DC9F-C348-8FE9-9EEFB7711894}" type="slidenum">
              <a:rPr lang="en-US" altLang="en-US" sz="1000">
                <a:latin typeface="Arial Black" panose="020B0604020202020204" pitchFamily="34" charset="0"/>
              </a:rPr>
              <a:pPr>
                <a:spcBef>
                  <a:spcPct val="0"/>
                </a:spcBef>
                <a:buClrTx/>
                <a:buSzTx/>
                <a:buFontTx/>
                <a:buNone/>
              </a:pPr>
              <a:t>46</a:t>
            </a:fld>
            <a:endParaRPr lang="en-US" altLang="en-US" sz="1000">
              <a:latin typeface="Arial Black" panose="020B0604020202020204" pitchFamily="34" charset="0"/>
            </a:endParaRPr>
          </a:p>
        </p:txBody>
      </p:sp>
      <p:sp>
        <p:nvSpPr>
          <p:cNvPr id="74756" name="Date Placeholder 4">
            <a:extLst>
              <a:ext uri="{FF2B5EF4-FFF2-40B4-BE49-F238E27FC236}">
                <a16:creationId xmlns:a16="http://schemas.microsoft.com/office/drawing/2014/main" id="{850E3BE6-87EE-6464-DDDB-C10634077E3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38E1FEC-CC3A-E84F-88F2-B3AA08724B07}"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033A12AC-E856-CF3C-7D28-95FDE1A0CE7C}"/>
              </a:ext>
            </a:extLst>
          </p:cNvPr>
          <p:cNvSpPr>
            <a:spLocks noGrp="1"/>
          </p:cNvSpPr>
          <p:nvPr>
            <p:ph type="title"/>
          </p:nvPr>
        </p:nvSpPr>
        <p:spPr/>
        <p:txBody>
          <a:bodyPr/>
          <a:lstStyle/>
          <a:p>
            <a:r>
              <a:rPr lang="en-US" altLang="en-US"/>
              <a:t>Database Example</a:t>
            </a:r>
          </a:p>
        </p:txBody>
      </p:sp>
      <p:sp>
        <p:nvSpPr>
          <p:cNvPr id="75778" name="Content Placeholder 2">
            <a:extLst>
              <a:ext uri="{FF2B5EF4-FFF2-40B4-BE49-F238E27FC236}">
                <a16:creationId xmlns:a16="http://schemas.microsoft.com/office/drawing/2014/main" id="{6700686C-FA2E-3BC0-E712-5C4A1896B5BB}"/>
              </a:ext>
            </a:extLst>
          </p:cNvPr>
          <p:cNvSpPr>
            <a:spLocks noGrp="1"/>
          </p:cNvSpPr>
          <p:nvPr>
            <p:ph idx="1"/>
          </p:nvPr>
        </p:nvSpPr>
        <p:spPr>
          <a:xfrm>
            <a:off x="304800" y="1371600"/>
            <a:ext cx="8229600" cy="4876800"/>
          </a:xfrm>
        </p:spPr>
        <p:txBody>
          <a:bodyPr/>
          <a:lstStyle/>
          <a:p>
            <a:r>
              <a:rPr lang="en-US" altLang="en-US"/>
              <a:t>Imagine you wanted to created a database manager object as an enterprise component.  This object must not be tied to a specific database implementation.</a:t>
            </a:r>
          </a:p>
          <a:p>
            <a:endParaRPr lang="en-US" altLang="en-US"/>
          </a:p>
          <a:p>
            <a:r>
              <a:rPr lang="en-US" altLang="en-US"/>
              <a:t>Each specific database uses different objects:</a:t>
            </a:r>
          </a:p>
          <a:p>
            <a:pPr lvl="1"/>
            <a:r>
              <a:rPr lang="en-US" altLang="en-US"/>
              <a:t>Connection</a:t>
            </a:r>
          </a:p>
          <a:p>
            <a:pPr lvl="1"/>
            <a:r>
              <a:rPr lang="en-US" altLang="en-US"/>
              <a:t>Command</a:t>
            </a:r>
          </a:p>
          <a:p>
            <a:pPr lvl="1"/>
            <a:r>
              <a:rPr lang="en-US" altLang="en-US"/>
              <a:t>Adapter</a:t>
            </a:r>
          </a:p>
          <a:p>
            <a:pPr lvl="1"/>
            <a:r>
              <a:rPr lang="en-US" altLang="en-US"/>
              <a:t>Data Reader</a:t>
            </a:r>
          </a:p>
          <a:p>
            <a:pPr lvl="1"/>
            <a:endParaRPr lang="en-US" altLang="en-US"/>
          </a:p>
          <a:p>
            <a:r>
              <a:rPr lang="en-US" altLang="en-US"/>
              <a:t>Oracle, SQL Server, Informix, etc will have their own version of these Sub Products.</a:t>
            </a:r>
          </a:p>
          <a:p>
            <a:pPr lvl="1"/>
            <a:endParaRPr lang="en-US" altLang="en-US"/>
          </a:p>
        </p:txBody>
      </p:sp>
      <p:sp>
        <p:nvSpPr>
          <p:cNvPr id="75779" name="Slide Number Placeholder 3">
            <a:extLst>
              <a:ext uri="{FF2B5EF4-FFF2-40B4-BE49-F238E27FC236}">
                <a16:creationId xmlns:a16="http://schemas.microsoft.com/office/drawing/2014/main" id="{98FA6F31-27EA-0829-3C75-87321ED7694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9407035-4D4A-6749-9E07-7BF374AC77D2}" type="slidenum">
              <a:rPr lang="en-US" altLang="en-US" sz="1000">
                <a:latin typeface="Arial Black" panose="020B0604020202020204" pitchFamily="34" charset="0"/>
              </a:rPr>
              <a:pPr>
                <a:spcBef>
                  <a:spcPct val="0"/>
                </a:spcBef>
                <a:buClrTx/>
                <a:buSzTx/>
                <a:buFontTx/>
                <a:buNone/>
              </a:pPr>
              <a:t>47</a:t>
            </a:fld>
            <a:endParaRPr lang="en-US" altLang="en-US" sz="1000">
              <a:latin typeface="Arial Black" panose="020B0604020202020204" pitchFamily="34" charset="0"/>
            </a:endParaRPr>
          </a:p>
        </p:txBody>
      </p:sp>
      <p:sp>
        <p:nvSpPr>
          <p:cNvPr id="75780" name="Date Placeholder 4">
            <a:extLst>
              <a:ext uri="{FF2B5EF4-FFF2-40B4-BE49-F238E27FC236}">
                <a16:creationId xmlns:a16="http://schemas.microsoft.com/office/drawing/2014/main" id="{A39DF084-ED77-DE08-6465-81F8BD4F114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179895C-B68A-1B49-A0AD-0B0D37228078}"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FAAF925-3264-C9A4-121B-D7FD639623B5}"/>
              </a:ext>
            </a:extLst>
          </p:cNvPr>
          <p:cNvSpPr>
            <a:spLocks noGrp="1"/>
          </p:cNvSpPr>
          <p:nvPr>
            <p:ph type="title"/>
          </p:nvPr>
        </p:nvSpPr>
        <p:spPr/>
        <p:txBody>
          <a:bodyPr/>
          <a:lstStyle/>
          <a:p>
            <a:r>
              <a:rPr lang="en-US" altLang="en-US"/>
              <a:t>DatabaseFactory</a:t>
            </a:r>
          </a:p>
        </p:txBody>
      </p:sp>
      <p:sp>
        <p:nvSpPr>
          <p:cNvPr id="77826" name="Content Placeholder 2">
            <a:extLst>
              <a:ext uri="{FF2B5EF4-FFF2-40B4-BE49-F238E27FC236}">
                <a16:creationId xmlns:a16="http://schemas.microsoft.com/office/drawing/2014/main" id="{95C9E538-3257-36E4-045E-85E4E55ED929}"/>
              </a:ext>
            </a:extLst>
          </p:cNvPr>
          <p:cNvSpPr>
            <a:spLocks noGrp="1"/>
          </p:cNvSpPr>
          <p:nvPr>
            <p:ph idx="1"/>
          </p:nvPr>
        </p:nvSpPr>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abstract class DatabaseFactory</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lvl="1">
              <a:buFont typeface="Wingdings" pitchFamily="2" charset="2"/>
              <a:buNone/>
            </a:pPr>
            <a:r>
              <a:rPr lang="en-US" altLang="en-US" sz="1200">
                <a:latin typeface="Courier New" panose="02070309020205020404" pitchFamily="49" charset="0"/>
                <a:cs typeface="Courier New" panose="02070309020205020404" pitchFamily="49" charset="0"/>
              </a:rPr>
              <a:t>public abstract IDbCommand CreateCommand();</a:t>
            </a:r>
          </a:p>
          <a:p>
            <a:pPr lvl="1">
              <a:buFont typeface="Wingdings" pitchFamily="2" charset="2"/>
              <a:buNone/>
            </a:pPr>
            <a:r>
              <a:rPr lang="en-US" altLang="en-US" sz="1200">
                <a:latin typeface="Courier New" panose="02070309020205020404" pitchFamily="49" charset="0"/>
                <a:cs typeface="Courier New" panose="02070309020205020404" pitchFamily="49" charset="0"/>
              </a:rPr>
              <a:t>public abstract IDbCommand CreateCommand(string cmdText);</a:t>
            </a:r>
          </a:p>
          <a:p>
            <a:pPr lvl="1">
              <a:buFont typeface="Wingdings" pitchFamily="2" charset="2"/>
              <a:buNone/>
            </a:pPr>
            <a:r>
              <a:rPr lang="en-US" altLang="en-US" sz="1200">
                <a:latin typeface="Courier New" panose="02070309020205020404" pitchFamily="49" charset="0"/>
                <a:cs typeface="Courier New" panose="02070309020205020404" pitchFamily="49" charset="0"/>
              </a:rPr>
              <a:t>public abstract IDbCommand CreateCommand(string cmdText, IDbConnection cn);</a:t>
            </a:r>
          </a:p>
          <a:p>
            <a:pPr lvl="1">
              <a:buFont typeface="Wingdings" pitchFamily="2" charset="2"/>
              <a:buNone/>
            </a:pPr>
            <a:r>
              <a:rPr lang="en-US" altLang="en-US" sz="1200">
                <a:latin typeface="Courier New" panose="02070309020205020404" pitchFamily="49" charset="0"/>
                <a:cs typeface="Courier New" panose="02070309020205020404" pitchFamily="49" charset="0"/>
              </a:rPr>
              <a:t>public abstract IDbConnection CreateConnection();</a:t>
            </a:r>
          </a:p>
          <a:p>
            <a:pPr lvl="1">
              <a:buFont typeface="Wingdings" pitchFamily="2" charset="2"/>
              <a:buNone/>
            </a:pPr>
            <a:r>
              <a:rPr lang="en-US" altLang="en-US" sz="1200">
                <a:latin typeface="Courier New" panose="02070309020205020404" pitchFamily="49" charset="0"/>
                <a:cs typeface="Courier New" panose="02070309020205020404" pitchFamily="49" charset="0"/>
              </a:rPr>
              <a:t>public abstract IDbConnection CreateConnection(string cnString);</a:t>
            </a:r>
          </a:p>
          <a:p>
            <a:pPr lvl="1">
              <a:buFont typeface="Wingdings" pitchFamily="2" charset="2"/>
              <a:buNone/>
            </a:pPr>
            <a:r>
              <a:rPr lang="en-US" altLang="en-US" sz="1200">
                <a:latin typeface="Courier New" panose="02070309020205020404" pitchFamily="49" charset="0"/>
                <a:cs typeface="Courier New" panose="02070309020205020404" pitchFamily="49" charset="0"/>
              </a:rPr>
              <a:t>public abstract IDbDataAdapter CreateDataAdapter();</a:t>
            </a:r>
          </a:p>
          <a:p>
            <a:pPr lvl="1">
              <a:buFont typeface="Wingdings" pitchFamily="2" charset="2"/>
              <a:buNone/>
            </a:pPr>
            <a:r>
              <a:rPr lang="en-US" altLang="en-US" sz="1200">
                <a:latin typeface="Courier New" panose="02070309020205020404" pitchFamily="49" charset="0"/>
                <a:cs typeface="Courier New" panose="02070309020205020404" pitchFamily="49" charset="0"/>
              </a:rPr>
              <a:t>public abstract IDbDataAdapter CreateDataAdapter(IDbCommand selectCmd);</a:t>
            </a:r>
          </a:p>
          <a:p>
            <a:pPr lvl="1">
              <a:buFont typeface="Wingdings" pitchFamily="2" charset="2"/>
              <a:buNone/>
            </a:pPr>
            <a:r>
              <a:rPr lang="en-US" altLang="en-US" sz="1200">
                <a:latin typeface="Courier New" panose="02070309020205020404" pitchFamily="49" charset="0"/>
                <a:cs typeface="Courier New" panose="02070309020205020404" pitchFamily="49" charset="0"/>
              </a:rPr>
              <a:t>public abstract IDataReader CreateDataReader(IDbCommand dbCmd);</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p:txBody>
      </p:sp>
      <p:sp>
        <p:nvSpPr>
          <p:cNvPr id="77827" name="Slide Number Placeholder 3">
            <a:extLst>
              <a:ext uri="{FF2B5EF4-FFF2-40B4-BE49-F238E27FC236}">
                <a16:creationId xmlns:a16="http://schemas.microsoft.com/office/drawing/2014/main" id="{F276D08A-D955-0369-394C-4B73811F465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7105947-9E46-BD4F-8A9D-BDC48EB57867}" type="slidenum">
              <a:rPr lang="en-US" altLang="en-US" sz="1000">
                <a:latin typeface="Arial Black" panose="020B0604020202020204" pitchFamily="34" charset="0"/>
              </a:rPr>
              <a:pPr>
                <a:spcBef>
                  <a:spcPct val="0"/>
                </a:spcBef>
                <a:buClrTx/>
                <a:buSzTx/>
                <a:buFontTx/>
                <a:buNone/>
              </a:pPr>
              <a:t>48</a:t>
            </a:fld>
            <a:endParaRPr lang="en-US" altLang="en-US" sz="1000">
              <a:latin typeface="Arial Black" panose="020B0604020202020204" pitchFamily="34" charset="0"/>
            </a:endParaRPr>
          </a:p>
        </p:txBody>
      </p:sp>
      <p:sp>
        <p:nvSpPr>
          <p:cNvPr id="77828" name="Date Placeholder 4">
            <a:extLst>
              <a:ext uri="{FF2B5EF4-FFF2-40B4-BE49-F238E27FC236}">
                <a16:creationId xmlns:a16="http://schemas.microsoft.com/office/drawing/2014/main" id="{DB181217-2433-779C-C4F6-F2C2385B5B4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C37ABF7-D79E-FF4E-8D00-6FC5390A0183}" type="datetime1">
              <a:rPr lang="en-US" altLang="en-US" sz="1200" smtClean="0"/>
              <a:pPr>
                <a:spcBef>
                  <a:spcPct val="0"/>
                </a:spcBef>
                <a:buClrTx/>
                <a:buSzTx/>
                <a:buFontTx/>
                <a:buNone/>
              </a:pPr>
              <a:t>3/13/24</a:t>
            </a:fld>
            <a:endParaRPr lang="en-US" altLang="en-US" sz="1200"/>
          </a:p>
        </p:txBody>
      </p:sp>
      <p:sp>
        <p:nvSpPr>
          <p:cNvPr id="77829" name="TextBox 5">
            <a:extLst>
              <a:ext uri="{FF2B5EF4-FFF2-40B4-BE49-F238E27FC236}">
                <a16:creationId xmlns:a16="http://schemas.microsoft.com/office/drawing/2014/main" id="{738B41A4-0771-0D36-023F-C0FF7B5B22A7}"/>
              </a:ext>
            </a:extLst>
          </p:cNvPr>
          <p:cNvSpPr txBox="1">
            <a:spLocks noChangeArrowheads="1"/>
          </p:cNvSpPr>
          <p:nvPr/>
        </p:nvSpPr>
        <p:spPr bwMode="auto">
          <a:xfrm>
            <a:off x="533400" y="4495800"/>
            <a:ext cx="7848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Each database implementation (Oracle, SQL Server, etc) will need to create their own version of this DatabaseFactory.</a:t>
            </a:r>
          </a:p>
          <a:p>
            <a:pPr>
              <a:spcBef>
                <a:spcPct val="0"/>
              </a:spcBef>
              <a:buClrTx/>
              <a:buSzTx/>
              <a:buFontTx/>
              <a:buNone/>
            </a:pPr>
            <a:endParaRPr lang="en-US" altLang="en-US" sz="1800"/>
          </a:p>
          <a:p>
            <a:pPr>
              <a:spcBef>
                <a:spcPct val="0"/>
              </a:spcBef>
              <a:buClrTx/>
              <a:buSzTx/>
              <a:buFontTx/>
              <a:buNone/>
            </a:pPr>
            <a:r>
              <a:rPr lang="en-US" altLang="en-US" sz="1800"/>
              <a:t>The specific DatabaseFactory must be sent to the constructor of the framework class DatabaseManager.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a:extLst>
              <a:ext uri="{FF2B5EF4-FFF2-40B4-BE49-F238E27FC236}">
                <a16:creationId xmlns:a16="http://schemas.microsoft.com/office/drawing/2014/main" id="{86302EE4-9005-9215-0496-B541CA57F8FA}"/>
              </a:ext>
            </a:extLst>
          </p:cNvPr>
          <p:cNvSpPr>
            <a:spLocks noGrp="1"/>
          </p:cNvSpPr>
          <p:nvPr>
            <p:ph type="title"/>
          </p:nvPr>
        </p:nvSpPr>
        <p:spPr/>
        <p:txBody>
          <a:bodyPr/>
          <a:lstStyle/>
          <a:p>
            <a:r>
              <a:rPr lang="en-US" altLang="en-US"/>
              <a:t>Abstract Factory and Singleton</a:t>
            </a:r>
          </a:p>
        </p:txBody>
      </p:sp>
      <p:sp>
        <p:nvSpPr>
          <p:cNvPr id="78850" name="Content Placeholder 2">
            <a:extLst>
              <a:ext uri="{FF2B5EF4-FFF2-40B4-BE49-F238E27FC236}">
                <a16:creationId xmlns:a16="http://schemas.microsoft.com/office/drawing/2014/main" id="{9AB27C26-5C78-B7D7-17B3-403803B97786}"/>
              </a:ext>
            </a:extLst>
          </p:cNvPr>
          <p:cNvSpPr>
            <a:spLocks noGrp="1"/>
          </p:cNvSpPr>
          <p:nvPr>
            <p:ph idx="1"/>
          </p:nvPr>
        </p:nvSpPr>
        <p:spPr/>
        <p:txBody>
          <a:bodyPr/>
          <a:lstStyle/>
          <a:p>
            <a:r>
              <a:rPr lang="en-US" altLang="en-US"/>
              <a:t>If you have many different Abstract Factories, you probably just need one instance of each abstract factory.</a:t>
            </a:r>
          </a:p>
          <a:p>
            <a:endParaRPr lang="en-US" altLang="en-US"/>
          </a:p>
          <a:p>
            <a:r>
              <a:rPr lang="en-US" altLang="en-US"/>
              <a:t>You can use a Singleton to define each Abstract Factory.</a:t>
            </a:r>
          </a:p>
        </p:txBody>
      </p:sp>
      <p:sp>
        <p:nvSpPr>
          <p:cNvPr id="78851" name="Slide Number Placeholder 3">
            <a:extLst>
              <a:ext uri="{FF2B5EF4-FFF2-40B4-BE49-F238E27FC236}">
                <a16:creationId xmlns:a16="http://schemas.microsoft.com/office/drawing/2014/main" id="{C460B784-4EBD-18BC-000E-4BB767A0542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E70B86E-3634-CB4D-B869-5E82E42207F5}" type="slidenum">
              <a:rPr lang="en-US" altLang="en-US" sz="1000">
                <a:latin typeface="Arial Black" panose="020B0604020202020204" pitchFamily="34" charset="0"/>
              </a:rPr>
              <a:pPr>
                <a:spcBef>
                  <a:spcPct val="0"/>
                </a:spcBef>
                <a:buClrTx/>
                <a:buSzTx/>
                <a:buFontTx/>
                <a:buNone/>
              </a:pPr>
              <a:t>49</a:t>
            </a:fld>
            <a:endParaRPr lang="en-US" altLang="en-US" sz="1000">
              <a:latin typeface="Arial Black" panose="020B0604020202020204" pitchFamily="34" charset="0"/>
            </a:endParaRPr>
          </a:p>
        </p:txBody>
      </p:sp>
      <p:sp>
        <p:nvSpPr>
          <p:cNvPr id="78852" name="Date Placeholder 4">
            <a:extLst>
              <a:ext uri="{FF2B5EF4-FFF2-40B4-BE49-F238E27FC236}">
                <a16:creationId xmlns:a16="http://schemas.microsoft.com/office/drawing/2014/main" id="{25DB36BC-63B7-32E8-7DBF-AEA84A2D5E1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AD6C95E-81FC-6C46-A791-DC53F5BE789B}"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E379B58A-6064-1DBD-23A6-2251A15DD20B}"/>
              </a:ext>
            </a:extLst>
          </p:cNvPr>
          <p:cNvSpPr>
            <a:spLocks noGrp="1"/>
          </p:cNvSpPr>
          <p:nvPr>
            <p:ph type="title"/>
          </p:nvPr>
        </p:nvSpPr>
        <p:spPr/>
        <p:txBody>
          <a:bodyPr/>
          <a:lstStyle/>
          <a:p>
            <a:r>
              <a:rPr lang="en-US" altLang="en-US"/>
              <a:t>A more interesting case…</a:t>
            </a:r>
          </a:p>
        </p:txBody>
      </p:sp>
      <p:sp>
        <p:nvSpPr>
          <p:cNvPr id="79874" name="Content Placeholder 2">
            <a:extLst>
              <a:ext uri="{FF2B5EF4-FFF2-40B4-BE49-F238E27FC236}">
                <a16:creationId xmlns:a16="http://schemas.microsoft.com/office/drawing/2014/main" id="{EEC5895A-22E0-9476-5FA5-87CFA7A705CE}"/>
              </a:ext>
            </a:extLst>
          </p:cNvPr>
          <p:cNvSpPr>
            <a:spLocks noGrp="1"/>
          </p:cNvSpPr>
          <p:nvPr>
            <p:ph idx="1"/>
          </p:nvPr>
        </p:nvSpPr>
        <p:spPr/>
        <p:txBody>
          <a:bodyPr/>
          <a:lstStyle/>
          <a:p>
            <a:pPr>
              <a:buFont typeface="Wingdings" pitchFamily="2" charset="2"/>
              <a:buNone/>
            </a:pPr>
            <a:r>
              <a:rPr lang="en-US" altLang="en-US"/>
              <a:t>What if NY Pizza Store wanted the flexibility to change their ingredients all the time?? </a:t>
            </a:r>
          </a:p>
          <a:p>
            <a:pPr>
              <a:buFont typeface="Wingdings" pitchFamily="2" charset="2"/>
              <a:buNone/>
            </a:pPr>
            <a:endParaRPr lang="en-US" altLang="en-US"/>
          </a:p>
          <a:p>
            <a:pPr>
              <a:buFont typeface="Wingdings" pitchFamily="2" charset="2"/>
              <a:buNone/>
            </a:pPr>
            <a:r>
              <a:rPr lang="en-US" altLang="en-US"/>
              <a:t>For example, one day use:</a:t>
            </a:r>
          </a:p>
          <a:p>
            <a:pPr lvl="1"/>
            <a:r>
              <a:rPr lang="en-US" altLang="en-US"/>
              <a:t>ThickCrust Dough (not Thin)</a:t>
            </a:r>
          </a:p>
          <a:p>
            <a:pPr lvl="1"/>
            <a:r>
              <a:rPr lang="en-US" altLang="en-US"/>
              <a:t>Marina Sauce (which was previously used)</a:t>
            </a:r>
          </a:p>
          <a:p>
            <a:pPr lvl="1"/>
            <a:r>
              <a:rPr lang="en-US" altLang="en-US"/>
              <a:t>Provolone Cheese (not Reggiano)</a:t>
            </a:r>
          </a:p>
          <a:p>
            <a:pPr lvl="1"/>
            <a:endParaRPr lang="en-US" altLang="en-US"/>
          </a:p>
          <a:p>
            <a:pPr>
              <a:buFont typeface="Wingdings" pitchFamily="2" charset="2"/>
              <a:buNone/>
            </a:pPr>
            <a:r>
              <a:rPr lang="en-US" altLang="en-US"/>
              <a:t>And then next week the cheese needs to be changed to Cheddar (since Provolone shipment didn’t come in time).</a:t>
            </a:r>
          </a:p>
        </p:txBody>
      </p:sp>
      <p:sp>
        <p:nvSpPr>
          <p:cNvPr id="79875" name="Slide Number Placeholder 3">
            <a:extLst>
              <a:ext uri="{FF2B5EF4-FFF2-40B4-BE49-F238E27FC236}">
                <a16:creationId xmlns:a16="http://schemas.microsoft.com/office/drawing/2014/main" id="{4E969408-4828-8FC2-F40B-4248E8DFC14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ABA0946-80E0-1C46-8451-8D97FFD79BF2}" type="slidenum">
              <a:rPr lang="en-US" altLang="en-US" sz="1000">
                <a:latin typeface="Arial Black" panose="020B0604020202020204" pitchFamily="34" charset="0"/>
              </a:rPr>
              <a:pPr>
                <a:spcBef>
                  <a:spcPct val="0"/>
                </a:spcBef>
                <a:buClrTx/>
                <a:buSzTx/>
                <a:buFontTx/>
                <a:buNone/>
              </a:pPr>
              <a:t>50</a:t>
            </a:fld>
            <a:endParaRPr lang="en-US" altLang="en-US" sz="1000">
              <a:latin typeface="Arial Black" panose="020B0604020202020204" pitchFamily="34" charset="0"/>
            </a:endParaRPr>
          </a:p>
        </p:txBody>
      </p:sp>
      <p:sp>
        <p:nvSpPr>
          <p:cNvPr id="79876" name="Date Placeholder 4">
            <a:extLst>
              <a:ext uri="{FF2B5EF4-FFF2-40B4-BE49-F238E27FC236}">
                <a16:creationId xmlns:a16="http://schemas.microsoft.com/office/drawing/2014/main" id="{EF57D570-0AA5-47BB-9E7A-80178DF6DE7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D435CE1-8CB4-1B44-9776-B5F3B6331403}"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D0F86C1A-BD48-A8AB-BE92-8619FDA6D75A}"/>
              </a:ext>
            </a:extLst>
          </p:cNvPr>
          <p:cNvSpPr>
            <a:spLocks noGrp="1"/>
          </p:cNvSpPr>
          <p:nvPr>
            <p:ph type="title"/>
          </p:nvPr>
        </p:nvSpPr>
        <p:spPr/>
        <p:txBody>
          <a:bodyPr/>
          <a:lstStyle/>
          <a:p>
            <a:r>
              <a:rPr lang="en-US" altLang="en-US"/>
              <a:t>What will happen??</a:t>
            </a:r>
          </a:p>
        </p:txBody>
      </p:sp>
      <p:sp>
        <p:nvSpPr>
          <p:cNvPr id="80898" name="Content Placeholder 2">
            <a:extLst>
              <a:ext uri="{FF2B5EF4-FFF2-40B4-BE49-F238E27FC236}">
                <a16:creationId xmlns:a16="http://schemas.microsoft.com/office/drawing/2014/main" id="{A77A3562-4C13-544D-AFCE-2A8AAB1F2FD0}"/>
              </a:ext>
            </a:extLst>
          </p:cNvPr>
          <p:cNvSpPr>
            <a:spLocks noGrp="1"/>
          </p:cNvSpPr>
          <p:nvPr>
            <p:ph idx="1"/>
          </p:nvPr>
        </p:nvSpPr>
        <p:spPr/>
        <p:txBody>
          <a:bodyPr/>
          <a:lstStyle/>
          <a:p>
            <a:r>
              <a:rPr lang="en-US" altLang="en-US"/>
              <a:t>Class Explosion!</a:t>
            </a:r>
          </a:p>
          <a:p>
            <a:endParaRPr lang="en-US" altLang="en-US"/>
          </a:p>
          <a:p>
            <a:r>
              <a:rPr lang="en-US" altLang="en-US"/>
              <a:t>We would need an Abstract Factory for every possible combination…and when we add a new ingredient, we could have to create even more Abstract Factories.</a:t>
            </a:r>
          </a:p>
          <a:p>
            <a:endParaRPr lang="en-US" altLang="en-US"/>
          </a:p>
          <a:p>
            <a:pPr>
              <a:buFont typeface="Wingdings" pitchFamily="2" charset="2"/>
              <a:buNone/>
            </a:pPr>
            <a:endParaRPr lang="en-US" altLang="en-US"/>
          </a:p>
          <a:p>
            <a:endParaRPr lang="en-US" altLang="en-US"/>
          </a:p>
          <a:p>
            <a:endParaRPr lang="en-US" altLang="en-US"/>
          </a:p>
        </p:txBody>
      </p:sp>
      <p:sp>
        <p:nvSpPr>
          <p:cNvPr id="80899" name="Slide Number Placeholder 3">
            <a:extLst>
              <a:ext uri="{FF2B5EF4-FFF2-40B4-BE49-F238E27FC236}">
                <a16:creationId xmlns:a16="http://schemas.microsoft.com/office/drawing/2014/main" id="{FDAB5CC0-679D-9959-139F-4991F779D21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5EFE4A7-12E7-8D47-9788-0B8CF1B4C8C5}" type="slidenum">
              <a:rPr lang="en-US" altLang="en-US" sz="1000">
                <a:latin typeface="Arial Black" panose="020B0604020202020204" pitchFamily="34" charset="0"/>
              </a:rPr>
              <a:pPr>
                <a:spcBef>
                  <a:spcPct val="0"/>
                </a:spcBef>
                <a:buClrTx/>
                <a:buSzTx/>
                <a:buFontTx/>
                <a:buNone/>
              </a:pPr>
              <a:t>51</a:t>
            </a:fld>
            <a:endParaRPr lang="en-US" altLang="en-US" sz="1000">
              <a:latin typeface="Arial Black" panose="020B0604020202020204" pitchFamily="34" charset="0"/>
            </a:endParaRPr>
          </a:p>
        </p:txBody>
      </p:sp>
      <p:sp>
        <p:nvSpPr>
          <p:cNvPr id="80900" name="Date Placeholder 4">
            <a:extLst>
              <a:ext uri="{FF2B5EF4-FFF2-40B4-BE49-F238E27FC236}">
                <a16:creationId xmlns:a16="http://schemas.microsoft.com/office/drawing/2014/main" id="{28E39E38-CE8B-BC6C-A683-F328833F99F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34E5C2B-B730-224D-89BF-118A18614783}"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a:extLst>
              <a:ext uri="{FF2B5EF4-FFF2-40B4-BE49-F238E27FC236}">
                <a16:creationId xmlns:a16="http://schemas.microsoft.com/office/drawing/2014/main" id="{7DDCBC8B-6C66-55A2-37C1-62B8C5837860}"/>
              </a:ext>
            </a:extLst>
          </p:cNvPr>
          <p:cNvSpPr>
            <a:spLocks noGrp="1"/>
          </p:cNvSpPr>
          <p:nvPr>
            <p:ph type="title"/>
          </p:nvPr>
        </p:nvSpPr>
        <p:spPr/>
        <p:txBody>
          <a:bodyPr/>
          <a:lstStyle/>
          <a:p>
            <a:r>
              <a:rPr lang="en-US" altLang="en-US"/>
              <a:t>Solution: Abstract Factory and Prototype</a:t>
            </a:r>
          </a:p>
        </p:txBody>
      </p:sp>
      <p:sp>
        <p:nvSpPr>
          <p:cNvPr id="81922" name="Content Placeholder 2">
            <a:extLst>
              <a:ext uri="{FF2B5EF4-FFF2-40B4-BE49-F238E27FC236}">
                <a16:creationId xmlns:a16="http://schemas.microsoft.com/office/drawing/2014/main" id="{552B2BA4-0D86-FFF3-F1BA-1C7BB349F6AE}"/>
              </a:ext>
            </a:extLst>
          </p:cNvPr>
          <p:cNvSpPr>
            <a:spLocks noGrp="1"/>
          </p:cNvSpPr>
          <p:nvPr>
            <p:ph idx="1"/>
          </p:nvPr>
        </p:nvSpPr>
        <p:spPr>
          <a:xfrm>
            <a:off x="457200" y="1371600"/>
            <a:ext cx="8534400" cy="4495800"/>
          </a:xfrm>
        </p:spPr>
        <p:txBody>
          <a:bodyPr/>
          <a:lstStyle/>
          <a:p>
            <a:pPr>
              <a:buFont typeface="Wingdings" pitchFamily="2" charset="2"/>
              <a:buNone/>
            </a:pPr>
            <a:r>
              <a:rPr lang="en-US" altLang="en-US"/>
              <a:t>When we create the abstract factory, pass the different applicable products in the constructor.</a:t>
            </a:r>
          </a:p>
          <a:p>
            <a:pPr>
              <a:buFont typeface="Wingdings" pitchFamily="2" charset="2"/>
              <a:buNone/>
            </a:pPr>
            <a:endParaRPr lang="en-US" altLang="en-US"/>
          </a:p>
          <a:p>
            <a:pPr>
              <a:buFont typeface="Wingdings" pitchFamily="2" charset="2"/>
              <a:buNone/>
            </a:pPr>
            <a:r>
              <a:rPr lang="en-US" altLang="en-US" sz="1800">
                <a:latin typeface="Courier New" panose="02070309020205020404" pitchFamily="49" charset="0"/>
                <a:cs typeface="Courier New" panose="02070309020205020404" pitchFamily="49" charset="0"/>
              </a:rPr>
              <a:t>PizzaIngredientFactory ingredientFactory = </a:t>
            </a:r>
          </a:p>
          <a:p>
            <a:pPr>
              <a:buFont typeface="Wingdings" pitchFamily="2" charset="2"/>
              <a:buNone/>
            </a:pPr>
            <a:r>
              <a:rPr lang="en-US" altLang="en-US" sz="1800">
                <a:latin typeface="Courier New" panose="02070309020205020404" pitchFamily="49" charset="0"/>
                <a:cs typeface="Courier New" panose="02070309020205020404" pitchFamily="49" charset="0"/>
              </a:rPr>
              <a:t>			new NYPizzaIngredientFactory</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r>
              <a:rPr lang="en-US" altLang="en-US" sz="1800" b="1">
                <a:solidFill>
                  <a:srgbClr val="FF0000"/>
                </a:solidFill>
                <a:latin typeface="Courier New" panose="02070309020205020404" pitchFamily="49" charset="0"/>
                <a:cs typeface="Courier New" panose="02070309020205020404" pitchFamily="49" charset="0"/>
              </a:rPr>
              <a:t>new ThinCrustDough(), new MarinaraSauce(), </a:t>
            </a:r>
          </a:p>
          <a:p>
            <a:pPr>
              <a:buFont typeface="Wingdings" pitchFamily="2" charset="2"/>
              <a:buNone/>
            </a:pPr>
            <a:r>
              <a:rPr lang="en-US" altLang="en-US" sz="1800" b="1">
                <a:solidFill>
                  <a:srgbClr val="FF0000"/>
                </a:solidFill>
                <a:latin typeface="Courier New" panose="02070309020205020404" pitchFamily="49" charset="0"/>
                <a:cs typeface="Courier New" panose="02070309020205020404" pitchFamily="49" charset="0"/>
              </a:rPr>
              <a:t>			 new Provolone() </a:t>
            </a:r>
            <a:r>
              <a:rPr lang="en-US" altLang="en-US" sz="1800">
                <a:latin typeface="Courier New" panose="02070309020205020404" pitchFamily="49" charset="0"/>
                <a:cs typeface="Courier New" panose="02070309020205020404" pitchFamily="49" charset="0"/>
              </a:rPr>
              <a:t>);</a:t>
            </a:r>
          </a:p>
          <a:p>
            <a:pPr>
              <a:buFont typeface="Wingdings" pitchFamily="2" charset="2"/>
              <a:buNone/>
            </a:pPr>
            <a:endParaRPr lang="en-US" altLang="en-US"/>
          </a:p>
          <a:p>
            <a:pPr>
              <a:buFont typeface="Wingdings" pitchFamily="2" charset="2"/>
              <a:buNone/>
            </a:pPr>
            <a:r>
              <a:rPr lang="en-US" altLang="en-US"/>
              <a:t>These products could easily come from an XML file or even by the user during runtime.</a:t>
            </a:r>
          </a:p>
          <a:p>
            <a:pPr>
              <a:buFont typeface="Wingdings" pitchFamily="2" charset="2"/>
              <a:buNone/>
            </a:pPr>
            <a:endParaRPr lang="en-US" altLang="en-US"/>
          </a:p>
        </p:txBody>
      </p:sp>
      <p:sp>
        <p:nvSpPr>
          <p:cNvPr id="81923" name="Slide Number Placeholder 3">
            <a:extLst>
              <a:ext uri="{FF2B5EF4-FFF2-40B4-BE49-F238E27FC236}">
                <a16:creationId xmlns:a16="http://schemas.microsoft.com/office/drawing/2014/main" id="{BD3CF173-DD33-F30E-996E-E4955F38829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5A608BE-924D-C64F-A6B9-EE74696F804F}" type="slidenum">
              <a:rPr lang="en-US" altLang="en-US" sz="1000">
                <a:latin typeface="Arial Black" panose="020B0604020202020204" pitchFamily="34" charset="0"/>
              </a:rPr>
              <a:pPr>
                <a:spcBef>
                  <a:spcPct val="0"/>
                </a:spcBef>
                <a:buClrTx/>
                <a:buSzTx/>
                <a:buFontTx/>
                <a:buNone/>
              </a:pPr>
              <a:t>52</a:t>
            </a:fld>
            <a:endParaRPr lang="en-US" altLang="en-US" sz="1000">
              <a:latin typeface="Arial Black" panose="020B0604020202020204" pitchFamily="34" charset="0"/>
            </a:endParaRPr>
          </a:p>
        </p:txBody>
      </p:sp>
      <p:sp>
        <p:nvSpPr>
          <p:cNvPr id="81924" name="Date Placeholder 4">
            <a:extLst>
              <a:ext uri="{FF2B5EF4-FFF2-40B4-BE49-F238E27FC236}">
                <a16:creationId xmlns:a16="http://schemas.microsoft.com/office/drawing/2014/main" id="{789B6E2F-233E-05AC-2DBC-D48BF1718F1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F906511-6159-DC41-A6C2-CA725BAE909F}"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21D000EF-F79B-94EB-BEA0-73A89C7B72F6}"/>
              </a:ext>
            </a:extLst>
          </p:cNvPr>
          <p:cNvSpPr>
            <a:spLocks noGrp="1"/>
          </p:cNvSpPr>
          <p:nvPr>
            <p:ph type="title"/>
          </p:nvPr>
        </p:nvSpPr>
        <p:spPr/>
        <p:txBody>
          <a:bodyPr/>
          <a:lstStyle/>
          <a:p>
            <a:r>
              <a:rPr lang="en-US" altLang="en-US"/>
              <a:t>Solution: Abstract Factory and Prototype</a:t>
            </a:r>
          </a:p>
        </p:txBody>
      </p:sp>
      <p:sp>
        <p:nvSpPr>
          <p:cNvPr id="82946" name="Content Placeholder 2">
            <a:extLst>
              <a:ext uri="{FF2B5EF4-FFF2-40B4-BE49-F238E27FC236}">
                <a16:creationId xmlns:a16="http://schemas.microsoft.com/office/drawing/2014/main" id="{D3C719A1-F14A-8073-A754-FBA7EA0BBBE5}"/>
              </a:ext>
            </a:extLst>
          </p:cNvPr>
          <p:cNvSpPr>
            <a:spLocks noGrp="1"/>
          </p:cNvSpPr>
          <p:nvPr>
            <p:ph idx="1"/>
          </p:nvPr>
        </p:nvSpPr>
        <p:spPr>
          <a:xfrm>
            <a:off x="457200" y="1371600"/>
            <a:ext cx="8229600" cy="5181600"/>
          </a:xfrm>
        </p:spPr>
        <p:txBody>
          <a:bodyPr/>
          <a:lstStyle/>
          <a:p>
            <a:r>
              <a:rPr lang="en-US" altLang="en-US"/>
              <a:t>The abstract factory can then be passed to the different types of Pizzas.</a:t>
            </a:r>
          </a:p>
          <a:p>
            <a:endParaRPr lang="en-US" altLang="en-US"/>
          </a:p>
          <a:p>
            <a:r>
              <a:rPr lang="en-US" altLang="en-US"/>
              <a:t>When a method is called (ie, createDough, createSauce), a cloned copy of the Product is returned.</a:t>
            </a:r>
          </a:p>
          <a:p>
            <a:pPr lvl="1"/>
            <a:r>
              <a:rPr lang="en-US" altLang="en-US"/>
              <a:t>This ensures that each call to a createXXX method returns a unique instance.  </a:t>
            </a:r>
          </a:p>
          <a:p>
            <a:pPr lvl="1"/>
            <a:r>
              <a:rPr lang="en-US" altLang="en-US"/>
              <a:t>Note: In our standard abstract factory, a unique instance is returned every time you call a createXXX method.</a:t>
            </a:r>
          </a:p>
          <a:p>
            <a:pPr lvl="1"/>
            <a:endParaRPr lang="en-US" altLang="en-US"/>
          </a:p>
          <a:p>
            <a:r>
              <a:rPr lang="en-US" altLang="en-US"/>
              <a:t>More information on Prototype</a:t>
            </a:r>
          </a:p>
          <a:p>
            <a:pPr lvl="1"/>
            <a:r>
              <a:rPr lang="en-US" altLang="en-US">
                <a:hlinkClick r:id="rId2"/>
              </a:rPr>
              <a:t>http://www.oodesign.com/prototype-pattern.html</a:t>
            </a:r>
            <a:endParaRPr lang="en-US" altLang="en-US"/>
          </a:p>
          <a:p>
            <a:pPr lvl="1"/>
            <a:r>
              <a:rPr lang="en-US" altLang="en-US"/>
              <a:t>Gang of Four (pg 122)</a:t>
            </a:r>
          </a:p>
        </p:txBody>
      </p:sp>
      <p:sp>
        <p:nvSpPr>
          <p:cNvPr id="82947" name="Slide Number Placeholder 3">
            <a:extLst>
              <a:ext uri="{FF2B5EF4-FFF2-40B4-BE49-F238E27FC236}">
                <a16:creationId xmlns:a16="http://schemas.microsoft.com/office/drawing/2014/main" id="{41468190-49AC-8C54-FBEE-AE4944AB998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84569B6-CBA5-1147-B1A1-166D5B4E71F7}" type="slidenum">
              <a:rPr lang="en-US" altLang="en-US" sz="1000">
                <a:latin typeface="Arial Black" panose="020B0604020202020204" pitchFamily="34" charset="0"/>
              </a:rPr>
              <a:pPr>
                <a:spcBef>
                  <a:spcPct val="0"/>
                </a:spcBef>
                <a:buClrTx/>
                <a:buSzTx/>
                <a:buFontTx/>
                <a:buNone/>
              </a:pPr>
              <a:t>53</a:t>
            </a:fld>
            <a:endParaRPr lang="en-US" altLang="en-US" sz="1000">
              <a:latin typeface="Arial Black" panose="020B0604020202020204" pitchFamily="34" charset="0"/>
            </a:endParaRPr>
          </a:p>
        </p:txBody>
      </p:sp>
      <p:sp>
        <p:nvSpPr>
          <p:cNvPr id="82948" name="Date Placeholder 4">
            <a:extLst>
              <a:ext uri="{FF2B5EF4-FFF2-40B4-BE49-F238E27FC236}">
                <a16:creationId xmlns:a16="http://schemas.microsoft.com/office/drawing/2014/main" id="{1E49A124-4108-1752-6E3D-1369B46FE39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2C006A0-6EB5-B34B-BA78-6C7D78779E4A}"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B9703A99-320D-55E9-17D5-BAB1C658E1CB}"/>
              </a:ext>
            </a:extLst>
          </p:cNvPr>
          <p:cNvSpPr>
            <a:spLocks noGrp="1"/>
          </p:cNvSpPr>
          <p:nvPr>
            <p:ph type="title"/>
          </p:nvPr>
        </p:nvSpPr>
        <p:spPr/>
        <p:txBody>
          <a:bodyPr/>
          <a:lstStyle/>
          <a:p>
            <a:r>
              <a:rPr lang="en-US" altLang="en-US"/>
              <a:t>Abstract Factory: Last Thoughts	</a:t>
            </a:r>
          </a:p>
        </p:txBody>
      </p:sp>
      <p:sp>
        <p:nvSpPr>
          <p:cNvPr id="83970" name="Content Placeholder 2">
            <a:extLst>
              <a:ext uri="{FF2B5EF4-FFF2-40B4-BE49-F238E27FC236}">
                <a16:creationId xmlns:a16="http://schemas.microsoft.com/office/drawing/2014/main" id="{3A07FC20-6922-0FA9-CD1B-9D43A2C4391D}"/>
              </a:ext>
            </a:extLst>
          </p:cNvPr>
          <p:cNvSpPr>
            <a:spLocks noGrp="1"/>
          </p:cNvSpPr>
          <p:nvPr>
            <p:ph idx="1"/>
          </p:nvPr>
        </p:nvSpPr>
        <p:spPr/>
        <p:txBody>
          <a:bodyPr/>
          <a:lstStyle/>
          <a:p>
            <a:r>
              <a:rPr lang="en-US" altLang="en-US"/>
              <a:t>This may be a hard pattern to “see” during the initial design process.</a:t>
            </a:r>
          </a:p>
          <a:p>
            <a:endParaRPr lang="en-US" altLang="en-US"/>
          </a:p>
          <a:p>
            <a:r>
              <a:rPr lang="en-US" altLang="en-US"/>
              <a:t>You may encounter this pattern during refactoring.</a:t>
            </a:r>
          </a:p>
          <a:p>
            <a:pPr>
              <a:buFont typeface="Wingdings" pitchFamily="2" charset="2"/>
              <a:buNone/>
            </a:pPr>
            <a:endParaRPr lang="en-US" altLang="en-US"/>
          </a:p>
        </p:txBody>
      </p:sp>
      <p:sp>
        <p:nvSpPr>
          <p:cNvPr id="83971" name="Slide Number Placeholder 3">
            <a:extLst>
              <a:ext uri="{FF2B5EF4-FFF2-40B4-BE49-F238E27FC236}">
                <a16:creationId xmlns:a16="http://schemas.microsoft.com/office/drawing/2014/main" id="{7D9C97C7-8ED4-6381-F1DB-20EF4D8CB19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5F7B0BB-E08B-3241-8B65-E0937DFB23C7}" type="slidenum">
              <a:rPr lang="en-US" altLang="en-US" sz="1000">
                <a:latin typeface="Arial Black" panose="020B0604020202020204" pitchFamily="34" charset="0"/>
              </a:rPr>
              <a:pPr>
                <a:spcBef>
                  <a:spcPct val="0"/>
                </a:spcBef>
                <a:buClrTx/>
                <a:buSzTx/>
                <a:buFontTx/>
                <a:buNone/>
              </a:pPr>
              <a:t>54</a:t>
            </a:fld>
            <a:endParaRPr lang="en-US" altLang="en-US" sz="1000">
              <a:latin typeface="Arial Black" panose="020B0604020202020204" pitchFamily="34" charset="0"/>
            </a:endParaRPr>
          </a:p>
        </p:txBody>
      </p:sp>
      <p:sp>
        <p:nvSpPr>
          <p:cNvPr id="83972" name="Date Placeholder 4">
            <a:extLst>
              <a:ext uri="{FF2B5EF4-FFF2-40B4-BE49-F238E27FC236}">
                <a16:creationId xmlns:a16="http://schemas.microsoft.com/office/drawing/2014/main" id="{D5C325DC-0466-8678-5845-423B7E8E5B1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E79C619-3DA3-8E44-9538-B9D64E60AE64}" type="datetime1">
              <a:rPr lang="en-US" altLang="en-US" sz="1200" smtClean="0"/>
              <a:pPr>
                <a:spcBef>
                  <a:spcPct val="0"/>
                </a:spcBef>
                <a:buClrTx/>
                <a:buSzTx/>
                <a:buFontTx/>
                <a:buNone/>
              </a:pPr>
              <a:t>3/13/24</a:t>
            </a:fld>
            <a:endParaRPr lang="en-US" altLang="en-US" sz="12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9403AF2D-14DA-6392-10AE-174BC5F55008}"/>
              </a:ext>
            </a:extLst>
          </p:cNvPr>
          <p:cNvSpPr>
            <a:spLocks noGrp="1"/>
          </p:cNvSpPr>
          <p:nvPr>
            <p:ph type="title"/>
          </p:nvPr>
        </p:nvSpPr>
        <p:spPr/>
        <p:txBody>
          <a:bodyPr/>
          <a:lstStyle/>
          <a:p>
            <a:r>
              <a:rPr lang="en-US" altLang="en-US"/>
              <a:t>Summary</a:t>
            </a:r>
          </a:p>
        </p:txBody>
      </p:sp>
      <p:sp>
        <p:nvSpPr>
          <p:cNvPr id="84994" name="Content Placeholder 2">
            <a:extLst>
              <a:ext uri="{FF2B5EF4-FFF2-40B4-BE49-F238E27FC236}">
                <a16:creationId xmlns:a16="http://schemas.microsoft.com/office/drawing/2014/main" id="{28A54DE7-4F02-3CD5-2B13-FF6FA882572B}"/>
              </a:ext>
            </a:extLst>
          </p:cNvPr>
          <p:cNvSpPr>
            <a:spLocks noGrp="1"/>
          </p:cNvSpPr>
          <p:nvPr>
            <p:ph idx="1"/>
          </p:nvPr>
        </p:nvSpPr>
        <p:spPr/>
        <p:txBody>
          <a:bodyPr/>
          <a:lstStyle/>
          <a:p>
            <a:pPr eaLnBrk="1" hangingPunct="1"/>
            <a:r>
              <a:rPr lang="en-US" altLang="en-US" b="1" i="1" dirty="0"/>
              <a:t>Pattern Name </a:t>
            </a:r>
            <a:r>
              <a:rPr lang="en-US" altLang="en-US" dirty="0"/>
              <a:t>– Abstract Factory</a:t>
            </a:r>
          </a:p>
          <a:p>
            <a:pPr eaLnBrk="1" hangingPunct="1"/>
            <a:r>
              <a:rPr lang="en-US" altLang="en-US" b="1" i="1" dirty="0"/>
              <a:t>Problem</a:t>
            </a:r>
            <a:r>
              <a:rPr lang="en-US" altLang="en-US" dirty="0"/>
              <a:t> – Need to way to create a family of products </a:t>
            </a:r>
          </a:p>
          <a:p>
            <a:pPr eaLnBrk="1" hangingPunct="1"/>
            <a:r>
              <a:rPr lang="en-US" altLang="en-US" b="1" i="1" dirty="0"/>
              <a:t>Solution</a:t>
            </a:r>
            <a:endParaRPr lang="en-US" altLang="en-US" dirty="0"/>
          </a:p>
          <a:p>
            <a:pPr lvl="1" eaLnBrk="1" hangingPunct="1"/>
            <a:r>
              <a:rPr lang="en-US" altLang="en-US" dirty="0"/>
              <a:t>Create an interface for creating products</a:t>
            </a:r>
          </a:p>
          <a:p>
            <a:pPr eaLnBrk="1" hangingPunct="1"/>
            <a:r>
              <a:rPr lang="en-US" altLang="en-US" b="1" i="1" dirty="0"/>
              <a:t>Consequences</a:t>
            </a:r>
          </a:p>
          <a:p>
            <a:pPr lvl="1" eaLnBrk="1" hangingPunct="1"/>
            <a:r>
              <a:rPr lang="en-US" altLang="en-US" sz="1800" dirty="0"/>
              <a:t>Objects are created using interface</a:t>
            </a:r>
          </a:p>
          <a:p>
            <a:pPr lvl="1" eaLnBrk="1" hangingPunct="1"/>
            <a:r>
              <a:rPr lang="en-US" altLang="en-US" sz="1800" dirty="0"/>
              <a:t>Composition is used to create objects</a:t>
            </a:r>
          </a:p>
          <a:p>
            <a:pPr lvl="1" eaLnBrk="1" hangingPunct="1"/>
            <a:r>
              <a:rPr lang="en-US" altLang="en-US" sz="1800" dirty="0"/>
              <a:t>Abstract Factory and Singleton</a:t>
            </a:r>
          </a:p>
          <a:p>
            <a:pPr lvl="1" eaLnBrk="1" hangingPunct="1"/>
            <a:r>
              <a:rPr lang="en-US" altLang="en-US" sz="1800" dirty="0"/>
              <a:t>Abstract Factory and Prototype</a:t>
            </a:r>
          </a:p>
          <a:p>
            <a:pPr>
              <a:buFont typeface="Wingdings" pitchFamily="2" charset="2"/>
              <a:buNone/>
            </a:pPr>
            <a:endParaRPr lang="en-US" altLang="en-US" dirty="0"/>
          </a:p>
        </p:txBody>
      </p:sp>
      <p:sp>
        <p:nvSpPr>
          <p:cNvPr id="84995" name="Slide Number Placeholder 3">
            <a:extLst>
              <a:ext uri="{FF2B5EF4-FFF2-40B4-BE49-F238E27FC236}">
                <a16:creationId xmlns:a16="http://schemas.microsoft.com/office/drawing/2014/main" id="{150EAE4F-960A-015D-213E-A5172BB1852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55DD67D-C74C-174D-8AEF-04A5C9476459}" type="slidenum">
              <a:rPr lang="en-US" altLang="en-US" sz="1000">
                <a:latin typeface="Arial Black" panose="020B0604020202020204" pitchFamily="34" charset="0"/>
              </a:rPr>
              <a:pPr>
                <a:spcBef>
                  <a:spcPct val="0"/>
                </a:spcBef>
                <a:buClrTx/>
                <a:buSzTx/>
                <a:buFontTx/>
                <a:buNone/>
              </a:pPr>
              <a:t>55</a:t>
            </a:fld>
            <a:endParaRPr lang="en-US" altLang="en-US" sz="1000">
              <a:latin typeface="Arial Black" panose="020B0604020202020204" pitchFamily="34" charset="0"/>
            </a:endParaRPr>
          </a:p>
        </p:txBody>
      </p:sp>
      <p:sp>
        <p:nvSpPr>
          <p:cNvPr id="84996" name="Date Placeholder 4">
            <a:extLst>
              <a:ext uri="{FF2B5EF4-FFF2-40B4-BE49-F238E27FC236}">
                <a16:creationId xmlns:a16="http://schemas.microsoft.com/office/drawing/2014/main" id="{DA96750B-0365-8475-EE3E-740CF748E37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7F3C748-65D5-FE45-BC28-5DC329B01777}" type="datetime1">
              <a:rPr lang="en-US" altLang="en-US" sz="1200" smtClean="0"/>
              <a:pPr>
                <a:spcBef>
                  <a:spcPct val="0"/>
                </a:spcBef>
                <a:buClrTx/>
                <a:buSzTx/>
                <a:buFontTx/>
                <a:buNone/>
              </a:pPr>
              <a:t>3/13/24</a:t>
            </a:fld>
            <a:endParaRPr lang="en-US" altLang="en-US" sz="1200"/>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TDA Elaboration Session I Nov 5</Template>
  <TotalTime>3436</TotalTime>
  <Words>3890</Words>
  <Application>Microsoft Macintosh PowerPoint</Application>
  <PresentationFormat>On-screen Show (4:3)</PresentationFormat>
  <Paragraphs>747</Paragraphs>
  <Slides>55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Wingdings</vt:lpstr>
      <vt:lpstr>Arial Black</vt:lpstr>
      <vt:lpstr>Times New Roman</vt:lpstr>
      <vt:lpstr>Courier New</vt:lpstr>
      <vt:lpstr>Pixel</vt:lpstr>
      <vt:lpstr>Design Patterns</vt:lpstr>
      <vt:lpstr>Preventing Future Mistakes</vt:lpstr>
      <vt:lpstr>Preventing Future Mistakes</vt:lpstr>
      <vt:lpstr>Technical Debt</vt:lpstr>
      <vt:lpstr>Review: What Pattern should we consider?</vt:lpstr>
      <vt:lpstr>Today’s Class</vt:lpstr>
      <vt:lpstr>Pizza Store in Objectville</vt:lpstr>
      <vt:lpstr>PizzaStore in Objectville</vt:lpstr>
      <vt:lpstr>PizzaStore in Objectville  (pg 112 top)</vt:lpstr>
      <vt:lpstr>PizzaStore in Objectville (pg 112 middle)</vt:lpstr>
      <vt:lpstr>PizzaStore in Objectville (cont)</vt:lpstr>
      <vt:lpstr>Solution?  (pg 115)</vt:lpstr>
      <vt:lpstr>SimplePizzaFactory</vt:lpstr>
      <vt:lpstr>Rework of PizzaStore (pg 116)</vt:lpstr>
      <vt:lpstr>Simple Factory Defined (pg 117)</vt:lpstr>
      <vt:lpstr>Change Now Occurs…</vt:lpstr>
      <vt:lpstr>Example (pg 119)</vt:lpstr>
      <vt:lpstr>More change happens…</vt:lpstr>
      <vt:lpstr>More change happens… (cont)</vt:lpstr>
      <vt:lpstr>What New York wants</vt:lpstr>
      <vt:lpstr>A Framework for Pizza Store (pg 120)</vt:lpstr>
      <vt:lpstr>NYPizzaStore (pg 123)</vt:lpstr>
      <vt:lpstr>Factory Method</vt:lpstr>
      <vt:lpstr>Test Drive (pg 127)</vt:lpstr>
      <vt:lpstr>Factory Method Defined</vt:lpstr>
      <vt:lpstr>Definitions (pg 134)</vt:lpstr>
      <vt:lpstr>IMPORTANT</vt:lpstr>
      <vt:lpstr>Lab</vt:lpstr>
      <vt:lpstr>Parameterized Factory Method</vt:lpstr>
      <vt:lpstr>Simple Factory Method</vt:lpstr>
      <vt:lpstr>Simple Factory Method (with Default)</vt:lpstr>
      <vt:lpstr>Back to SimUDuck (pg 16)</vt:lpstr>
      <vt:lpstr>Before</vt:lpstr>
      <vt:lpstr>After</vt:lpstr>
      <vt:lpstr>Now we create MallardDuck…</vt:lpstr>
      <vt:lpstr>Alternative Design: Default Behavior</vt:lpstr>
      <vt:lpstr>Changes..</vt:lpstr>
      <vt:lpstr>Pizza  </vt:lpstr>
      <vt:lpstr>One idea…Constructor w/many parameters</vt:lpstr>
      <vt:lpstr>Rework NYPizzaStore</vt:lpstr>
      <vt:lpstr>PizzaIngredientFactory (pg 146)</vt:lpstr>
      <vt:lpstr>NYPizzaIngredientFactory (pg 147)</vt:lpstr>
      <vt:lpstr>CheesePizza (pg 150)</vt:lpstr>
      <vt:lpstr>NYPizzaStore (pg 152)</vt:lpstr>
      <vt:lpstr>Abstract Factory Defined</vt:lpstr>
      <vt:lpstr>Factory Method vs. Abstract Factory</vt:lpstr>
      <vt:lpstr>Database Example</vt:lpstr>
      <vt:lpstr>DatabaseFactory</vt:lpstr>
      <vt:lpstr>Abstract Factory and Singleton</vt:lpstr>
      <vt:lpstr>A more interesting case…</vt:lpstr>
      <vt:lpstr>What will happen??</vt:lpstr>
      <vt:lpstr>Solution: Abstract Factory and Prototype</vt:lpstr>
      <vt:lpstr>Solution: Abstract Factory and Prototype</vt:lpstr>
      <vt:lpstr>Abstract Factory: Last Thoughts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Induwara Rajapaksha</cp:lastModifiedBy>
  <cp:revision>1202</cp:revision>
  <cp:lastPrinted>1601-01-01T00:00:00Z</cp:lastPrinted>
  <dcterms:created xsi:type="dcterms:W3CDTF">1601-01-01T00:00:00Z</dcterms:created>
  <dcterms:modified xsi:type="dcterms:W3CDTF">2024-03-14T02:56:40Z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