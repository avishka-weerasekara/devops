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63"/>
  </p:notesMasterIdLst>
  <p:handoutMasterIdLst>
    <p:handoutMasterId r:id="rId64"/>
  </p:handoutMasterIdLst>
  <p:sldIdLst>
    <p:sldId id="256" r:id="rId2"/>
    <p:sldId id="376" r:id="rId3"/>
    <p:sldId id="257" r:id="rId4"/>
    <p:sldId id="258" r:id="rId5"/>
    <p:sldId id="259" r:id="rId6"/>
    <p:sldId id="260" r:id="rId7"/>
    <p:sldId id="269" r:id="rId8"/>
    <p:sldId id="268" r:id="rId9"/>
    <p:sldId id="267" r:id="rId10"/>
    <p:sldId id="266" r:id="rId11"/>
    <p:sldId id="265" r:id="rId12"/>
    <p:sldId id="270" r:id="rId13"/>
    <p:sldId id="274" r:id="rId14"/>
    <p:sldId id="273" r:id="rId15"/>
    <p:sldId id="377" r:id="rId16"/>
    <p:sldId id="321" r:id="rId17"/>
    <p:sldId id="304" r:id="rId18"/>
    <p:sldId id="307" r:id="rId19"/>
    <p:sldId id="306" r:id="rId20"/>
    <p:sldId id="305" r:id="rId21"/>
    <p:sldId id="308" r:id="rId22"/>
    <p:sldId id="309" r:id="rId23"/>
    <p:sldId id="314" r:id="rId24"/>
    <p:sldId id="313" r:id="rId25"/>
    <p:sldId id="312" r:id="rId26"/>
    <p:sldId id="311" r:id="rId27"/>
    <p:sldId id="310" r:id="rId28"/>
    <p:sldId id="319" r:id="rId29"/>
    <p:sldId id="320" r:id="rId30"/>
    <p:sldId id="325" r:id="rId31"/>
    <p:sldId id="322" r:id="rId32"/>
    <p:sldId id="323" r:id="rId33"/>
    <p:sldId id="324" r:id="rId34"/>
    <p:sldId id="315" r:id="rId35"/>
    <p:sldId id="318" r:id="rId36"/>
    <p:sldId id="317" r:id="rId37"/>
    <p:sldId id="316" r:id="rId38"/>
    <p:sldId id="327" r:id="rId39"/>
    <p:sldId id="326" r:id="rId40"/>
    <p:sldId id="328" r:id="rId41"/>
    <p:sldId id="332" r:id="rId42"/>
    <p:sldId id="331" r:id="rId43"/>
    <p:sldId id="330" r:id="rId44"/>
    <p:sldId id="329" r:id="rId45"/>
    <p:sldId id="333" r:id="rId46"/>
    <p:sldId id="336" r:id="rId47"/>
    <p:sldId id="335" r:id="rId48"/>
    <p:sldId id="338" r:id="rId49"/>
    <p:sldId id="340" r:id="rId50"/>
    <p:sldId id="339" r:id="rId51"/>
    <p:sldId id="341" r:id="rId52"/>
    <p:sldId id="343" r:id="rId53"/>
    <p:sldId id="342" r:id="rId54"/>
    <p:sldId id="344" r:id="rId55"/>
    <p:sldId id="347" r:id="rId56"/>
    <p:sldId id="346" r:id="rId57"/>
    <p:sldId id="351" r:id="rId58"/>
    <p:sldId id="352" r:id="rId59"/>
    <p:sldId id="350" r:id="rId60"/>
    <p:sldId id="345" r:id="rId61"/>
    <p:sldId id="349" r:id="rId62"/>
  </p:sldIdLst>
  <p:sldSz cx="9144000" cy="6858000" type="screen4x3"/>
  <p:notesSz cx="9223375" cy="7004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1" autoAdjust="0"/>
    <p:restoredTop sz="79721" autoAdjust="0"/>
  </p:normalViewPr>
  <p:slideViewPr>
    <p:cSldViewPr>
      <p:cViewPr varScale="1">
        <p:scale>
          <a:sx n="87" d="100"/>
          <a:sy n="87" d="100"/>
        </p:scale>
        <p:origin x="23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DC88BEA-7476-94FA-F966-1488C13354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42804CA-0233-F46D-DF70-6C10785D127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24463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13 November 2008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1A5AB666-FD37-793E-98D7-ECFFCD25547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1625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0478D2FC-5851-5EFF-ECD8-AB146C93E44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24463" y="6651625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00A1610-30EF-074B-BAB8-7505AFBD7A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9136B6B-B384-4879-DA38-99D4B3DBFD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76F3263-C407-5409-D3CC-AFF8EE7D47C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24463" y="0"/>
            <a:ext cx="39973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13 November 2008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B737A69-166D-0D44-CAEE-B8F5747876D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860675" y="525463"/>
            <a:ext cx="3502025" cy="2625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2BD0E3F8-96E0-B74F-6AE8-E3588A083B5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3327400"/>
            <a:ext cx="7378700" cy="315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F19135F0-8BDE-31C3-6CA1-B9A97DC64B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3213"/>
            <a:ext cx="399732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F02BD048-637F-6362-5EE9-202D098228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24463" y="6653213"/>
            <a:ext cx="399732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247A57F-5744-D544-94AB-727508FA9C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A63D8CAA-0B74-E5D5-6FA7-C9C172F464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659B8E9-AFEC-6CCF-CC46-96EC45164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Date Placeholder 3">
            <a:extLst>
              <a:ext uri="{FF2B5EF4-FFF2-40B4-BE49-F238E27FC236}">
                <a16:creationId xmlns:a16="http://schemas.microsoft.com/office/drawing/2014/main" id="{AFA5F46C-8E7C-4F91-6DEE-034990C0B6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13 November 2008</a:t>
            </a:r>
          </a:p>
        </p:txBody>
      </p:sp>
      <p:sp>
        <p:nvSpPr>
          <p:cNvPr id="6149" name="Slide Number Placeholder 4">
            <a:extLst>
              <a:ext uri="{FF2B5EF4-FFF2-40B4-BE49-F238E27FC236}">
                <a16:creationId xmlns:a16="http://schemas.microsoft.com/office/drawing/2014/main" id="{53E20BCE-B76A-8B33-14E0-AA11E6556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C819CB-77A3-D345-8634-61CDC9AE6F3E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ED33ED9B-EC89-6880-6B58-125025B42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D5BC9249-C590-7A0B-B01F-C2B216E9C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Note: In the RemoteControl example, each Command wrapped a Receiver object and told the Reciever to do something.  In this example, the Command is given the logic externally.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80" name="Date Placeholder 3">
            <a:extLst>
              <a:ext uri="{FF2B5EF4-FFF2-40B4-BE49-F238E27FC236}">
                <a16:creationId xmlns:a16="http://schemas.microsoft.com/office/drawing/2014/main" id="{AE0BE0CE-948E-B9AC-4FCC-610CE6191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13 November 2008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5AADCA04-1BDC-F862-205D-E96656129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5A9081-9AE9-8E40-B8AF-9A655FB2D6A5}" type="slidenum">
              <a:rPr lang="en-US" altLang="en-US"/>
              <a:pPr/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E806BC0B-5F32-49B9-CB5C-54AF8D8F8D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D3D39B37-9C7B-60E4-2FDE-2FE63E00E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Possible Side Discussion on Factory?</a:t>
            </a:r>
          </a:p>
        </p:txBody>
      </p:sp>
      <p:sp>
        <p:nvSpPr>
          <p:cNvPr id="61444" name="Date Placeholder 3">
            <a:extLst>
              <a:ext uri="{FF2B5EF4-FFF2-40B4-BE49-F238E27FC236}">
                <a16:creationId xmlns:a16="http://schemas.microsoft.com/office/drawing/2014/main" id="{58222BC7-8EAE-2F32-9E26-4CC244767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13 November 2008</a:t>
            </a:r>
          </a:p>
        </p:txBody>
      </p:sp>
      <p:sp>
        <p:nvSpPr>
          <p:cNvPr id="61445" name="Slide Number Placeholder 4">
            <a:extLst>
              <a:ext uri="{FF2B5EF4-FFF2-40B4-BE49-F238E27FC236}">
                <a16:creationId xmlns:a16="http://schemas.microsoft.com/office/drawing/2014/main" id="{DBFF1E48-E32A-4A97-920D-06159B249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5EF839-3AAF-8246-A945-50B9CACF7113}" type="slidenum">
              <a:rPr lang="en-US" altLang="en-US"/>
              <a:pPr/>
              <a:t>53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E8C404-BA6D-A330-74D6-72624890C9C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D5A81AA-2453-8A86-B931-E58E77F2062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24F58B8D-1345-6F96-F83D-6E2E1B98810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3CCEF5F-DF29-11E2-A826-F3945C7F2C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741C2414-86FF-25DE-608D-C6F297B0AF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F0CE73AE-2AA5-F2D6-EE2F-0073994407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B7463C9C-6DB3-7ABD-5641-64741894678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6E72BD15-4256-DEA5-FB04-F2A746F7C8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99085D61-7471-6897-D63F-2793F740BD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7D735FFF-E1FE-826D-3D2B-878A03D993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15EE74D3-5010-B9C6-14A4-013D9FA778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5D72E143-B0CB-F645-0D8D-9A9CD7C5416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538AF46A-5336-81DC-928A-A085888241E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5C81F17B-57FE-ABCE-9B74-80253D578B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charset="0"/>
                </a:endParaRPr>
              </a:p>
            </p:txBody>
          </p:sp>
        </p:grpSp>
      </p:grpSp>
      <p:sp>
        <p:nvSpPr>
          <p:cNvPr id="471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DD3F3548-76C2-7A4B-FCE5-FF512D5183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B41B3-B742-BE41-BDF6-A141C31A6793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086006DC-32CA-9A05-88D6-69393AC504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E0ABE2-D7EA-5B7F-0BE7-3ECF456DFE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smtClean="0"/>
            </a:lvl1pPr>
          </a:lstStyle>
          <a:p>
            <a:pPr>
              <a:defRPr/>
            </a:pPr>
            <a:fld id="{EBE235B1-0548-DF4C-88BC-05B2379C84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18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1D0F710-D85F-63C1-79DA-572A6A47F2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F5AACC-3DBF-9460-21EE-7D0FCFBA90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53794-C941-E94B-9B63-2A990076ED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271A319-C23D-029E-1368-1BF44463080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61930-BE07-6447-A410-659EEC4738D3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3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B466D7-5F66-AAED-EFF8-E831CAB383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2BB246-9E72-BA1C-1E23-98967401316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015666-7141-3747-A20B-A89D5399D6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3C3CE59-8559-9C8F-09C4-6BA7DEC59E3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BD437-237D-484F-B25D-FF7FBBA18029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6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1C23E6-6DF1-AA82-1EA1-7F361B4393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188BA4A-3A18-C528-B249-5B340664C8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44F9D6-7B9B-6E48-B770-F07B04CAA1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F2ABF0E5-03AB-26FE-7CF3-2045CE741A4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A989F-D142-B946-AF00-44F2776CEC02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7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19FE82A-1072-ED99-E7D3-74788FB31EC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BA7B739-04F5-90E4-F79D-78C65D4645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9BE011-D2C2-5B42-A1EC-D8E9F4ACC1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9120281B-3BDA-55DE-EE7E-3D71B1F0F53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E8019-43A5-6049-8C5A-D4D304B954B7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9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ACB9F1-A2C9-B114-89EB-E8A34F9129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3D3094-8CD7-D146-6A24-5629414F665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332C7A-5264-F445-9F12-111891EA7C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1923EC3-8D57-38E2-D3CF-20086398C68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836930-B23D-AA47-ABAE-32FDA2162A98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71721C3-0A63-6BAE-2BD9-645650362C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C0256A5-E2F6-6C37-F6B2-E3374428BF5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BB068D-7295-E249-89C4-0851D83796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F9944CA-5447-3F97-38EA-7B062196C96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D48B4A-1BC9-0C42-B23B-22384A809E8A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8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073AAD-39B0-C74F-9BB9-C175757A58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9BB11A9-285E-547E-D4B8-27B2E83EDF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2CCAC-2B3F-6C41-B31D-E975ECA998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11C22A40-7DCD-4540-0701-63113F64D1C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BD5A5-E388-4C4F-9946-1511ABFE77A1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5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6356C0-873D-EB97-0D96-184EDFF363B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AD5FB2-94C3-47B8-C690-6D526A9218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46D95-3389-2B4B-B869-4838CC138A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35BE871-6B2F-F8D3-15E3-EC41A2DA79F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6FC2E-E54F-8348-938C-A0FBAEB6A06B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9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0D3911-C296-BC7E-D9BB-2384ECA4F6A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00717C1-D5B5-E45D-4330-DC4DA834E2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4A6EC-2D06-CA4B-9D02-F10B631224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E20485A-A3E9-C5A2-F771-E1EC4EE5229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08BC9-A90F-0B4A-B609-D1590709921D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6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51CF43-E898-517A-4D4C-876CF1C9A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56249BB-F2D9-1801-000E-AE2842AC3B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F22DC-406D-3141-B4E6-BD369DB4FD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C0B14CA-9946-688B-A397-D08375CD794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F9558-AA1B-154E-9C9D-9485BBC66015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9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1E3DB62-D062-8796-43A9-21237A789A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1C28581-D6C9-E6FE-C995-EEE6A843A73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BE7AC32-CD14-DD4E-96F6-11D99E85E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108EA827-B7E7-3077-4D45-3F376E64C52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3332E30F-2905-0FAE-8910-8099A68FD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902CBEC4-7795-2584-5025-6FE77CF65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EFA87F58-AAA1-86AA-9BA6-570A65342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94476CB3-2D51-FC8A-EA80-9A83516A2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2DE612BC-7DA3-4576-8D23-2413444F2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5DF9508E-5419-9FFB-31E8-2143A3FAE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19F8048B-AB6D-BAF7-7B6D-12144F09A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84834C0A-4BA9-CB69-F2C0-06CE3476F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AD6BFF7A-46C4-DF8E-A89E-E7412975A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41BFB64F-25CF-3020-6462-96F6904E5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2BC1F29F-92F1-53E8-0754-7A63923BC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096" name="Rectangle 16">
            <a:extLst>
              <a:ext uri="{FF2B5EF4-FFF2-40B4-BE49-F238E27FC236}">
                <a16:creationId xmlns:a16="http://schemas.microsoft.com/office/drawing/2014/main" id="{3876071A-20FC-3329-1851-9438690A4A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A115C63-73D6-3F4E-A680-3991E2537173}" type="datetime1">
              <a:rPr lang="en-US"/>
              <a:pPr>
                <a:defRPr/>
              </a:pPr>
              <a:t>12/6/23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83" r:id="rId2"/>
    <p:sldLayoutId id="2147484284" r:id="rId3"/>
    <p:sldLayoutId id="2147484285" r:id="rId4"/>
    <p:sldLayoutId id="2147484286" r:id="rId5"/>
    <p:sldLayoutId id="2147484287" r:id="rId6"/>
    <p:sldLayoutId id="2147484288" r:id="rId7"/>
    <p:sldLayoutId id="2147484289" r:id="rId8"/>
    <p:sldLayoutId id="2147484290" r:id="rId9"/>
    <p:sldLayoutId id="2147484291" r:id="rId10"/>
    <p:sldLayoutId id="2147484292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6">
            <a:extLst>
              <a:ext uri="{FF2B5EF4-FFF2-40B4-BE49-F238E27FC236}">
                <a16:creationId xmlns:a16="http://schemas.microsoft.com/office/drawing/2014/main" id="{0123E5CC-B868-8037-022F-2DF2A6379AB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57BE8D-2583-4C47-8A46-ADB25FB6CE54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5123" name="Rectangle 18">
            <a:extLst>
              <a:ext uri="{FF2B5EF4-FFF2-40B4-BE49-F238E27FC236}">
                <a16:creationId xmlns:a16="http://schemas.microsoft.com/office/drawing/2014/main" id="{0A0C46A7-F4EA-9D88-0E4E-5946CE040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C2E13A-8977-2345-B767-434B39A73338}" type="slidenum">
              <a:rPr lang="en-US" altLang="en-US" sz="12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>
              <a:latin typeface="Arial Black" panose="020B0604020202020204" pitchFamily="34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A3B1D3D0-7E07-83AA-9E64-C0A2019895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Design Patterns</a:t>
            </a:r>
          </a:p>
        </p:txBody>
      </p:sp>
      <p:sp>
        <p:nvSpPr>
          <p:cNvPr id="5125" name="TextBox 4">
            <a:extLst>
              <a:ext uri="{FF2B5EF4-FFF2-40B4-BE49-F238E27FC236}">
                <a16:creationId xmlns:a16="http://schemas.microsoft.com/office/drawing/2014/main" id="{48B7E525-9184-459B-F514-7602B1C0B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00600"/>
            <a:ext cx="7620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Command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2C8C6E2-498F-0D42-A4D5-5649D802E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Agenda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0005BA59-7D54-D431-5A5B-E62B66E2BD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Command Pattern</a:t>
            </a:r>
          </a:p>
          <a:p>
            <a:pPr lvl="1"/>
            <a:r>
              <a:rPr lang="en-US" altLang="en-US"/>
              <a:t>Head First Example (Remote Control)</a:t>
            </a:r>
          </a:p>
          <a:p>
            <a:pPr lvl="1"/>
            <a:r>
              <a:rPr lang="en-US" altLang="en-US"/>
              <a:t>Lab</a:t>
            </a:r>
          </a:p>
          <a:p>
            <a:pPr lvl="1"/>
            <a:r>
              <a:rPr lang="en-US" altLang="en-US"/>
              <a:t>History of Undo Operations</a:t>
            </a:r>
          </a:p>
          <a:p>
            <a:pPr lvl="1"/>
            <a:r>
              <a:rPr lang="en-US" altLang="en-US"/>
              <a:t>Simple Logging</a:t>
            </a:r>
          </a:p>
          <a:p>
            <a:pPr lvl="1"/>
            <a:r>
              <a:rPr lang="en-US" altLang="en-US"/>
              <a:t>Complex Logging</a:t>
            </a:r>
          </a:p>
          <a:p>
            <a:pPr lvl="1"/>
            <a:r>
              <a:rPr lang="en-US" altLang="en-US"/>
              <a:t>Case Study: Command Management</a:t>
            </a:r>
          </a:p>
          <a:p>
            <a:pPr lvl="1"/>
            <a:r>
              <a:rPr lang="en-US" altLang="en-US"/>
              <a:t>Distributed Command Pattern</a:t>
            </a:r>
          </a:p>
          <a:p>
            <a:pPr lvl="1"/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EBE1B42D-94FE-DB1E-2D6E-76DCCA50E2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C9F744-ED0B-D642-8BA0-D9A0C27F9621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7173" name="Date Placeholder 4">
            <a:extLst>
              <a:ext uri="{FF2B5EF4-FFF2-40B4-BE49-F238E27FC236}">
                <a16:creationId xmlns:a16="http://schemas.microsoft.com/office/drawing/2014/main" id="{3BB0752A-BB24-C143-97E1-35FDABADD24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7BD9FA-0D20-AD4F-A0F3-21ABD50A2993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43B50F1-A961-CE46-A637-45AA96163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Remote Control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94668AC4-D48F-01A8-832E-4E0EB76048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en-US" altLang="en-US"/>
              <a:t>Given remote control with seven programmable slots.</a:t>
            </a:r>
          </a:p>
          <a:p>
            <a:endParaRPr lang="en-US" altLang="en-US"/>
          </a:p>
          <a:p>
            <a:r>
              <a:rPr lang="en-US" altLang="en-US"/>
              <a:t>A different device can be put into each slot.</a:t>
            </a:r>
          </a:p>
          <a:p>
            <a:endParaRPr lang="en-US" altLang="en-US"/>
          </a:p>
          <a:p>
            <a:r>
              <a:rPr lang="en-US" altLang="en-US"/>
              <a:t>There is an On and Off switch for each device slot.</a:t>
            </a:r>
          </a:p>
          <a:p>
            <a:endParaRPr lang="en-US" altLang="en-US"/>
          </a:p>
          <a:p>
            <a:r>
              <a:rPr lang="en-US" altLang="en-US"/>
              <a:t>Global Undo button undoes the last button pressed.</a:t>
            </a:r>
          </a:p>
          <a:p>
            <a:endParaRPr lang="en-US" altLang="en-US"/>
          </a:p>
          <a:p>
            <a:r>
              <a:rPr lang="en-US" altLang="en-US"/>
              <a:t>Also given a CD with different vendor classes that have already been written (for the different devices, TV, Light, Sprinkler, etc)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55BFE664-9791-464B-A7F2-5E8A95657C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05B9ED-C392-F648-B017-074ADBC92593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8197" name="Date Placeholder 4">
            <a:extLst>
              <a:ext uri="{FF2B5EF4-FFF2-40B4-BE49-F238E27FC236}">
                <a16:creationId xmlns:a16="http://schemas.microsoft.com/office/drawing/2014/main" id="{31BDE8B0-0312-4AD8-AAB3-E7192E1CCDB1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5A0D30-60CF-0F4E-847D-D6253C897DD3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73879DF-75DF-6A54-E64F-91FF3FB798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First Thoughts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2B31B3C-EC4B-DF38-3969-65A1330C81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We know that there are seven programmable slots for different devices…so each device may possibly adhere to some common interface.</a:t>
            </a:r>
          </a:p>
          <a:p>
            <a:endParaRPr lang="en-US" altLang="en-US"/>
          </a:p>
          <a:p>
            <a:r>
              <a:rPr lang="en-US" altLang="en-US"/>
              <a:t>We know that we need to turn each device “on” or “off”..so that needs to be commonly done for any device.</a:t>
            </a:r>
          </a:p>
          <a:p>
            <a:endParaRPr lang="en-US" altLang="en-US"/>
          </a:p>
          <a:p>
            <a:r>
              <a:rPr lang="en-US" altLang="en-US"/>
              <a:t>Undo needs to work for any device as well.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179306B8-7CF0-5E2B-36A5-E62DB7B19F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357538-A087-DB42-8923-2A083A79A24A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9221" name="Date Placeholder 4">
            <a:extLst>
              <a:ext uri="{FF2B5EF4-FFF2-40B4-BE49-F238E27FC236}">
                <a16:creationId xmlns:a16="http://schemas.microsoft.com/office/drawing/2014/main" id="{89E4D709-5B53-3058-93F6-5BF93EEC30A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0B54BB-E197-CE48-AC21-4BE74E60F6C8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EECF87F-D528-50AC-10A9-1BF0E6058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Varies?  What stays the same?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6F23E0C-DC7C-3DD0-D467-200CF7CD2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495800"/>
          </a:xfrm>
        </p:spPr>
        <p:txBody>
          <a:bodyPr/>
          <a:lstStyle/>
          <a:p>
            <a:r>
              <a:rPr lang="en-US" altLang="en-US"/>
              <a:t>What Varies</a:t>
            </a:r>
          </a:p>
          <a:p>
            <a:pPr lvl="1"/>
            <a:r>
              <a:rPr lang="en-US" altLang="en-US"/>
              <a:t>The actual device assigned to a slot</a:t>
            </a:r>
          </a:p>
          <a:p>
            <a:pPr lvl="1"/>
            <a:r>
              <a:rPr lang="en-US" altLang="en-US"/>
              <a:t>The instruction for “On” on a specific device</a:t>
            </a:r>
          </a:p>
          <a:p>
            <a:pPr lvl="1"/>
            <a:r>
              <a:rPr lang="en-US" altLang="en-US"/>
              <a:t>The instruction for “Off” on a specific device</a:t>
            </a:r>
          </a:p>
          <a:p>
            <a:pPr lvl="1"/>
            <a:endParaRPr lang="en-US" altLang="en-US"/>
          </a:p>
          <a:p>
            <a:r>
              <a:rPr lang="en-US" altLang="en-US"/>
              <a:t>What Stays the Same</a:t>
            </a:r>
          </a:p>
          <a:p>
            <a:pPr lvl="1"/>
            <a:r>
              <a:rPr lang="en-US" altLang="en-US"/>
              <a:t>Device with seven slots</a:t>
            </a:r>
          </a:p>
          <a:p>
            <a:pPr lvl="1"/>
            <a:r>
              <a:rPr lang="en-US" altLang="en-US"/>
              <a:t>Capability to assign a slot to a device</a:t>
            </a:r>
          </a:p>
          <a:p>
            <a:pPr lvl="1"/>
            <a:r>
              <a:rPr lang="en-US" altLang="en-US"/>
              <a:t>Capability to request that a device turn On or Off</a:t>
            </a:r>
          </a:p>
          <a:p>
            <a:pPr lvl="1"/>
            <a:r>
              <a:rPr lang="en-US" altLang="en-US"/>
              <a:t>Capability to undo the last action requested against the device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E3A287F8-CBAA-0C20-7D17-C7013B9E49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738E00-C06D-694C-8F65-328C954FB8E7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0245" name="Date Placeholder 4">
            <a:extLst>
              <a:ext uri="{FF2B5EF4-FFF2-40B4-BE49-F238E27FC236}">
                <a16:creationId xmlns:a16="http://schemas.microsoft.com/office/drawing/2014/main" id="{460E1C2C-460A-CCA9-C324-BC8C28747169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087EB0-4ADC-2140-9257-02EC8980F3B2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DBCFC27-1DB0-6743-F261-92A7E4BB0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Vendor Classes (pg 194)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C47AFFCD-1A3C-944F-61EC-F423B70211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r>
              <a:rPr lang="en-US" altLang="en-US"/>
              <a:t>Vendor classes have been provided to us via a CD.</a:t>
            </a:r>
          </a:p>
          <a:p>
            <a:pPr lvl="1"/>
            <a:r>
              <a:rPr lang="en-US" altLang="en-US"/>
              <a:t>Ceiling Light </a:t>
            </a:r>
          </a:p>
          <a:p>
            <a:pPr lvl="1"/>
            <a:r>
              <a:rPr lang="en-US" altLang="en-US"/>
              <a:t>TV</a:t>
            </a:r>
          </a:p>
          <a:p>
            <a:pPr lvl="1"/>
            <a:r>
              <a:rPr lang="en-US" altLang="en-US"/>
              <a:t>Hottub</a:t>
            </a:r>
          </a:p>
          <a:p>
            <a:pPr lvl="1"/>
            <a:endParaRPr lang="en-US" altLang="en-US"/>
          </a:p>
          <a:p>
            <a:r>
              <a:rPr lang="en-US" altLang="en-US"/>
              <a:t>We know that each device needs an “On” or “Off” state. </a:t>
            </a:r>
          </a:p>
          <a:p>
            <a:pPr lvl="1"/>
            <a:r>
              <a:rPr lang="en-US" altLang="en-US"/>
              <a:t>Since the capability to turn a device “On” or “Off” is something that “stays the same”.</a:t>
            </a:r>
          </a:p>
          <a:p>
            <a:pPr lvl="1"/>
            <a:r>
              <a:rPr lang="en-US" altLang="en-US"/>
              <a:t>However, each vendor class has their own unique way of doing “On” or “Off”.</a:t>
            </a:r>
          </a:p>
          <a:p>
            <a:pPr lvl="1"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B254A9E0-E020-8465-5568-A167B8557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FCF3C2-D50B-A94D-886D-4A3581550291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1269" name="Date Placeholder 4">
            <a:extLst>
              <a:ext uri="{FF2B5EF4-FFF2-40B4-BE49-F238E27FC236}">
                <a16:creationId xmlns:a16="http://schemas.microsoft.com/office/drawing/2014/main" id="{C87CFE57-4865-5D25-F864-BE70A8D963E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EDD2B3-11D3-9B4A-811B-0A2DFB295F20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ECAD98D-C6C0-313B-A552-C0816DC55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One possible solution…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56B92C20-D19F-1DE9-AF5D-3A8DF1C664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4419600" cy="4495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if (slot1 == Light)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light.on();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Else if (slot1 == Hottub)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hottub.prepareJets();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hottub.jetsOn();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} Else if (slot1 == TV)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tv.on();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9B152FE4-98AE-C9D7-FD47-A2F276C0F9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74300C-F13B-5544-B6E8-049FE507AFF4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2293" name="Date Placeholder 4">
            <a:extLst>
              <a:ext uri="{FF2B5EF4-FFF2-40B4-BE49-F238E27FC236}">
                <a16:creationId xmlns:a16="http://schemas.microsoft.com/office/drawing/2014/main" id="{033A731F-29F9-A15F-E7F3-9AA2FDDFD46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7E6C5C-3AE3-A944-AD1C-C983C7B19EE0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12294" name="TextBox 5">
            <a:extLst>
              <a:ext uri="{FF2B5EF4-FFF2-40B4-BE49-F238E27FC236}">
                <a16:creationId xmlns:a16="http://schemas.microsoft.com/office/drawing/2014/main" id="{B8690EA8-4704-CAE6-12DF-F6D97C3BA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447800"/>
            <a:ext cx="3276600" cy="4524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/>
              <a:t>Problems: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Remote needs to be aware of all the details about turning a device on (or off).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If device On/Off mechanism changes, the Remote code will need to be changed.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If a new device is added, this code would need to be changed.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Is this Open for Extension??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5" name="TextBox 6">
            <a:extLst>
              <a:ext uri="{FF2B5EF4-FFF2-40B4-BE49-F238E27FC236}">
                <a16:creationId xmlns:a16="http://schemas.microsoft.com/office/drawing/2014/main" id="{ACB693B3-B1AC-79AA-D83A-9947765EF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335713"/>
            <a:ext cx="3581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Also…what about undo????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8730F514-C358-5D14-77F1-688728078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Separation of Concerns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810FA69-E426-944F-8C30-74A5954CEA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r>
              <a:rPr lang="en-US" altLang="en-US"/>
              <a:t>The Vendor Class</a:t>
            </a:r>
          </a:p>
          <a:p>
            <a:pPr lvl="1"/>
            <a:r>
              <a:rPr lang="en-US" altLang="en-US"/>
              <a:t>One (or more) methods that define “On”</a:t>
            </a:r>
          </a:p>
          <a:p>
            <a:pPr lvl="1"/>
            <a:r>
              <a:rPr lang="en-US" altLang="en-US"/>
              <a:t>One (or more) methods that define “Off”</a:t>
            </a:r>
          </a:p>
          <a:p>
            <a:pPr lvl="1"/>
            <a:endParaRPr lang="en-US" altLang="en-US"/>
          </a:p>
          <a:p>
            <a:r>
              <a:rPr lang="en-US" altLang="en-US"/>
              <a:t>The Command</a:t>
            </a:r>
          </a:p>
          <a:p>
            <a:pPr lvl="1"/>
            <a:r>
              <a:rPr lang="en-US" altLang="en-US"/>
              <a:t>Sends a message to a device (On or Off)</a:t>
            </a:r>
          </a:p>
          <a:p>
            <a:pPr lvl="1"/>
            <a:r>
              <a:rPr lang="en-US" altLang="en-US"/>
              <a:t>Handle the undo of a message</a:t>
            </a:r>
          </a:p>
          <a:p>
            <a:pPr lvl="1"/>
            <a:r>
              <a:rPr lang="en-US" altLang="en-US"/>
              <a:t>Possible future enhancements</a:t>
            </a:r>
          </a:p>
          <a:p>
            <a:pPr lvl="2"/>
            <a:r>
              <a:rPr lang="en-US" altLang="en-US" sz="2000"/>
              <a:t>Logging request</a:t>
            </a:r>
          </a:p>
          <a:p>
            <a:pPr lvl="2"/>
            <a:r>
              <a:rPr lang="en-US" altLang="en-US" sz="2000"/>
              <a:t>Queue request</a:t>
            </a:r>
          </a:p>
          <a:p>
            <a:pPr lvl="2"/>
            <a:endParaRPr lang="en-US" altLang="en-US" sz="2000"/>
          </a:p>
          <a:p>
            <a:r>
              <a:rPr lang="en-US" altLang="en-US"/>
              <a:t>The Remote – handles one or more Commands.  The Remote doesn’t know anything about the actual vendor class specifics.</a:t>
            </a:r>
          </a:p>
          <a:p>
            <a:pPr lvl="1"/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B35ECF9A-B2BC-5E1D-EC74-0E4E8E13C5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1D5801-DE4B-7C46-8E18-28887DA55A76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3317" name="Date Placeholder 4">
            <a:extLst>
              <a:ext uri="{FF2B5EF4-FFF2-40B4-BE49-F238E27FC236}">
                <a16:creationId xmlns:a16="http://schemas.microsoft.com/office/drawing/2014/main" id="{589CA122-101D-20B6-C0E2-2B3A15F948AF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EDE900-2CBC-684D-B0E9-D44D69F11C3D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CC900AE-10A1-6D6C-D0FC-02AED3F484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Command Pattern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0BBE0B9-6D5C-5110-A450-6AC93FEF88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“Allows you to decouple the requestor of the action from the object that performs the action.”</a:t>
            </a:r>
          </a:p>
          <a:p>
            <a:endParaRPr lang="en-US" altLang="en-US"/>
          </a:p>
          <a:p>
            <a:r>
              <a:rPr lang="en-US" altLang="en-US"/>
              <a:t>“A Command object encapsulates a request to do something.”</a:t>
            </a:r>
          </a:p>
          <a:p>
            <a:endParaRPr lang="en-US" altLang="en-US"/>
          </a:p>
          <a:p>
            <a:pPr lvl="1"/>
            <a:r>
              <a:rPr lang="en-US" altLang="en-US"/>
              <a:t>Note: A Command object handles a single request.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6552F9DE-A28C-4B8A-3985-6CDCAF8431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76DEFB-2CCD-C64B-9BCD-2123F3B67948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4341" name="Date Placeholder 4">
            <a:extLst>
              <a:ext uri="{FF2B5EF4-FFF2-40B4-BE49-F238E27FC236}">
                <a16:creationId xmlns:a16="http://schemas.microsoft.com/office/drawing/2014/main" id="{A558CBB2-EA49-FC00-0A10-0334206ED0B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23C19A-29AD-384B-9397-A82DCB6AFF88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14C6A79A-9CE4-BF4A-27D7-EEDFEF915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Interface (pg203)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445565A9-2514-E4AA-264F-D922D54C14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public interface Command {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public void 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/>
              <a:t>The Command interface (in this example) just does one thing..executes a command.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53D8F22A-398E-ACEE-F763-FAA8865213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E3514E-0C1D-3645-82BE-17C1ADADCB6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5365" name="Date Placeholder 4">
            <a:extLst>
              <a:ext uri="{FF2B5EF4-FFF2-40B4-BE49-F238E27FC236}">
                <a16:creationId xmlns:a16="http://schemas.microsoft.com/office/drawing/2014/main" id="{889FFC7A-3CFB-47F5-6CD2-D078A16FDA9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xfrm>
            <a:off x="457200" y="63055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16DCEA-ECFA-0B49-AB3F-D6CEAB172E7E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1F60CCD9-09F1-CF94-A302-32BD95B2B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LightOnCommand (pg203)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12CCC0C-482B-8984-4FCE-19D02D216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public class LightOnCommand implements Command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Light light;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public LightOnCommand(Light light)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this.light = light;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public void execute()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light.on();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C908F220-4401-792B-288D-BDF11AA5B8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6E7142-62F7-214C-9199-0CF7BEF75BC5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6389" name="Date Placeholder 4">
            <a:extLst>
              <a:ext uri="{FF2B5EF4-FFF2-40B4-BE49-F238E27FC236}">
                <a16:creationId xmlns:a16="http://schemas.microsoft.com/office/drawing/2014/main" id="{0DC96137-AD9D-5547-85A6-D7F83CD88962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8556A9-DBF6-7741-9DA9-406C1274A574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16390" name="TextBox 5">
            <a:extLst>
              <a:ext uri="{FF2B5EF4-FFF2-40B4-BE49-F238E27FC236}">
                <a16:creationId xmlns:a16="http://schemas.microsoft.com/office/drawing/2014/main" id="{DF958AED-49B9-CD0C-23A1-010E0ABD0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52600"/>
            <a:ext cx="26670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command is composed of a vendor class.</a:t>
            </a:r>
          </a:p>
        </p:txBody>
      </p:sp>
      <p:cxnSp>
        <p:nvCxnSpPr>
          <p:cNvPr id="16391" name="Straight Arrow Connector 7">
            <a:extLst>
              <a:ext uri="{FF2B5EF4-FFF2-40B4-BE49-F238E27FC236}">
                <a16:creationId xmlns:a16="http://schemas.microsoft.com/office/drawing/2014/main" id="{FE21100C-EF1C-6A2B-D811-9F33057585A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2819400" y="2057400"/>
            <a:ext cx="342900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2" name="TextBox 8">
            <a:extLst>
              <a:ext uri="{FF2B5EF4-FFF2-40B4-BE49-F238E27FC236}">
                <a16:creationId xmlns:a16="http://schemas.microsoft.com/office/drawing/2014/main" id="{DAAC4AF1-35C5-F60A-300D-E8143EBB8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200400"/>
            <a:ext cx="25908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Constructor  takes the vendor class as parameter.</a:t>
            </a:r>
          </a:p>
        </p:txBody>
      </p:sp>
      <p:cxnSp>
        <p:nvCxnSpPr>
          <p:cNvPr id="16393" name="Straight Arrow Connector 10">
            <a:extLst>
              <a:ext uri="{FF2B5EF4-FFF2-40B4-BE49-F238E27FC236}">
                <a16:creationId xmlns:a16="http://schemas.microsoft.com/office/drawing/2014/main" id="{53103D35-5B78-E6DA-3E4F-3472228A22D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257800" y="2971800"/>
            <a:ext cx="9906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4" name="TextBox 12">
            <a:extLst>
              <a:ext uri="{FF2B5EF4-FFF2-40B4-BE49-F238E27FC236}">
                <a16:creationId xmlns:a16="http://schemas.microsoft.com/office/drawing/2014/main" id="{9D7EB392-E6BF-F19A-A1AC-24B56569C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105400"/>
            <a:ext cx="3352800" cy="147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Here the command  delegates execution to the vendor class.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/>
              <a:t>Note</a:t>
            </a:r>
            <a:r>
              <a:rPr lang="en-US" altLang="en-US" sz="1800"/>
              <a:t>: This is a simple example..there could be more steps. </a:t>
            </a:r>
          </a:p>
        </p:txBody>
      </p:sp>
      <p:cxnSp>
        <p:nvCxnSpPr>
          <p:cNvPr id="16395" name="Straight Arrow Connector 14">
            <a:extLst>
              <a:ext uri="{FF2B5EF4-FFF2-40B4-BE49-F238E27FC236}">
                <a16:creationId xmlns:a16="http://schemas.microsoft.com/office/drawing/2014/main" id="{A2477096-153E-FD79-D190-205B0CDDB69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3505200" y="4724400"/>
            <a:ext cx="12192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65C6E6C-5FBD-A15A-9A64-CCCEEC89B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SimpleRemoteControl (pg204)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4C68B35-0D29-B524-0298-EC10EB3945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class SimpleRemoteControl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Command slot;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SimpleRemoteControl() {}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void setCommand(Command command)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slot = command;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void buttonWasPressed()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slot.execute();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1D697B68-37A3-B44C-225B-5041E609A2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29F15C-F175-F247-9798-0290CFB4E754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7413" name="Date Placeholder 4">
            <a:extLst>
              <a:ext uri="{FF2B5EF4-FFF2-40B4-BE49-F238E27FC236}">
                <a16:creationId xmlns:a16="http://schemas.microsoft.com/office/drawing/2014/main" id="{B0FFBAD9-9A87-40D1-6E28-C3E5D35F050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D533F7-666F-3544-B0DE-F52AF8E30E4F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17414" name="TextBox 5">
            <a:extLst>
              <a:ext uri="{FF2B5EF4-FFF2-40B4-BE49-F238E27FC236}">
                <a16:creationId xmlns:a16="http://schemas.microsoft.com/office/drawing/2014/main" id="{02649E8F-BFEB-966D-D3D2-DB21A4379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447800"/>
            <a:ext cx="24384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This version of the remote just has one slot.</a:t>
            </a:r>
          </a:p>
        </p:txBody>
      </p:sp>
      <p:cxnSp>
        <p:nvCxnSpPr>
          <p:cNvPr id="17415" name="Straight Arrow Connector 7">
            <a:extLst>
              <a:ext uri="{FF2B5EF4-FFF2-40B4-BE49-F238E27FC236}">
                <a16:creationId xmlns:a16="http://schemas.microsoft.com/office/drawing/2014/main" id="{9B141D01-9D3B-E9E7-BD1D-226164EC837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895600" y="2133600"/>
            <a:ext cx="29718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6" name="TextBox 8">
            <a:extLst>
              <a:ext uri="{FF2B5EF4-FFF2-40B4-BE49-F238E27FC236}">
                <a16:creationId xmlns:a16="http://schemas.microsoft.com/office/drawing/2014/main" id="{8A08464A-B249-7FC5-5DB5-31C7D5483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276600"/>
            <a:ext cx="23622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setCommand assigns a Command to a slot.</a:t>
            </a:r>
          </a:p>
        </p:txBody>
      </p:sp>
      <p:cxnSp>
        <p:nvCxnSpPr>
          <p:cNvPr id="17417" name="Straight Arrow Connector 12">
            <a:extLst>
              <a:ext uri="{FF2B5EF4-FFF2-40B4-BE49-F238E27FC236}">
                <a16:creationId xmlns:a16="http://schemas.microsoft.com/office/drawing/2014/main" id="{7D23BF72-2505-D694-3399-3D3652D2F59B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181600" y="3581400"/>
            <a:ext cx="12192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8" name="Straight Arrow Connector 14">
            <a:extLst>
              <a:ext uri="{FF2B5EF4-FFF2-40B4-BE49-F238E27FC236}">
                <a16:creationId xmlns:a16="http://schemas.microsoft.com/office/drawing/2014/main" id="{55141DC8-E4AE-8EB1-0D4C-13352AB4846B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724400" y="4876800"/>
            <a:ext cx="1371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9" name="TextBox 15">
            <a:extLst>
              <a:ext uri="{FF2B5EF4-FFF2-40B4-BE49-F238E27FC236}">
                <a16:creationId xmlns:a16="http://schemas.microsoft.com/office/drawing/2014/main" id="{E5DDC5AE-6134-4144-72BF-16D8BB9F2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572000"/>
            <a:ext cx="2590800" cy="20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Tells the command to execute. Note that any command would work here.  The remote doesn’t know anything about the specific vendor class.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A6A6F2C7-04F4-50B2-D8F8-F682AF91C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RemoteControlTest (pg204)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CAC86598-8FAB-F18B-EC22-CB903224E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7696200" cy="5257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SimpleRemoteControl remote = new SimpleRemoteControl();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Light light = new Light();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GarageDoor garageDoor = new GarageDoor();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LightOnCommand lightOn =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new LightOnCommand(light);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GarageDoorOpenCommand garageOpen =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    new GarageDoorOpenCommand(garageDoor);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remote.setCommand(lightOn);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remote.buttonWasPressed();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remote.setCommand(garageOpen);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remote.buttonWasPressed();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D5447E0C-BF5D-F4D4-598B-38775BCA58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612CD3-9BA5-5C4A-9809-4C71945BFD08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8437" name="Date Placeholder 4">
            <a:extLst>
              <a:ext uri="{FF2B5EF4-FFF2-40B4-BE49-F238E27FC236}">
                <a16:creationId xmlns:a16="http://schemas.microsoft.com/office/drawing/2014/main" id="{D33850EF-35CD-5DC0-7067-27F64680956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CBBAEE-693F-5142-B1D7-7181A68DB66F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18438" name="TextBox 6">
            <a:extLst>
              <a:ext uri="{FF2B5EF4-FFF2-40B4-BE49-F238E27FC236}">
                <a16:creationId xmlns:a16="http://schemas.microsoft.com/office/drawing/2014/main" id="{45EED422-E0D4-FEAF-1EF0-532632747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286000"/>
            <a:ext cx="22860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Create two vendor classes.</a:t>
            </a:r>
          </a:p>
        </p:txBody>
      </p:sp>
      <p:sp>
        <p:nvSpPr>
          <p:cNvPr id="18439" name="TextBox 7">
            <a:extLst>
              <a:ext uri="{FF2B5EF4-FFF2-40B4-BE49-F238E27FC236}">
                <a16:creationId xmlns:a16="http://schemas.microsoft.com/office/drawing/2014/main" id="{DB7FF057-65EB-06EA-1969-06C62519A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429000"/>
            <a:ext cx="25146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Create two commands based on these vendor classes.</a:t>
            </a:r>
          </a:p>
        </p:txBody>
      </p:sp>
      <p:sp>
        <p:nvSpPr>
          <p:cNvPr id="18440" name="TextBox 8">
            <a:extLst>
              <a:ext uri="{FF2B5EF4-FFF2-40B4-BE49-F238E27FC236}">
                <a16:creationId xmlns:a16="http://schemas.microsoft.com/office/drawing/2014/main" id="{928EB85C-CEAB-66F9-996A-F99D913C4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257800"/>
            <a:ext cx="35814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 the command and press button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53DC33A9-DEEC-8010-0ADD-EE5FE5E3D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Command Pattern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03EE3346-80F8-B1A7-463B-F19BB412E6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GoF Intent: “Encapsulates a request as an object, thereby letting you parameterize other objects with different requests, queue or log requests, and support undoable operations.”</a:t>
            </a:r>
          </a:p>
          <a:p>
            <a:endParaRPr lang="en-US" altLang="en-US"/>
          </a:p>
          <a:p>
            <a:r>
              <a:rPr lang="en-US" altLang="en-US"/>
              <a:t>See diagrams on pg 206</a:t>
            </a:r>
          </a:p>
          <a:p>
            <a:pPr lvl="1"/>
            <a:r>
              <a:rPr lang="en-US" altLang="en-US"/>
              <a:t>Command encapsulates a Receiver object</a:t>
            </a:r>
          </a:p>
          <a:p>
            <a:pPr lvl="1"/>
            <a:r>
              <a:rPr lang="en-US" altLang="en-US"/>
              <a:t>Different commands can fit into a Remote Slot (which exists in the Remote Control)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0886DB4-14D0-42D1-4676-F9576143F6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ECE3A1-D0E5-B749-9AF2-6D12EA81C6AA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19461" name="Date Placeholder 4">
            <a:extLst>
              <a:ext uri="{FF2B5EF4-FFF2-40B4-BE49-F238E27FC236}">
                <a16:creationId xmlns:a16="http://schemas.microsoft.com/office/drawing/2014/main" id="{8B4ED27E-790C-63D6-C039-471C30A665B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7D0F6C-F270-634F-BFFC-D14056AD33E1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FD92245-9FE6-B231-B5A0-C066A62C7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51580096-90A7-5659-3830-27B073E4C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8C12EB-2FB3-2C49-AA65-C333EBD065EF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0485" name="Date Placeholder 4">
            <a:extLst>
              <a:ext uri="{FF2B5EF4-FFF2-40B4-BE49-F238E27FC236}">
                <a16:creationId xmlns:a16="http://schemas.microsoft.com/office/drawing/2014/main" id="{7E187339-7687-C042-CB1B-F711D383FC7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6F1BF5-EA10-2B42-A9B5-1D73842BE691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4" name="Content Placeholder 3" descr="A diagram of a command pattern&#10;&#10;Description automatically generated">
            <a:extLst>
              <a:ext uri="{FF2B5EF4-FFF2-40B4-BE49-F238E27FC236}">
                <a16:creationId xmlns:a16="http://schemas.microsoft.com/office/drawing/2014/main" id="{294D7A6E-1129-7157-5A14-758E35FEA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06" y="1371600"/>
            <a:ext cx="5252987" cy="44958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1F840C8C-56AE-6FD6-8574-7B9843628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Definitions (see Diagram on pg 207)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E2B0CF5A-B4F3-8911-4417-8C88C13D82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229600" cy="5715000"/>
          </a:xfrm>
        </p:spPr>
        <p:txBody>
          <a:bodyPr/>
          <a:lstStyle/>
          <a:p>
            <a:r>
              <a:rPr lang="en-US" altLang="en-US"/>
              <a:t>Client (RemoteControlTest) – creates command and associates command with receiver.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r>
              <a:rPr lang="en-US" altLang="en-US"/>
              <a:t>Receiver (TV, HotTub, ec)– knows how to perform the work.</a:t>
            </a:r>
          </a:p>
          <a:p>
            <a:endParaRPr lang="en-US" altLang="en-US"/>
          </a:p>
          <a:p>
            <a:r>
              <a:rPr lang="en-US" altLang="en-US"/>
              <a:t>Concrete Command (LightOnCommand) - implementation of Command interface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r>
              <a:rPr lang="en-US" altLang="en-US"/>
              <a:t>Command Interface – defines interface for all commands.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r>
              <a:rPr lang="en-US" altLang="en-US"/>
              <a:t>Invoker (Remote Control) – holds reference to a command and calls execute() method against it.</a:t>
            </a:r>
          </a:p>
          <a:p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FDDBDB65-31A1-09A8-8FDA-E5AC92F77C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A284AA-FC20-7D4A-9D71-354AA16637AA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95CFF430-7F9E-3960-6CEA-BB185121E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5C8CB3F-B77D-1298-EDA3-014C737F6B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We get a new vendor class for DVD.  To turn on the DVD, call the function TurnPowerOn().  To turn off, you call TurnPowerOff().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Create an On and Off command object for the DVD player.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0F5ECA54-AB05-141D-7AB2-C20F90860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F3F506-EC0E-5741-A0D4-908677E3DB7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2533" name="Date Placeholder 4">
            <a:extLst>
              <a:ext uri="{FF2B5EF4-FFF2-40B4-BE49-F238E27FC236}">
                <a16:creationId xmlns:a16="http://schemas.microsoft.com/office/drawing/2014/main" id="{ADF6E33A-76CF-8272-3797-584C2C13FA97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F9623C-DBCC-AB4E-81E7-49A479D14B03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22534" name="Picture 3">
            <a:extLst>
              <a:ext uri="{FF2B5EF4-FFF2-40B4-BE49-F238E27FC236}">
                <a16:creationId xmlns:a16="http://schemas.microsoft.com/office/drawing/2014/main" id="{CB4761EE-131C-BF3E-0B3B-076B2CD49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19400"/>
            <a:ext cx="2667000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E709FE03-606F-96DF-36C6-610F0BBB4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II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BAC8138A-A7C4-C7ED-DACB-CAB2FC63D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customer wants to be able to turn the DVD and TV on (and off) at the same time.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r>
              <a:rPr lang="en-US" altLang="en-US"/>
              <a:t>Create a command that will set up the DVD and TV with one button click.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5431F85-A680-04C4-C76E-6BD2E9BFD5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54A202-F6F5-334B-9BA3-39054CCE783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3557" name="Date Placeholder 4">
            <a:extLst>
              <a:ext uri="{FF2B5EF4-FFF2-40B4-BE49-F238E27FC236}">
                <a16:creationId xmlns:a16="http://schemas.microsoft.com/office/drawing/2014/main" id="{D8B14ABC-D396-8CD1-F003-EBB9DB094FC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663E60-B514-AF42-AC4B-3FE24FAF54EB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23558" name="Picture 3">
            <a:extLst>
              <a:ext uri="{FF2B5EF4-FFF2-40B4-BE49-F238E27FC236}">
                <a16:creationId xmlns:a16="http://schemas.microsoft.com/office/drawing/2014/main" id="{E3C7C26A-FA53-9172-51BB-E582277FC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362200"/>
            <a:ext cx="29241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CB6D88B7-C3D7-680F-93AD-891804AE2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III (Design Challenge!)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2984637D-0D44-DA2E-AA6F-2B95CB45FE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382000" cy="4495800"/>
          </a:xfrm>
        </p:spPr>
        <p:txBody>
          <a:bodyPr/>
          <a:lstStyle/>
          <a:p>
            <a:r>
              <a:rPr lang="en-US" altLang="en-US"/>
              <a:t>Look at the LightOnCommand and LightOffCommand on pg 217.</a:t>
            </a:r>
          </a:p>
          <a:p>
            <a:endParaRPr lang="en-US" altLang="en-US"/>
          </a:p>
          <a:p>
            <a:r>
              <a:rPr lang="en-US" altLang="en-US"/>
              <a:t>Note that there is a duplication of code between these two objects.</a:t>
            </a:r>
          </a:p>
          <a:p>
            <a:endParaRPr lang="en-US" altLang="en-US"/>
          </a:p>
          <a:p>
            <a:r>
              <a:rPr lang="en-US" altLang="en-US"/>
              <a:t>Can you create an </a:t>
            </a:r>
            <a:r>
              <a:rPr lang="en-US" altLang="en-US" i="1"/>
              <a:t>abstract class </a:t>
            </a:r>
            <a:r>
              <a:rPr lang="en-US" altLang="en-US"/>
              <a:t>called Command that can help remove this duplication of code…and yet support Undo??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C9B9890-ECF8-8689-65E9-72F5A1603D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596F46-7ECC-984B-BD04-3A052EB28017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4581" name="Date Placeholder 4">
            <a:extLst>
              <a:ext uri="{FF2B5EF4-FFF2-40B4-BE49-F238E27FC236}">
                <a16:creationId xmlns:a16="http://schemas.microsoft.com/office/drawing/2014/main" id="{ABA372D1-B059-8EFF-275C-0BAAB5675731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3CAC14-1338-ED4F-8653-B8DD2035E601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58777491-06B7-A4E7-C8AC-711DCF068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 Answer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4937A084-06DC-1285-4080-5841606B38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public class DVDOnCommand : Command {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     DVD dvd;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public DVDOnCommand(DVD d)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   this.dvd = d;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public void execute()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   dvd.TurnPowerOn();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3225EF72-7ABB-F5DD-2FB0-68805ACC19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CCDB1A-9639-3242-A163-E363C7C47BA5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5605" name="Date Placeholder 4">
            <a:extLst>
              <a:ext uri="{FF2B5EF4-FFF2-40B4-BE49-F238E27FC236}">
                <a16:creationId xmlns:a16="http://schemas.microsoft.com/office/drawing/2014/main" id="{644A21B9-8F2E-C81D-28F7-A7F8BCE9BA02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471F29-CFB5-664A-89BD-20B8054E06A5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82DCFA5-2D2D-1D78-C0D3-286B058F8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 Answer (cont)</a:t>
            </a:r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B9B6A219-4330-6D15-09D5-A1F21532B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413763-58ED-D14D-AFAA-F4A4FE3B373A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6628" name="Date Placeholder 4">
            <a:extLst>
              <a:ext uri="{FF2B5EF4-FFF2-40B4-BE49-F238E27FC236}">
                <a16:creationId xmlns:a16="http://schemas.microsoft.com/office/drawing/2014/main" id="{FF8274A4-38EF-BF7A-8E75-DC2C4A24F32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40C9F6-75B3-374B-B1B0-EE967E6B182D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26629" name="Content Placeholder 2">
            <a:extLst>
              <a:ext uri="{FF2B5EF4-FFF2-40B4-BE49-F238E27FC236}">
                <a16:creationId xmlns:a16="http://schemas.microsoft.com/office/drawing/2014/main" id="{60FC72FE-BBFF-3AB9-7C97-7678818CA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public class DVDOffCommand : Command {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     DVD dvd;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public DVDOffCommand(DVD d)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   this.dvd = d;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public void execute()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    dvd.TurnPowerOff();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7941E3B7-9E96-1464-8BFA-A82DD90F0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II   Answer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68A00C94-B5FA-1256-DAEA-83692F173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public class DVDTvOnCommand : Command  {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DVD dvd;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TV tv;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public DVDTvOnCommand(DVD d, TV t)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this.dvd = d;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this.tv = t;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public void execute()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tv.on();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tv.changeInputToDvd();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dvd.TurnPowerOn();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C22CC708-6E09-66BC-E98A-148E53B52A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0BD25C-0622-4F4D-A0C9-D9991393D534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7653" name="Date Placeholder 4">
            <a:extLst>
              <a:ext uri="{FF2B5EF4-FFF2-40B4-BE49-F238E27FC236}">
                <a16:creationId xmlns:a16="http://schemas.microsoft.com/office/drawing/2014/main" id="{709EFB86-647F-8331-3163-EA9BCC04428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B59948-4AD4-6448-AC52-C76D42D171F1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FCDAB5F-C5A5-AF2B-5B7D-F66806466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III (Answer)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F7CF891C-E747-AF44-DF7C-CE9ED6E89C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public enum CommandState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NOTSET,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ON,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OFF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16AF8180-3470-9D0A-9218-24DF5682F7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9997F7-C43B-E541-9322-E65D75C03E1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8677" name="Date Placeholder 4">
            <a:extLst>
              <a:ext uri="{FF2B5EF4-FFF2-40B4-BE49-F238E27FC236}">
                <a16:creationId xmlns:a16="http://schemas.microsoft.com/office/drawing/2014/main" id="{E788B779-24ED-E92A-1DBC-189BFE25D68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C57793-B3C3-6745-B3B2-54211719D032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B14DA37-3578-173A-64FD-AD2E39895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III (Answer)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F8F74C9-D454-1A01-A7B6-9406484A63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public abstract class CommandBase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CommandState state;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public CommandBase()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 state = CommandState.NOTSET;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  abstract protected void executeOn();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abstract protected void executeOff();</a:t>
            </a: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1EC79FC8-BAEB-096C-7ACC-5CF2D22172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FB6749-12D1-DF44-ADF4-DC3303EB001D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29701" name="Date Placeholder 4">
            <a:extLst>
              <a:ext uri="{FF2B5EF4-FFF2-40B4-BE49-F238E27FC236}">
                <a16:creationId xmlns:a16="http://schemas.microsoft.com/office/drawing/2014/main" id="{804CC90E-12FB-E8A0-FCA4-B3059B9BF909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5A6249-957B-2243-A776-AD1037B0FF26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AA787D76-0BB9-F5DD-A2AD-717EB93F29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609600"/>
            <a:ext cx="8229600" cy="5791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void on()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       state = CommandState.ON;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	  executeOn();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public void off()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state = CommandState.OFF;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executeOff();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public void undo()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    if (state == CommandState.ON)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off();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else if (state == CommandState.OFF)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on();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else if (state == CommandState.NOTSET)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//do nothing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</p:txBody>
      </p:sp>
      <p:sp>
        <p:nvSpPr>
          <p:cNvPr id="30723" name="Slide Number Placeholder 3">
            <a:extLst>
              <a:ext uri="{FF2B5EF4-FFF2-40B4-BE49-F238E27FC236}">
                <a16:creationId xmlns:a16="http://schemas.microsoft.com/office/drawing/2014/main" id="{56FF2C29-C43D-499F-C1BC-C08B36BC0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A91C9A-71EA-044B-A7B6-A5BE396AB5A1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0724" name="TextBox 3">
            <a:extLst>
              <a:ext uri="{FF2B5EF4-FFF2-40B4-BE49-F238E27FC236}">
                <a16:creationId xmlns:a16="http://schemas.microsoft.com/office/drawing/2014/main" id="{B9EB5878-E444-3E0B-B964-8794EDA1E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990600"/>
            <a:ext cx="32004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We don’t want on(), off(), and undo() to be overridden.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32D08576-0E70-3898-6B2B-B58804BC0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III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F0DACEF4-CF95-4C5D-0907-3E553B51FB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public class LightCommand : CommandBase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{       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Light light;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public LightCommand(Light l)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this.light = l;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protected override void executeOn()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light.on();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protected override void executeOff()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light.off();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20E1A852-8880-309D-B5A0-23F83C4F8F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2DCC4D-6C41-6847-8950-0CEA9BAC260C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1749" name="Date Placeholder 4">
            <a:extLst>
              <a:ext uri="{FF2B5EF4-FFF2-40B4-BE49-F238E27FC236}">
                <a16:creationId xmlns:a16="http://schemas.microsoft.com/office/drawing/2014/main" id="{A5A4F0F9-5DA5-8176-3D94-C8E2282D071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D38FD5-C3F1-8A4F-8DE7-1C58DB5C3F38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8C7B4B65-3CEF-E27E-B564-D099116AE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 Part III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0007369C-1DA8-83CF-95E1-62EFDDB55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/>
              <a:t>The client that calls this code…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CommandBase c = new LightCommand(new Light());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c.on();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c.undo();</a:t>
            </a: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FEFAA77B-9E3B-5E3F-A896-DCB0ACE88D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5D9E5E-B289-CD4D-8ECF-85933BA37281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2773" name="Date Placeholder 4">
            <a:extLst>
              <a:ext uri="{FF2B5EF4-FFF2-40B4-BE49-F238E27FC236}">
                <a16:creationId xmlns:a16="http://schemas.microsoft.com/office/drawing/2014/main" id="{84004AD7-053E-5C7A-AD1C-99D008A1E59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FCCC1F-06B9-C448-836D-425131BA0B0A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AA0ECCAB-A503-32C7-66D6-29B6375BF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Undo Operations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091307F4-F3A6-6337-0F44-BDBB83151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229600" cy="5105400"/>
          </a:xfrm>
        </p:spPr>
        <p:txBody>
          <a:bodyPr/>
          <a:lstStyle/>
          <a:p>
            <a:r>
              <a:rPr lang="en-US" altLang="en-US"/>
              <a:t>If the Undo button is pressed multiple times, we want to undo each command that had been previously applied.</a:t>
            </a:r>
          </a:p>
          <a:p>
            <a:endParaRPr lang="en-US" altLang="en-US"/>
          </a:p>
          <a:p>
            <a:r>
              <a:rPr lang="en-US" altLang="en-US"/>
              <a:t>Which object should we enhance to store a history of each command applied? Why?</a:t>
            </a:r>
          </a:p>
          <a:p>
            <a:pPr lvl="1"/>
            <a:r>
              <a:rPr lang="en-US" altLang="en-US"/>
              <a:t>Client (RemoteControlTest)</a:t>
            </a:r>
          </a:p>
          <a:p>
            <a:pPr lvl="1"/>
            <a:r>
              <a:rPr lang="en-US" altLang="en-US"/>
              <a:t>Receiver (TV, DVD, etc)</a:t>
            </a:r>
          </a:p>
          <a:p>
            <a:pPr lvl="1"/>
            <a:r>
              <a:rPr lang="en-US" altLang="en-US"/>
              <a:t>ConcreteCommand (LightOnCommand, LightOffCommand, etc)</a:t>
            </a:r>
          </a:p>
          <a:p>
            <a:pPr lvl="1"/>
            <a:r>
              <a:rPr lang="en-US" altLang="en-US"/>
              <a:t> Invoker (RemoteControl)</a:t>
            </a:r>
          </a:p>
          <a:p>
            <a:endParaRPr lang="en-US" altLang="en-US"/>
          </a:p>
          <a:p>
            <a:r>
              <a:rPr lang="en-US" altLang="en-US"/>
              <a:t>We need to be able to add commands to a list and then later get the most recent one.  What kind of object can we use?</a:t>
            </a:r>
          </a:p>
          <a:p>
            <a:endParaRPr lang="en-US" altLang="en-US"/>
          </a:p>
          <a:p>
            <a:pPr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9FD9DE0E-49D7-C179-4B55-DE3C7A913E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D2D6D6-C28C-904D-8CE2-26685043FA27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3797" name="Date Placeholder 4">
            <a:extLst>
              <a:ext uri="{FF2B5EF4-FFF2-40B4-BE49-F238E27FC236}">
                <a16:creationId xmlns:a16="http://schemas.microsoft.com/office/drawing/2014/main" id="{2145EAA4-35D7-5D97-E38E-A82EE3EE0A0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27A24D-7435-644B-9E1A-55C8B9F7A412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1C034492-43D6-430B-D8B0-78266A3ED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Undo Operations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B6E812B1-7986-9645-B115-5152442640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class RemoteControl {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Stack&lt;Command&gt; undoStack;  //this gets initialized in 			           //constructor.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public void onButtonWasPushed(int slot)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	onCommands[slot].execute();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undoStack.push(onCommands[slot]);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public void offButtonWasPushed(int slot)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	offCommands[slot].execute();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undoStack.push(offCommands[slot]);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public void undoButtonWasPushed()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 c = undoStack.pop();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c.undo();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6D3D49E0-EC1A-7CCD-4486-C4B89812D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E4321A-93DF-BF46-BE76-8F8B031B7946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244575F2-1E71-A063-CDD8-FE3AF08EA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Logging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4E28C344-156D-0E5A-7F14-00EB245CA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We want to enhance the Remote Control again to log every time a Command is executed (on or off).</a:t>
            </a:r>
          </a:p>
          <a:p>
            <a:endParaRPr lang="en-US" altLang="en-US"/>
          </a:p>
          <a:p>
            <a:r>
              <a:rPr lang="en-US" altLang="en-US"/>
              <a:t>Which object should we enhance??</a:t>
            </a: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E0B8D30F-2F79-025F-63B1-529BB98FFE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E29CDD-EF68-5945-9C96-C8DF8AC55592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5845" name="Date Placeholder 4">
            <a:extLst>
              <a:ext uri="{FF2B5EF4-FFF2-40B4-BE49-F238E27FC236}">
                <a16:creationId xmlns:a16="http://schemas.microsoft.com/office/drawing/2014/main" id="{B9B5BE1A-FA89-C8C4-A39E-FBE31FE90B86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F5344A-4881-634D-A8D3-4B57E46AF5FF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0F3D7010-8417-6D9F-042E-95A86DDA9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Logging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6EF62D89-1CC4-B1C9-74E3-C7785DCAC2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/>
              <a:t>Changes to RemoteControl…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void onButtonWasPushed(int slot)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onCommands[slot].execute();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//Log here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void offButtonWasPushed(int slot)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offCommands[slot].execute();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//Log here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22E71CDA-63BB-2DD8-6B5C-EF8306B871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C55A2F-73A0-1546-ACAA-98F790F97F8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6869" name="Date Placeholder 4">
            <a:extLst>
              <a:ext uri="{FF2B5EF4-FFF2-40B4-BE49-F238E27FC236}">
                <a16:creationId xmlns:a16="http://schemas.microsoft.com/office/drawing/2014/main" id="{408F2EA8-BCC1-7B8F-7DE2-5BAAEF29CB5F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24A606-328B-D345-B2D9-610AA5F61746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36870" name="TextBox 5">
            <a:extLst>
              <a:ext uri="{FF2B5EF4-FFF2-40B4-BE49-F238E27FC236}">
                <a16:creationId xmlns:a16="http://schemas.microsoft.com/office/drawing/2014/main" id="{7300FA75-44CC-C71B-512E-BE7617BE9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334000"/>
            <a:ext cx="7848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Advantage: We can add logging in the Invoker. No change is needed in any of the Command or Receiver objects!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7028D3CB-ED9F-F3A5-4721-E4A7FFC9E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Complex Logging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D8CEBB45-2A35-B859-38D8-1FD44A48AF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/>
              <a:t>Let’s say we had a spreadsheet application and we know it may crash often.  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/>
              <a:t>For failure recovery, we could periodically store a backup of the spreadsheet every 5 minutes...or we could periodically persist the list of commands executed on the spreadsheet since the last save point.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/>
              <a:t>When a crash occurs, we load the last saved document and re-apply the persisted commands.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725A92EC-4782-B525-F627-32052BE17A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9DF5C2-DD39-D64C-A56D-7DC610248FAE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7893" name="Date Placeholder 4">
            <a:extLst>
              <a:ext uri="{FF2B5EF4-FFF2-40B4-BE49-F238E27FC236}">
                <a16:creationId xmlns:a16="http://schemas.microsoft.com/office/drawing/2014/main" id="{BF33D31B-F44A-46D2-5F4C-FE71BDA7FB12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01A4CD-FD0D-454B-A410-7BD523E891C3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0DE7290A-76BF-7360-A1E2-0669BB5CB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5715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void onButtonWasPushed(int slot)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onCommands[slot].execute();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StoreToDisk(onCommands[slot]);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void offButtonWasPushed(int slot)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offCommands[slot].execute();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StoreToDisk(offCommands[slot]);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public void SaveButtonPressed()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//Delete stored commands from disk.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public void RestoreCommands()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//load last saved state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Commands[] storedCommands = GetCommandsFromDisk();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//for each Command, call execute()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6AC12E33-DED5-E2B1-7073-7F5A7DFF50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4B875F-B7B9-7E45-A944-8A028AC3D63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8916" name="Date Placeholder 4">
            <a:extLst>
              <a:ext uri="{FF2B5EF4-FFF2-40B4-BE49-F238E27FC236}">
                <a16:creationId xmlns:a16="http://schemas.microsoft.com/office/drawing/2014/main" id="{00FCFED4-8BF5-E83C-4D1B-94F5ECCDCAA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ABBEE3-8BE1-DC45-B410-863E877F137D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38917" name="Title 5">
            <a:extLst>
              <a:ext uri="{FF2B5EF4-FFF2-40B4-BE49-F238E27FC236}">
                <a16:creationId xmlns:a16="http://schemas.microsoft.com/office/drawing/2014/main" id="{26DE0DA1-0765-908E-3ACB-83173846F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Complex Logging </a:t>
            </a:r>
          </a:p>
        </p:txBody>
      </p:sp>
      <p:sp>
        <p:nvSpPr>
          <p:cNvPr id="38918" name="TextBox 8">
            <a:extLst>
              <a:ext uri="{FF2B5EF4-FFF2-40B4-BE49-F238E27FC236}">
                <a16:creationId xmlns:a16="http://schemas.microsoft.com/office/drawing/2014/main" id="{62FD8FD2-71EC-2D58-C37B-1AE739BEE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219200"/>
            <a:ext cx="2209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Once again, we can make these changes in one place (the Invoker)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1DCF71F1-30D7-1B6C-EBAC-A8C9651B6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Case Study: Command Management</a:t>
            </a: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525C8CBA-4D50-C034-AF65-72ED869EAB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910569-D2C6-4648-AD44-2A1E74D4CD57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39940" name="Date Placeholder 4">
            <a:extLst>
              <a:ext uri="{FF2B5EF4-FFF2-40B4-BE49-F238E27FC236}">
                <a16:creationId xmlns:a16="http://schemas.microsoft.com/office/drawing/2014/main" id="{822690FB-A558-189B-AD66-47477953D2F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56B604-3982-2546-87C9-701A1DC0A4A8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39941" name="Picture 10">
            <a:extLst>
              <a:ext uri="{FF2B5EF4-FFF2-40B4-BE49-F238E27FC236}">
                <a16:creationId xmlns:a16="http://schemas.microsoft.com/office/drawing/2014/main" id="{2E5E2F09-8827-3D9B-1215-E58699B47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22" t="26454" r="39246" b="41795"/>
          <a:stretch>
            <a:fillRect/>
          </a:stretch>
        </p:blipFill>
        <p:spPr bwMode="auto">
          <a:xfrm>
            <a:off x="609600" y="1371600"/>
            <a:ext cx="4572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TextBox 10">
            <a:extLst>
              <a:ext uri="{FF2B5EF4-FFF2-40B4-BE49-F238E27FC236}">
                <a16:creationId xmlns:a16="http://schemas.microsoft.com/office/drawing/2014/main" id="{C9268F2C-16A5-EC8E-4925-F27D19E1B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371600"/>
            <a:ext cx="30480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File menu contains the items: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  Open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  Save 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  Print 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Also menu item “Edit </a:t>
            </a:r>
            <a:r>
              <a:rPr lang="en-US" altLang="en-US" sz="1800">
                <a:sym typeface="Wingdings" pitchFamily="2" charset="2"/>
              </a:rPr>
              <a:t> Copy “ which is enabled when text is selected.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ym typeface="Wingdings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Wingdings" pitchFamily="2" charset="2"/>
              </a:rPr>
              <a:t>Same toolbar buttons for each menu item.</a:t>
            </a:r>
            <a:endParaRPr lang="en-US" altLang="en-US"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1065601-2961-C974-D594-806105984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0B830FDF-B252-B43B-693A-3258F40DE4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Imagine that there is a Command for each action</a:t>
            </a:r>
          </a:p>
          <a:p>
            <a:pPr lvl="1"/>
            <a:r>
              <a:rPr lang="en-US" altLang="en-US"/>
              <a:t>Open </a:t>
            </a:r>
          </a:p>
          <a:p>
            <a:pPr lvl="1"/>
            <a:r>
              <a:rPr lang="en-US" altLang="en-US"/>
              <a:t>Save</a:t>
            </a:r>
          </a:p>
          <a:p>
            <a:pPr lvl="1"/>
            <a:r>
              <a:rPr lang="en-US" altLang="en-US"/>
              <a:t>Print</a:t>
            </a:r>
          </a:p>
          <a:p>
            <a:pPr lvl="1"/>
            <a:r>
              <a:rPr lang="en-US" altLang="en-US"/>
              <a:t>Copy</a:t>
            </a:r>
          </a:p>
          <a:p>
            <a:pPr lvl="1"/>
            <a:endParaRPr lang="en-US" altLang="en-US"/>
          </a:p>
          <a:p>
            <a:r>
              <a:rPr lang="en-US" altLang="en-US"/>
              <a:t>How would you associate each Menu/Toolbar pair with a Command?</a:t>
            </a: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66643ED2-481C-25A6-2071-246658852B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3A2ED4-28FB-F74A-BDF5-C9C2E5C0F5F5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0965" name="Date Placeholder 4">
            <a:extLst>
              <a:ext uri="{FF2B5EF4-FFF2-40B4-BE49-F238E27FC236}">
                <a16:creationId xmlns:a16="http://schemas.microsoft.com/office/drawing/2014/main" id="{9E9497C3-4CC5-936D-7FDA-C79285BCEA9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5EC54E-B10D-C44E-81B0-BCCFE3CD9B04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FB1C5868-A285-8CAF-D0C4-3135D60C5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Possible Solutions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CE4CEB47-2340-BA21-37A7-9D1362676B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 both the Menu and Toolbar click events, write all of the code for performing the command.</a:t>
            </a:r>
          </a:p>
          <a:p>
            <a:endParaRPr lang="en-US" altLang="en-US"/>
          </a:p>
          <a:p>
            <a:r>
              <a:rPr lang="en-US" altLang="en-US"/>
              <a:t>(or) Consolidate all of the logic in one place and have the Menu and Toolbar events call the same logic. </a:t>
            </a:r>
          </a:p>
          <a:p>
            <a:endParaRPr lang="en-US" altLang="en-US"/>
          </a:p>
          <a:p>
            <a:r>
              <a:rPr lang="en-US" altLang="en-US"/>
              <a:t>What are the disadvantages of this approach?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2DB4CA27-F71D-F9EE-A0C1-75ED0FD2EE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4CA2AC-36AE-FB47-8661-3E50F1407B1E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1989" name="Date Placeholder 4">
            <a:extLst>
              <a:ext uri="{FF2B5EF4-FFF2-40B4-BE49-F238E27FC236}">
                <a16:creationId xmlns:a16="http://schemas.microsoft.com/office/drawing/2014/main" id="{2D5A1AB4-5EBC-7288-F6AD-C96404E40E1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5337E7-57DC-1943-BA24-7A6FB5B30CC8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30F3CCB-F20E-01DA-4225-62E35C516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Disadvantages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6D9D5E87-35C8-373B-5DEF-0099F90D1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229600" cy="5181600"/>
          </a:xfrm>
        </p:spPr>
        <p:txBody>
          <a:bodyPr/>
          <a:lstStyle/>
          <a:p>
            <a:r>
              <a:rPr lang="en-US" altLang="en-US"/>
              <a:t>The developer would need to enforce that each UI element calls the right command.</a:t>
            </a:r>
          </a:p>
          <a:p>
            <a:endParaRPr lang="en-US" altLang="en-US"/>
          </a:p>
          <a:p>
            <a:r>
              <a:rPr lang="en-US" altLang="en-US"/>
              <a:t>Managing state can be become an issue.  </a:t>
            </a:r>
          </a:p>
          <a:p>
            <a:pPr lvl="1"/>
            <a:r>
              <a:rPr lang="en-US" altLang="en-US"/>
              <a:t>For example, input form with three different UI elements for Save.  (Menu Item, Toolbar Button, Button next to the Form)</a:t>
            </a:r>
          </a:p>
          <a:p>
            <a:pPr lvl="1"/>
            <a:r>
              <a:rPr lang="en-US" altLang="en-US"/>
              <a:t>When the form is in Edit mode all of these elements should be Enabled.  When the form is not in Edit mode, they need to be disabled.  </a:t>
            </a:r>
          </a:p>
          <a:p>
            <a:pPr lvl="1"/>
            <a:endParaRPr lang="en-US" altLang="en-US"/>
          </a:p>
          <a:p>
            <a:pPr lvl="1">
              <a:buFont typeface="Wingdings" pitchFamily="2" charset="2"/>
              <a:buNone/>
            </a:pPr>
            <a:r>
              <a:rPr lang="en-US" altLang="en-US"/>
              <a:t>			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saveMenuItem.Enabled = false;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	saveButton.Enabled = false;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	saveToolbar.Enabled = false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7DDC0858-CA2E-CF10-B9BC-E2E3D0BB02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7C47F1-3EFD-8A45-9F15-BE97AFEB0A42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3013" name="Date Placeholder 4">
            <a:extLst>
              <a:ext uri="{FF2B5EF4-FFF2-40B4-BE49-F238E27FC236}">
                <a16:creationId xmlns:a16="http://schemas.microsoft.com/office/drawing/2014/main" id="{29187F04-A9DF-95E3-931F-ED76158D4BE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00781A-D887-A349-9EAB-5F35F7D90330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3A802D7C-75F5-8E3C-5FB4-174DF40AB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Management Framework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46B198F3-B54C-9A55-97DD-11D65D6D72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Based on the Command Pattern</a:t>
            </a:r>
          </a:p>
          <a:p>
            <a:endParaRPr lang="en-US" altLang="en-US"/>
          </a:p>
          <a:p>
            <a:r>
              <a:rPr lang="en-US" altLang="en-US"/>
              <a:t>Framework for associating multiple UI Elements to the same Command</a:t>
            </a:r>
          </a:p>
          <a:p>
            <a:endParaRPr lang="en-US" altLang="en-US"/>
          </a:p>
          <a:p>
            <a:r>
              <a:rPr lang="en-US" altLang="en-US"/>
              <a:t>Can associate UI Elements and Commands in one place.</a:t>
            </a:r>
          </a:p>
          <a:p>
            <a:endParaRPr lang="en-US" altLang="en-US"/>
          </a:p>
          <a:p>
            <a:r>
              <a:rPr lang="en-US" altLang="en-US"/>
              <a:t>You can send a message to a Command </a:t>
            </a:r>
          </a:p>
          <a:p>
            <a:pPr lvl="1"/>
            <a:r>
              <a:rPr lang="en-US" altLang="en-US"/>
              <a:t>“Tell all of your UI Elements to Turn On or Off”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3191A09E-9521-0BBD-F577-AED2C8247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348BA8-520A-4049-A861-0AC20AE82BF9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4037" name="Date Placeholder 4">
            <a:extLst>
              <a:ext uri="{FF2B5EF4-FFF2-40B4-BE49-F238E27FC236}">
                <a16:creationId xmlns:a16="http://schemas.microsoft.com/office/drawing/2014/main" id="{79D94030-3C49-1755-AF73-C192809ADCC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59943C-1763-C345-B643-236E56120A37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97EDC4A7-6536-BA21-4538-99FD72B05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F944706B-A3E9-28A1-7603-E33F66FEC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7467600" cy="4495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// Create Command Manager object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cmdMgr = new CommandManager();</a:t>
            </a:r>
          </a:p>
          <a:p>
            <a:pPr>
              <a:buFont typeface="Wingdings" pitchFamily="2" charset="2"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//Create a Command “Edit Copy” with a Execute and Copy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//functionality.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cmdMgr.Commands.Add( new Command(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"EditCopy", 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Command.ExecuteHandler(OnCopy), 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Command.UpdateHandler(UpdateCopyCommand)));</a:t>
            </a:r>
          </a:p>
          <a:p>
            <a:pPr>
              <a:buFont typeface="Wingdings" pitchFamily="2" charset="2"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//Associate Command “Edit Copy” with different UI elements (Menu and Toolbar)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cmdMgr.Commands["EditCopy"].CommandInstances.Add(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Object[]{mnuEditCopy, tlbMain.Buttons[4]});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1255E418-F61F-1EB4-7C42-6F075B9CE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F51906-92B2-1D4A-B6D9-971EF78EC251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5061" name="Date Placeholder 4">
            <a:extLst>
              <a:ext uri="{FF2B5EF4-FFF2-40B4-BE49-F238E27FC236}">
                <a16:creationId xmlns:a16="http://schemas.microsoft.com/office/drawing/2014/main" id="{9CB41A77-3F9C-0E32-9BE2-9891035167F4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DB536C-79E3-EF4C-AF44-1BC259415920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2AA758F9-B555-402F-DB31-BFA4C3603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Manager</a:t>
            </a: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45835CAA-CD65-FC30-28D0-28DE321027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4F6242-BA16-E24B-A2F7-557B97C507FC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6084" name="Date Placeholder 4">
            <a:extLst>
              <a:ext uri="{FF2B5EF4-FFF2-40B4-BE49-F238E27FC236}">
                <a16:creationId xmlns:a16="http://schemas.microsoft.com/office/drawing/2014/main" id="{9EDFFB1D-40F0-A1A4-B193-A2D4CE9DA47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84765A-F5F7-354B-9ACB-9A6E5198732D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46085" name="Picture 2">
            <a:extLst>
              <a:ext uri="{FF2B5EF4-FFF2-40B4-BE49-F238E27FC236}">
                <a16:creationId xmlns:a16="http://schemas.microsoft.com/office/drawing/2014/main" id="{B81490B5-EE12-4EB2-1491-378FB999BC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371600"/>
            <a:ext cx="4419600" cy="3916363"/>
          </a:xfrm>
          <a:noFill/>
        </p:spPr>
      </p:pic>
      <p:sp>
        <p:nvSpPr>
          <p:cNvPr id="46086" name="TextBox 7">
            <a:extLst>
              <a:ext uri="{FF2B5EF4-FFF2-40B4-BE49-F238E27FC236}">
                <a16:creationId xmlns:a16="http://schemas.microsoft.com/office/drawing/2014/main" id="{5DCAB621-5B10-72FB-04A9-1E5170B38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524000"/>
            <a:ext cx="28194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Commands property contains a list of all possible Commands.</a:t>
            </a:r>
          </a:p>
        </p:txBody>
      </p:sp>
      <p:cxnSp>
        <p:nvCxnSpPr>
          <p:cNvPr id="46087" name="Straight Arrow Connector 9">
            <a:extLst>
              <a:ext uri="{FF2B5EF4-FFF2-40B4-BE49-F238E27FC236}">
                <a16:creationId xmlns:a16="http://schemas.microsoft.com/office/drawing/2014/main" id="{B5994094-86DB-8CD9-90A5-110C0A9BF8A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2514600" y="1981200"/>
            <a:ext cx="28956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88" name="TextBox 11">
            <a:extLst>
              <a:ext uri="{FF2B5EF4-FFF2-40B4-BE49-F238E27FC236}">
                <a16:creationId xmlns:a16="http://schemas.microsoft.com/office/drawing/2014/main" id="{A9589335-B5FD-A361-03B9-2A6DE6147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267200"/>
            <a:ext cx="2743200" cy="1754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CommandsList contains a List object internally for storing each possible Command.  It also has a reference to CommandManager.</a:t>
            </a:r>
          </a:p>
        </p:txBody>
      </p:sp>
      <p:cxnSp>
        <p:nvCxnSpPr>
          <p:cNvPr id="46089" name="Straight Arrow Connector 13">
            <a:extLst>
              <a:ext uri="{FF2B5EF4-FFF2-40B4-BE49-F238E27FC236}">
                <a16:creationId xmlns:a16="http://schemas.microsoft.com/office/drawing/2014/main" id="{C5BD419B-620E-81CD-BD3B-26330C69CB3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114800" y="4495800"/>
            <a:ext cx="1676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0AE320E1-7CEB-CFEC-BDFD-50EC445B8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Object</a:t>
            </a: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4D1A03A3-28BA-DB7E-B9F5-1B3961D77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1CF7E2-A7DB-244A-8F21-544C3EBFC0B9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7108" name="TextBox 8">
            <a:extLst>
              <a:ext uri="{FF2B5EF4-FFF2-40B4-BE49-F238E27FC236}">
                <a16:creationId xmlns:a16="http://schemas.microsoft.com/office/drawing/2014/main" id="{0CD89C10-FD0A-6BD7-4233-BCC90C0C9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19600"/>
            <a:ext cx="7543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ExecuteHandler = delegate that represents the logic for executing the actual Command logic.  Triggered when the command is executed. Gets associated with OnExecute event.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UpdateHandler = delegate that represents the logic for executing the logic to update the state of a command. (For example, Edit </a:t>
            </a:r>
            <a:r>
              <a:rPr lang="en-US" altLang="en-US" sz="1800">
                <a:sym typeface="Wingdings" pitchFamily="2" charset="2"/>
              </a:rPr>
              <a:t> Copy should be enabled if text has been selected).  Associated with OnUpdate event.</a:t>
            </a:r>
            <a:endParaRPr lang="en-US" altLang="en-US" sz="1800"/>
          </a:p>
        </p:txBody>
      </p:sp>
      <p:pic>
        <p:nvPicPr>
          <p:cNvPr id="47109" name="Picture 3">
            <a:extLst>
              <a:ext uri="{FF2B5EF4-FFF2-40B4-BE49-F238E27FC236}">
                <a16:creationId xmlns:a16="http://schemas.microsoft.com/office/drawing/2014/main" id="{B635257B-2910-7DFD-31B4-89A694B8D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19200"/>
            <a:ext cx="68421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4F732A9A-F59D-0355-DC75-317EF04DD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 Constructor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A6154D3D-4A55-587E-56F8-C1247C30D5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Command( string          strTag,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ExecuteHandler  handlerExecute,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UpdateHandler   handlerUpdate)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     this.strTag = strTag;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OnExecute += handlerExecute;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OnUpdate += handlerUpdate;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//Delegates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delegate void ExecuteHandler(Command cmd);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delegate void UpdateHandler(Command cmd);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// Events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event ExecuteHandler OnExecute;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event UpdateHandler OnUpdate;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53B3CAB4-33EA-E2D8-0273-5556E4E59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1B9065-6F94-A048-A03C-192E2C980FC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8133" name="Date Placeholder 4">
            <a:extLst>
              <a:ext uri="{FF2B5EF4-FFF2-40B4-BE49-F238E27FC236}">
                <a16:creationId xmlns:a16="http://schemas.microsoft.com/office/drawing/2014/main" id="{6E042DF5-8496-9C9F-9B42-DF03466498F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168FBE-B266-8F42-8FBF-EA88E15617B5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48134" name="TextBox 5">
            <a:extLst>
              <a:ext uri="{FF2B5EF4-FFF2-40B4-BE49-F238E27FC236}">
                <a16:creationId xmlns:a16="http://schemas.microsoft.com/office/drawing/2014/main" id="{71BFE1D1-4826-F400-2B87-C13798D13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90800"/>
            <a:ext cx="22098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Associates events to delegates</a:t>
            </a:r>
          </a:p>
        </p:txBody>
      </p:sp>
      <p:cxnSp>
        <p:nvCxnSpPr>
          <p:cNvPr id="48135" name="Straight Arrow Connector 7">
            <a:extLst>
              <a:ext uri="{FF2B5EF4-FFF2-40B4-BE49-F238E27FC236}">
                <a16:creationId xmlns:a16="http://schemas.microsoft.com/office/drawing/2014/main" id="{DE6D6466-2402-2D71-BE68-6EF64814F82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5029200" y="2971800"/>
            <a:ext cx="152400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F299640A-B602-D3AD-939A-63886C65E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Command: Execute() and ProcessUpdates()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8BD549C1-0E26-C1D0-05C9-F1A251C66D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3962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// Methods to trigger events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public void Execute()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if (OnExecute != null)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OnExecute(this);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internal void ProcessUpdates()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if (OnUpdate != null)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OnUpdate(this);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47FD2AB0-F8F7-AD96-B9AB-A0CEBDA7AC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9FBB01-23F9-DA4C-9CA6-42F3AF627CE1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49157" name="TextBox 5">
            <a:extLst>
              <a:ext uri="{FF2B5EF4-FFF2-40B4-BE49-F238E27FC236}">
                <a16:creationId xmlns:a16="http://schemas.microsoft.com/office/drawing/2014/main" id="{9D96E3BB-CB60-6E9E-049C-CD7BB8CC8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057400"/>
            <a:ext cx="23622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Will call the function passed in as ExecuteHandler</a:t>
            </a:r>
          </a:p>
        </p:txBody>
      </p:sp>
      <p:sp>
        <p:nvSpPr>
          <p:cNvPr id="49158" name="TextBox 6">
            <a:extLst>
              <a:ext uri="{FF2B5EF4-FFF2-40B4-BE49-F238E27FC236}">
                <a16:creationId xmlns:a16="http://schemas.microsoft.com/office/drawing/2014/main" id="{9AC7C10F-41D6-E65E-12D0-C14C0D4F1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657600"/>
            <a:ext cx="23622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Will call the function passed in as UpdateHandler</a:t>
            </a:r>
          </a:p>
        </p:txBody>
      </p:sp>
      <p:cxnSp>
        <p:nvCxnSpPr>
          <p:cNvPr id="49159" name="Straight Arrow Connector 8">
            <a:extLst>
              <a:ext uri="{FF2B5EF4-FFF2-40B4-BE49-F238E27FC236}">
                <a16:creationId xmlns:a16="http://schemas.microsoft.com/office/drawing/2014/main" id="{B999D8D0-E8B1-09D8-FB61-01269F03C97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495800" y="4038600"/>
            <a:ext cx="14478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0" name="Straight Arrow Connector 10">
            <a:extLst>
              <a:ext uri="{FF2B5EF4-FFF2-40B4-BE49-F238E27FC236}">
                <a16:creationId xmlns:a16="http://schemas.microsoft.com/office/drawing/2014/main" id="{9547BD4E-6DF4-D9FF-E267-B7569F17CA2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343400" y="2438400"/>
            <a:ext cx="15240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61" name="TextBox 12">
            <a:extLst>
              <a:ext uri="{FF2B5EF4-FFF2-40B4-BE49-F238E27FC236}">
                <a16:creationId xmlns:a16="http://schemas.microsoft.com/office/drawing/2014/main" id="{9CF035D0-6957-0828-3123-B6064970D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638800"/>
            <a:ext cx="830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How is this Command.Execute() different than the RemoteControl example??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8E94249E-07AB-ADB9-F687-35B6B7B84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Re-look at EditCopy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DD1D6531-E03D-1ACF-01CC-F4F9342FFE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cmdMgr.Commands.Add( new Command(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"EditCopy",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Command.ExecuteHandler(OnCopy),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Command.UpdateHandler(UpdateCopyCommand)));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//Here is the logic of the actual command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void OnCopy(Command cmd)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Clipboard.SetDataObject(txtEditor.SelectedText);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//Defines the condition for when the command should be “on”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void UpdateCopyCommand(Command cmd)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cmd.Enabled = txtEditor.SelectedText.Length &gt; 0;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7A2722EE-1722-F3A9-789F-72964E2C9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310FB6-B988-0D4B-AACF-51AABC07466E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1205" name="Date Placeholder 4">
            <a:extLst>
              <a:ext uri="{FF2B5EF4-FFF2-40B4-BE49-F238E27FC236}">
                <a16:creationId xmlns:a16="http://schemas.microsoft.com/office/drawing/2014/main" id="{1A3373BB-EA61-9769-6E6C-713A84F13491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FFC4B9-4DEF-2E4C-BE33-DE4A8D7A400C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cxnSp>
        <p:nvCxnSpPr>
          <p:cNvPr id="51206" name="Straight Arrow Connector 6">
            <a:extLst>
              <a:ext uri="{FF2B5EF4-FFF2-40B4-BE49-F238E27FC236}">
                <a16:creationId xmlns:a16="http://schemas.microsoft.com/office/drawing/2014/main" id="{369228E4-9BE0-F4B2-EC18-133E3D474795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1752600" y="56388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07" name="TextBox 7">
            <a:extLst>
              <a:ext uri="{FF2B5EF4-FFF2-40B4-BE49-F238E27FC236}">
                <a16:creationId xmlns:a16="http://schemas.microsoft.com/office/drawing/2014/main" id="{25AE7F15-88C7-F23F-C840-5DA274A77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096000"/>
            <a:ext cx="2209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Will discuss later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27FC23A3-EFF2-3154-6624-204D211C9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 far..</a:t>
            </a:r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DC7997E0-C4E7-81C0-91B9-569F494934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281B11-8358-7B4E-8355-0161ADB409DF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2228" name="Date Placeholder 4">
            <a:extLst>
              <a:ext uri="{FF2B5EF4-FFF2-40B4-BE49-F238E27FC236}">
                <a16:creationId xmlns:a16="http://schemas.microsoft.com/office/drawing/2014/main" id="{4F0EA5D4-62E9-3D7A-474E-EFAD825F528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9A0A97-AA27-B54A-9497-3D9366722729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52229" name="Picture 2">
            <a:extLst>
              <a:ext uri="{FF2B5EF4-FFF2-40B4-BE49-F238E27FC236}">
                <a16:creationId xmlns:a16="http://schemas.microsoft.com/office/drawing/2014/main" id="{37F563E3-BA69-8E08-9D1A-F70CADA13C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295400"/>
            <a:ext cx="7678738" cy="1600200"/>
          </a:xfrm>
          <a:noFill/>
        </p:spPr>
      </p:pic>
      <p:sp>
        <p:nvSpPr>
          <p:cNvPr id="52230" name="TextBox 7">
            <a:extLst>
              <a:ext uri="{FF2B5EF4-FFF2-40B4-BE49-F238E27FC236}">
                <a16:creationId xmlns:a16="http://schemas.microsoft.com/office/drawing/2014/main" id="{E88C8865-F245-E88C-8E4A-961105FE1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200400"/>
            <a:ext cx="5105400" cy="3140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Command #1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Tag = “Edit Copy”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OnExecute = OnCopy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OnUpdate =  UpdateCopyCommand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Command #2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Tag = “File Open”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OnExecute = OnFileOpen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OnUpdate =  null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</a:t>
            </a:r>
          </a:p>
        </p:txBody>
      </p:sp>
      <p:cxnSp>
        <p:nvCxnSpPr>
          <p:cNvPr id="52231" name="Straight Arrow Connector 9">
            <a:extLst>
              <a:ext uri="{FF2B5EF4-FFF2-40B4-BE49-F238E27FC236}">
                <a16:creationId xmlns:a16="http://schemas.microsoft.com/office/drawing/2014/main" id="{CD334F2A-96C2-9664-96BA-7DF2FD84118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152900" y="2171700"/>
            <a:ext cx="11430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54A1F359-BA35-B7D7-71C0-ABC5BEBBC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Associating UI Elements to a Command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DFBD7FEC-12E2-C428-E97E-C0169A327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//Associate Command “Edit Copy” with different UI elements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//(Menu and Toolbar)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cmdMgr.Commands["EditCopy"].CommandInstances.Add(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Object[]{mnuEditCopy, tlbMain.Buttons[4]});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8DD13ACC-6C23-0E17-0ADC-6EC6E63DC1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FB79C9-83CB-EC47-80F0-D613CC27D0B0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3253" name="Date Placeholder 4">
            <a:extLst>
              <a:ext uri="{FF2B5EF4-FFF2-40B4-BE49-F238E27FC236}">
                <a16:creationId xmlns:a16="http://schemas.microsoft.com/office/drawing/2014/main" id="{45AC54EE-8047-491B-D32E-96A1EDC7710F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77396B-70D8-A649-B56D-D4A1668F5506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53254" name="TextBox 5">
            <a:extLst>
              <a:ext uri="{FF2B5EF4-FFF2-40B4-BE49-F238E27FC236}">
                <a16:creationId xmlns:a16="http://schemas.microsoft.com/office/drawing/2014/main" id="{6F7333B3-89D1-5FC2-B339-B29202643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724400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What object contains the CommandInstances property??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E4A11075-2037-B48B-2A20-388F5C656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CommandInstances</a:t>
            </a: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7BE9A365-3C91-134F-506A-8B8DF2F13A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9F769E-7A31-FA44-86CB-59CE3287CCE3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4276" name="Date Placeholder 4">
            <a:extLst>
              <a:ext uri="{FF2B5EF4-FFF2-40B4-BE49-F238E27FC236}">
                <a16:creationId xmlns:a16="http://schemas.microsoft.com/office/drawing/2014/main" id="{5C9A29E9-8D63-46AC-2028-3E6E150B43E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F00A9B-3ABD-0B4C-8A26-D559C870FC95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54277" name="Picture 3">
            <a:extLst>
              <a:ext uri="{FF2B5EF4-FFF2-40B4-BE49-F238E27FC236}">
                <a16:creationId xmlns:a16="http://schemas.microsoft.com/office/drawing/2014/main" id="{B9916489-30A3-356C-2B08-39F53072DB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676400"/>
            <a:ext cx="5322888" cy="1981200"/>
          </a:xfrm>
          <a:noFill/>
        </p:spPr>
      </p:pic>
      <p:sp>
        <p:nvSpPr>
          <p:cNvPr id="54278" name="TextBox 10">
            <a:extLst>
              <a:ext uri="{FF2B5EF4-FFF2-40B4-BE49-F238E27FC236}">
                <a16:creationId xmlns:a16="http://schemas.microsoft.com/office/drawing/2014/main" id="{2C30B629-F287-A325-550E-9208FD06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19600"/>
            <a:ext cx="38100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Contain a list of all UI Elements associated with a Command</a:t>
            </a:r>
          </a:p>
        </p:txBody>
      </p:sp>
      <p:cxnSp>
        <p:nvCxnSpPr>
          <p:cNvPr id="54279" name="Straight Arrow Connector 12">
            <a:extLst>
              <a:ext uri="{FF2B5EF4-FFF2-40B4-BE49-F238E27FC236}">
                <a16:creationId xmlns:a16="http://schemas.microsoft.com/office/drawing/2014/main" id="{FD12ADE3-BE37-17FD-473B-E9B3036B0A3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1828800" y="3429000"/>
            <a:ext cx="12192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E0D1494D-8C4C-257F-FF08-9E43E26598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 far..</a:t>
            </a:r>
          </a:p>
        </p:txBody>
      </p:sp>
      <p:sp>
        <p:nvSpPr>
          <p:cNvPr id="55299" name="Slide Number Placeholder 3">
            <a:extLst>
              <a:ext uri="{FF2B5EF4-FFF2-40B4-BE49-F238E27FC236}">
                <a16:creationId xmlns:a16="http://schemas.microsoft.com/office/drawing/2014/main" id="{1F1FC090-0851-BA1E-7E7D-CE166AD304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B012A2-E0E0-9642-968A-15021A846F08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5300" name="Date Placeholder 4">
            <a:extLst>
              <a:ext uri="{FF2B5EF4-FFF2-40B4-BE49-F238E27FC236}">
                <a16:creationId xmlns:a16="http://schemas.microsoft.com/office/drawing/2014/main" id="{12F38022-E1E2-DD5F-47D9-4D3761A1E0F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625159-483A-E64B-B73C-306C092A30A9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55301" name="Picture 2">
            <a:extLst>
              <a:ext uri="{FF2B5EF4-FFF2-40B4-BE49-F238E27FC236}">
                <a16:creationId xmlns:a16="http://schemas.microsoft.com/office/drawing/2014/main" id="{873AB442-39BE-D423-900C-A0F5A5E0DD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524000"/>
            <a:ext cx="7556500" cy="3429000"/>
          </a:xfrm>
          <a:noFill/>
        </p:spPr>
      </p:pic>
      <p:sp>
        <p:nvSpPr>
          <p:cNvPr id="55302" name="TextBox 6">
            <a:extLst>
              <a:ext uri="{FF2B5EF4-FFF2-40B4-BE49-F238E27FC236}">
                <a16:creationId xmlns:a16="http://schemas.microsoft.com/office/drawing/2014/main" id="{8F65319E-5417-F8C5-80B7-C2248D7E7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56225"/>
            <a:ext cx="3657600" cy="892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Command #1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	Tag = “Edit Copy”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	OnExecute = OnCopy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	OnUpdate =  UpdateCopyCommand</a:t>
            </a:r>
            <a:r>
              <a:rPr lang="en-US" altLang="en-US" sz="1200"/>
              <a:t>	</a:t>
            </a:r>
          </a:p>
        </p:txBody>
      </p:sp>
      <p:cxnSp>
        <p:nvCxnSpPr>
          <p:cNvPr id="55303" name="Straight Arrow Connector 8">
            <a:extLst>
              <a:ext uri="{FF2B5EF4-FFF2-40B4-BE49-F238E27FC236}">
                <a16:creationId xmlns:a16="http://schemas.microsoft.com/office/drawing/2014/main" id="{9066D316-AC60-28FF-7EDE-2BF42B10FA9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419100" y="4381500"/>
            <a:ext cx="1371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4" name="Straight Arrow Connector 10">
            <a:extLst>
              <a:ext uri="{FF2B5EF4-FFF2-40B4-BE49-F238E27FC236}">
                <a16:creationId xmlns:a16="http://schemas.microsoft.com/office/drawing/2014/main" id="{EE7C61F6-A394-8D30-BAF6-05598C48ABC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43400" y="2971800"/>
            <a:ext cx="1752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305" name="TextBox 12">
            <a:extLst>
              <a:ext uri="{FF2B5EF4-FFF2-40B4-BE49-F238E27FC236}">
                <a16:creationId xmlns:a16="http://schemas.microsoft.com/office/drawing/2014/main" id="{A628E1E4-9803-01EF-BAF2-AC9073DE0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295400"/>
            <a:ext cx="3657600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Two items: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mnuEditCopy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tlbMain.Buttons[4]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    </a:t>
            </a:r>
          </a:p>
        </p:txBody>
      </p:sp>
      <p:sp>
        <p:nvSpPr>
          <p:cNvPr id="55306" name="TextBox 14">
            <a:extLst>
              <a:ext uri="{FF2B5EF4-FFF2-40B4-BE49-F238E27FC236}">
                <a16:creationId xmlns:a16="http://schemas.microsoft.com/office/drawing/2014/main" id="{AABA4745-FC7A-FAFF-59D4-4E67F2475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867400"/>
            <a:ext cx="2667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All we have done so far is store information…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A8A210AB-A5FB-7A49-BEB1-29A131CB3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do we enable a Command???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E608B286-6C44-7884-AAE6-B5168D82D2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/>
              <a:t>In CommandManager, there is an event handler for the Application Idle Event: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/>
              <a:t> </a:t>
            </a: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private void OnIdle(object sender, System.EventArgs args)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IDictionaryEnumerator myEnumerator = 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(IDictionaryEnumerator)Commands.GetEnumerator();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while ( myEnumerator.MoveNext() )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Command cmd = myEnumerator.Value as Command;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if (cmd != null)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cmd.ProcessUpdates();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6BCE4849-C190-AF07-D6A6-AE0A919560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DBB113-9B59-5D4E-8026-5D68BE8CE520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6325" name="TextBox 5">
            <a:extLst>
              <a:ext uri="{FF2B5EF4-FFF2-40B4-BE49-F238E27FC236}">
                <a16:creationId xmlns:a16="http://schemas.microsoft.com/office/drawing/2014/main" id="{C140D2AB-2EE8-129D-2D4F-D8E592427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029200"/>
            <a:ext cx="24384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Are you enabled???</a:t>
            </a:r>
          </a:p>
        </p:txBody>
      </p:sp>
      <p:cxnSp>
        <p:nvCxnSpPr>
          <p:cNvPr id="56326" name="Straight Arrow Connector 7">
            <a:extLst>
              <a:ext uri="{FF2B5EF4-FFF2-40B4-BE49-F238E27FC236}">
                <a16:creationId xmlns:a16="http://schemas.microsoft.com/office/drawing/2014/main" id="{A6A1FF73-7CBD-9856-855F-6B3E7655AF8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648200" y="5181600"/>
            <a:ext cx="14478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50A0FF84-589B-A848-DB2C-340CBB3DCE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Command.ProcessUpdates()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4F712CE6-9A10-7421-F62C-987454FC1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internal void ProcessUpdates()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if (OnUpdate != null)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    OnUpdate(this);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cs typeface="Courier New" panose="02070309020205020404" pitchFamily="49" charset="0"/>
              </a:rPr>
              <a:t>For Edit Copy,  the following code will be called: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void UpdateCopyCommand(Command cmd) 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cmd.Enabled = txtEditor.SelectedText.Length &gt; 0;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cs typeface="Courier New" panose="02070309020205020404" pitchFamily="49" charset="0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EECB42FD-24E9-C51B-FC2E-C798BB3AA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2E8A60-5EF7-CA4B-87D7-CC6A29020974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7349" name="Date Placeholder 4">
            <a:extLst>
              <a:ext uri="{FF2B5EF4-FFF2-40B4-BE49-F238E27FC236}">
                <a16:creationId xmlns:a16="http://schemas.microsoft.com/office/drawing/2014/main" id="{A4C463C8-E991-87DA-8353-7B7820B8138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C34D16-F3E5-A84A-AFAF-EA97B87EA554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57350" name="TextBox 7">
            <a:extLst>
              <a:ext uri="{FF2B5EF4-FFF2-40B4-BE49-F238E27FC236}">
                <a16:creationId xmlns:a16="http://schemas.microsoft.com/office/drawing/2014/main" id="{8EF1304C-F903-64EB-9FEA-0EB261C81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49888"/>
            <a:ext cx="7848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If we do need to enable (or disable) the Command, who do we need to tell to “go enable/disable yourself?”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84E8BC2D-A74D-D20E-71EB-A103C98D8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Command.Enabled Property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C9BE8181-D0A5-E26A-EBDA-31EEAFB47B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800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/>
              <a:t>The psuedo-code for this property is the following:</a:t>
            </a:r>
          </a:p>
          <a:p>
            <a:pPr>
              <a:buFont typeface="Wingdings" pitchFamily="2" charset="2"/>
              <a:buNone/>
            </a:pPr>
            <a:r>
              <a:rPr lang="en-US" altLang="en-US"/>
              <a:t>    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Enabled = true or false  //we got this information externally</a:t>
            </a:r>
          </a:p>
          <a:p>
            <a:pPr lvl="1">
              <a:buFont typeface="Wingdings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foreach (object in CommandInstances) 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//enable or disable yourself.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End for</a:t>
            </a:r>
          </a:p>
          <a:p>
            <a:pPr lvl="1">
              <a:buFont typeface="Wingdings" pitchFamily="2" charset="2"/>
              <a:buNone/>
            </a:pPr>
            <a:endParaRPr lang="en-US" altLang="en-US"/>
          </a:p>
          <a:p>
            <a:pPr lvl="1"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/>
              <a:t>So if there is a Menu Item, ToolBar, etc, we want to enable each one.   But note that CommandInstances is just a collection of generic objects…</a:t>
            </a: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6EC93D6C-ACB3-521F-A493-8B1838098F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5871D6-0AEF-E14E-9D2C-779B235BBDDA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8373" name="Date Placeholder 4">
            <a:extLst>
              <a:ext uri="{FF2B5EF4-FFF2-40B4-BE49-F238E27FC236}">
                <a16:creationId xmlns:a16="http://schemas.microsoft.com/office/drawing/2014/main" id="{7AEFBB2A-69EB-E727-867F-B2C671FF940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E6916F-8F1A-D443-83D1-B2B4FB155333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A338C271-1084-CED2-29F9-48F67483A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Command.Enabled (Psuedo-Code)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416F3CC4-A2CD-95FF-9539-BD3DCA4CE3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876800"/>
          </a:xfrm>
        </p:spPr>
        <p:txBody>
          <a:bodyPr/>
          <a:lstStyle/>
          <a:p>
            <a:pPr lvl="1">
              <a:buFont typeface="Wingdings" pitchFamily="2" charset="2"/>
              <a:buNone/>
            </a:pPr>
            <a:r>
              <a:rPr lang="en-US" altLang="en-US"/>
              <a:t>foreach (object in CommandInstances) </a:t>
            </a:r>
          </a:p>
          <a:p>
            <a:pPr lvl="1">
              <a:buFont typeface="Wingdings" pitchFamily="2" charset="2"/>
              <a:buNone/>
            </a:pPr>
            <a:endParaRPr lang="en-US" altLang="en-US"/>
          </a:p>
          <a:p>
            <a:pPr lvl="1">
              <a:buFont typeface="Wingdings" pitchFamily="2" charset="2"/>
              <a:buNone/>
            </a:pPr>
            <a:r>
              <a:rPr lang="en-US" altLang="en-US"/>
              <a:t>		if (object is MenuItem) {		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		MenuItem m = (MenuItem)object;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		m.Enabled = (true or false);					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   }  else if (object is Toolbar) {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		Toolbar t = (Toolbar)object;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		t.Enabled = (true or false);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   }  else {…}</a:t>
            </a:r>
          </a:p>
          <a:p>
            <a:pPr lvl="1">
              <a:buFont typeface="Wingdings" pitchFamily="2" charset="2"/>
              <a:buNone/>
            </a:pPr>
            <a:endParaRPr lang="en-US" altLang="en-US"/>
          </a:p>
          <a:p>
            <a:pPr lvl="1">
              <a:buFont typeface="Wingdings" pitchFamily="2" charset="2"/>
              <a:buNone/>
            </a:pPr>
            <a:r>
              <a:rPr lang="en-US" altLang="en-US"/>
              <a:t>End for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9E805E42-48A9-BE3C-8A57-9A38C704F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E1B257-3C91-1142-AA27-A12F97FF2E2F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59397" name="Date Placeholder 4">
            <a:extLst>
              <a:ext uri="{FF2B5EF4-FFF2-40B4-BE49-F238E27FC236}">
                <a16:creationId xmlns:a16="http://schemas.microsoft.com/office/drawing/2014/main" id="{C902DCF0-455F-6496-49FB-6F2D28C61167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31D8DF-8130-4A4B-912D-991DFEC782BB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59398" name="TextBox 5">
            <a:extLst>
              <a:ext uri="{FF2B5EF4-FFF2-40B4-BE49-F238E27FC236}">
                <a16:creationId xmlns:a16="http://schemas.microsoft.com/office/drawing/2014/main" id="{65BF4926-5B98-7F94-1455-052374F43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6107113"/>
            <a:ext cx="4648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Question:  Any problems with this code???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3331AEF2-1BD1-E9F7-109F-49FD60F9D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Command.Enabled (Psuedo-Code)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E942B00C-E38D-151A-C484-6AC5494184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None/>
            </a:pPr>
            <a:r>
              <a:rPr lang="en-US" altLang="en-US"/>
              <a:t>foreach (object in CommandInstances) 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	commandExecutor = GetCommandExecutor(typeof(object);</a:t>
            </a:r>
          </a:p>
          <a:p>
            <a:pPr lvl="1">
              <a:buFont typeface="Wingdings" pitchFamily="2" charset="2"/>
              <a:buNone/>
            </a:pPr>
            <a:endParaRPr lang="en-US" altLang="en-US"/>
          </a:p>
          <a:p>
            <a:pPr lvl="1">
              <a:buFont typeface="Wingdings" pitchFamily="2" charset="2"/>
              <a:buNone/>
            </a:pPr>
            <a:r>
              <a:rPr lang="en-US" altLang="en-US"/>
              <a:t>       commandExecutor.Enable( object, true/false);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			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End for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CE5D1F96-4CD9-68F5-C46B-6754AB1C12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23AE72-5653-FE42-A598-1ED4963096D8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0421" name="Date Placeholder 4">
            <a:extLst>
              <a:ext uri="{FF2B5EF4-FFF2-40B4-BE49-F238E27FC236}">
                <a16:creationId xmlns:a16="http://schemas.microsoft.com/office/drawing/2014/main" id="{8D8655A5-11A5-DB26-7555-B447C8EB715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7DE52C-B8CC-DB4C-A1FF-68D8F5F0D5AF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2FE938F9-747E-F4FF-A4C5-8FD81D1A0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CommandExecutor</a:t>
            </a:r>
          </a:p>
        </p:txBody>
      </p:sp>
      <p:sp>
        <p:nvSpPr>
          <p:cNvPr id="62467" name="Slide Number Placeholder 3">
            <a:extLst>
              <a:ext uri="{FF2B5EF4-FFF2-40B4-BE49-F238E27FC236}">
                <a16:creationId xmlns:a16="http://schemas.microsoft.com/office/drawing/2014/main" id="{51E8EF50-5F84-C42A-40EB-A09112D3AB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873252-8BBB-274F-BA70-AC2D36A06851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2468" name="Date Placeholder 4">
            <a:extLst>
              <a:ext uri="{FF2B5EF4-FFF2-40B4-BE49-F238E27FC236}">
                <a16:creationId xmlns:a16="http://schemas.microsoft.com/office/drawing/2014/main" id="{BA9AA3DA-3AE6-042C-FD13-099833431659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927FC0-9EE8-0449-A102-8F0DEBA18CCB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pic>
        <p:nvPicPr>
          <p:cNvPr id="62469" name="Picture 3">
            <a:extLst>
              <a:ext uri="{FF2B5EF4-FFF2-40B4-BE49-F238E27FC236}">
                <a16:creationId xmlns:a16="http://schemas.microsoft.com/office/drawing/2014/main" id="{E7E594D8-5E62-E92E-7366-C0EC36366E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447800"/>
            <a:ext cx="6659563" cy="3376613"/>
          </a:xfrm>
          <a:noFill/>
        </p:spPr>
      </p:pic>
      <p:sp>
        <p:nvSpPr>
          <p:cNvPr id="62470" name="TextBox 10">
            <a:extLst>
              <a:ext uri="{FF2B5EF4-FFF2-40B4-BE49-F238E27FC236}">
                <a16:creationId xmlns:a16="http://schemas.microsoft.com/office/drawing/2014/main" id="{07125D23-9982-8C31-88C9-28FA78E66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334000"/>
            <a:ext cx="6019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Enable() is abstract.  Toolbar and Menu subclasses must define how Enable needs to work.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8E6AF015-A4DD-0AD5-D0F5-AA501C2E0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CommandExecutor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1E52759E-CA9C-1587-C24E-87FA8D4065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CommandExecutor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abstract void Enable(object item, bool bEnable);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class MenuCommandExecutor : CommandExecutor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override void Enable(object item, bool bEnable)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MenuItem mi = (MenuItem)item;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mi.Enabled = bEnable;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D9B77D58-689C-D572-B6B1-EA7AC4574D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00C128-7680-E844-A3EE-CCC279CE259B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3493" name="Date Placeholder 4">
            <a:extLst>
              <a:ext uri="{FF2B5EF4-FFF2-40B4-BE49-F238E27FC236}">
                <a16:creationId xmlns:a16="http://schemas.microsoft.com/office/drawing/2014/main" id="{5DD162B3-392B-7D2C-4D15-07722F6A4691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5B7B95-B707-AD46-AD65-1362C7C2056E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5BA16C4E-880E-5D2E-2201-BBB4443E7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Command.Enabled (Real Code)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9491C2AF-EF74-B026-3AB6-C7CE59DEBF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public bool Enabled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get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enabled;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set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enabled = value;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foreach(object instance in commandInstances)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Manager.GetCommandExecutor(instance).Enable(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instance, enabled);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14661F78-894B-7002-BD25-25693AFF7E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4D45CF-E4B9-5B4E-B5E2-5BD4427D79C6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4517" name="TextBox 5">
            <a:extLst>
              <a:ext uri="{FF2B5EF4-FFF2-40B4-BE49-F238E27FC236}">
                <a16:creationId xmlns:a16="http://schemas.microsoft.com/office/drawing/2014/main" id="{0A62CB31-9957-C3E5-7689-C662ECB48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562600"/>
            <a:ext cx="67056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CommandManager actually contains all possible CommandExecutors. These are registered during start-up for each possible type of UI element. (CommandManager constructor)</a:t>
            </a:r>
          </a:p>
        </p:txBody>
      </p:sp>
      <p:cxnSp>
        <p:nvCxnSpPr>
          <p:cNvPr id="64518" name="Straight Arrow Connector 7">
            <a:extLst>
              <a:ext uri="{FF2B5EF4-FFF2-40B4-BE49-F238E27FC236}">
                <a16:creationId xmlns:a16="http://schemas.microsoft.com/office/drawing/2014/main" id="{67F6F888-3A50-E080-0711-A705CB816B0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943100" y="4838700"/>
            <a:ext cx="8382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8E843C0E-6DB0-C930-D7A8-14EFBC896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CommandExecutor - Execution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CD2C3F73-A267-DD1B-D953-DFE4BF4D70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/>
              <a:t>These objects also help establish the connection between the UI Event and a Command.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pPr>
              <a:buFont typeface="Wingdings" pitchFamily="2" charset="2"/>
              <a:buNone/>
            </a:pPr>
            <a:r>
              <a:rPr lang="en-US" altLang="en-US"/>
              <a:t>For example, MenuCommandExecutor establishes a link between the event MenuItem.Click and the associated Command execution method (command.Execute)</a:t>
            </a: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0BDAB99E-E78F-3ADF-8B1B-D01DF9C453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FA6649-97E5-6F4D-A2B0-78BDC46196B8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5541" name="Date Placeholder 4">
            <a:extLst>
              <a:ext uri="{FF2B5EF4-FFF2-40B4-BE49-F238E27FC236}">
                <a16:creationId xmlns:a16="http://schemas.microsoft.com/office/drawing/2014/main" id="{90C4F06A-F976-0CFD-3559-12F903AC70A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72659D-E265-9544-9B5B-E27E89137564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15DC7411-A081-09A0-F519-66B010798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MenuCommandExecutor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92EF5863-E021-CEA0-0384-A520D6F6E1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371600"/>
            <a:ext cx="8686800" cy="5029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public class MenuCommandExecutor : CommandExecutor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public override void InstanceAdded(object item, Command cmd)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MenuItem mi = (MenuItem)item;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mi.Click += new System.EventHandler(menuItem_Click);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base.InstanceAdded(item, cmd);  //Stores UI/Command 						         //relationship in hashtable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private void menuItem_Click(object sender, System.EventArgs e)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Command cmd = GetCommandForInstance(sender);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cmd.Execute();</a:t>
            </a: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40D45FF5-B190-2CC4-7828-3DA7A64C2C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E4894E-377F-D746-8154-4313E610A632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6565" name="Date Placeholder 4">
            <a:extLst>
              <a:ext uri="{FF2B5EF4-FFF2-40B4-BE49-F238E27FC236}">
                <a16:creationId xmlns:a16="http://schemas.microsoft.com/office/drawing/2014/main" id="{A9EE90CE-8571-79DA-141B-240A299E3E7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F19AF1-4FC8-7D43-8FF2-C1EE405CCF91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66566" name="TextBox 5">
            <a:extLst>
              <a:ext uri="{FF2B5EF4-FFF2-40B4-BE49-F238E27FC236}">
                <a16:creationId xmlns:a16="http://schemas.microsoft.com/office/drawing/2014/main" id="{95734ADA-1500-6CB6-591F-E9B6DA085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"/>
            <a:ext cx="1752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Called when we added UI element to Command</a:t>
            </a:r>
          </a:p>
        </p:txBody>
      </p:sp>
      <p:cxnSp>
        <p:nvCxnSpPr>
          <p:cNvPr id="66567" name="Straight Arrow Connector 7">
            <a:extLst>
              <a:ext uri="{FF2B5EF4-FFF2-40B4-BE49-F238E27FC236}">
                <a16:creationId xmlns:a16="http://schemas.microsoft.com/office/drawing/2014/main" id="{ABD19FF4-4C99-2594-66B4-EE97C856979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6400800" y="1752600"/>
            <a:ext cx="8382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0FD8C621-956D-D636-3143-324C295BF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(Again)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C2C557A3-4131-96F0-DE47-458063BC1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7467600" cy="4495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// Create Command Manager object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cmdMgr = new CommandManager();</a:t>
            </a:r>
          </a:p>
          <a:p>
            <a:pPr>
              <a:buFont typeface="Wingdings" pitchFamily="2" charset="2"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//Create a Command “Edit Copy” with a Execute and Copy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//functionality.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cmdMgr.Commands.Add( new Command(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"EditCopy", 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Command.ExecuteHandler(OnCopy), 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Command.UpdateHandler(UpdateCopyCommand)));</a:t>
            </a:r>
          </a:p>
          <a:p>
            <a:pPr>
              <a:buFont typeface="Wingdings" pitchFamily="2" charset="2"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//Associate Command “Edit Copy” with different UI elements (Menu and Toolbar)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cmdMgr.Commands["EditCopy"].CommandInstances.Add(</a:t>
            </a:r>
          </a:p>
          <a:p>
            <a:pPr>
              <a:buFont typeface="Wingdings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    new Object[]{mnuEditCopy, tlbMain.Buttons[4]});</a:t>
            </a: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378D3D73-A3B3-213D-9611-B561D41DBC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72F210-89A4-664F-9A34-8E1C56E76742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7589" name="Date Placeholder 4">
            <a:extLst>
              <a:ext uri="{FF2B5EF4-FFF2-40B4-BE49-F238E27FC236}">
                <a16:creationId xmlns:a16="http://schemas.microsoft.com/office/drawing/2014/main" id="{400CE2BF-185F-A32F-F461-DDFB8D1ED1CD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706EF6-6724-294B-8D80-850AED4059D4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E52105A2-6CDC-01E9-22B6-E559912D8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r>
              <a:rPr lang="en-US" altLang="en-US"/>
              <a:t>Confused?</a:t>
            </a:r>
          </a:p>
        </p:txBody>
      </p:sp>
      <p:sp>
        <p:nvSpPr>
          <p:cNvPr id="68611" name="Slide Number Placeholder 3">
            <a:extLst>
              <a:ext uri="{FF2B5EF4-FFF2-40B4-BE49-F238E27FC236}">
                <a16:creationId xmlns:a16="http://schemas.microsoft.com/office/drawing/2014/main" id="{FF44DBAE-67CB-3D16-230D-60071785BF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2A5A11-9BFB-AC4E-8B36-2BFD18C64164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8612" name="Date Placeholder 4">
            <a:extLst>
              <a:ext uri="{FF2B5EF4-FFF2-40B4-BE49-F238E27FC236}">
                <a16:creationId xmlns:a16="http://schemas.microsoft.com/office/drawing/2014/main" id="{1D2E4AE5-A94D-82EB-6BB2-CA384A27B022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D55F47-4DEA-9344-B8D0-A010466E4F9B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  <p:sp>
        <p:nvSpPr>
          <p:cNvPr id="68613" name="Content Placeholder 5">
            <a:extLst>
              <a:ext uri="{FF2B5EF4-FFF2-40B4-BE49-F238E27FC236}">
                <a16:creationId xmlns:a16="http://schemas.microsoft.com/office/drawing/2014/main" id="{3EFCE08D-EAB2-8E0B-C9E8-AFE1BE243F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458200" cy="4495800"/>
          </a:xfrm>
        </p:spPr>
        <p:txBody>
          <a:bodyPr/>
          <a:lstStyle/>
          <a:p>
            <a:r>
              <a:rPr lang="en-US" altLang="en-US"/>
              <a:t>http://msdn.microsoft.com/en-us/magazine/cc188928.aspx</a:t>
            </a:r>
          </a:p>
          <a:p>
            <a:pPr>
              <a:buFont typeface="Wingdings" pitchFamily="2" charset="2"/>
              <a:buNone/>
            </a:pPr>
            <a:endParaRPr lang="en-US" altLang="en-US"/>
          </a:p>
          <a:p>
            <a:r>
              <a:rPr lang="en-US" altLang="en-US"/>
              <a:t>You can download the code!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1A7675E5-EB5A-8778-9B88-79F6C3EE9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Distributed Command Pattern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5ADD0780-DE7E-7624-EF1F-9646E2E61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Address Chat Window Problem</a:t>
            </a:r>
          </a:p>
          <a:p>
            <a:endParaRPr lang="en-US" altLang="en-US"/>
          </a:p>
          <a:p>
            <a:r>
              <a:rPr lang="en-US" altLang="en-US"/>
              <a:t>http://www.codeproject.com/KB/architecture/distributedcommandpattern.aspx</a:t>
            </a: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A4F23630-39ED-0235-A242-FF5AC1F764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595950-F8BB-A247-A047-9FEAB4C3CE89}" type="slidenum">
              <a:rPr lang="en-US" altLang="en-US" sz="1000">
                <a:latin typeface="Arial Black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000">
              <a:latin typeface="Arial Black" panose="020B0604020202020204" pitchFamily="34" charset="0"/>
            </a:endParaRPr>
          </a:p>
        </p:txBody>
      </p:sp>
      <p:sp>
        <p:nvSpPr>
          <p:cNvPr id="69637" name="Date Placeholder 4">
            <a:extLst>
              <a:ext uri="{FF2B5EF4-FFF2-40B4-BE49-F238E27FC236}">
                <a16:creationId xmlns:a16="http://schemas.microsoft.com/office/drawing/2014/main" id="{6BE8508A-4BE8-5E24-D692-C337DBA096CC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E2D663-670C-2146-BD14-1C82907A7031}" type="datetime1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12/6/23</a:t>
            </a:fld>
            <a:endParaRPr lang="en-US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TDA Elaboration Session I Nov 5</Template>
  <TotalTime>10826</TotalTime>
  <Words>3961</Words>
  <Application>Microsoft Macintosh PowerPoint</Application>
  <PresentationFormat>On-screen Show (4:3)</PresentationFormat>
  <Paragraphs>793</Paragraphs>
  <Slides>61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Wingdings</vt:lpstr>
      <vt:lpstr>Arial Black</vt:lpstr>
      <vt:lpstr>Times New Roman</vt:lpstr>
      <vt:lpstr>Courier New</vt:lpstr>
      <vt:lpstr>Pixel</vt:lpstr>
      <vt:lpstr>Design Patterns</vt:lpstr>
      <vt:lpstr>Agenda</vt:lpstr>
      <vt:lpstr>Remote Control</vt:lpstr>
      <vt:lpstr>First Thoughts</vt:lpstr>
      <vt:lpstr>What Varies?  What stays the same?</vt:lpstr>
      <vt:lpstr>The Vendor Classes (pg 194)</vt:lpstr>
      <vt:lpstr>One possible solution…</vt:lpstr>
      <vt:lpstr>Separation of Concerns</vt:lpstr>
      <vt:lpstr>The Command Pattern</vt:lpstr>
      <vt:lpstr>Command Interface (pg203)</vt:lpstr>
      <vt:lpstr>LightOnCommand (pg203)</vt:lpstr>
      <vt:lpstr>SimpleRemoteControl (pg204)</vt:lpstr>
      <vt:lpstr>RemoteControlTest (pg204)</vt:lpstr>
      <vt:lpstr>The Command Pattern</vt:lpstr>
      <vt:lpstr>PowerPoint Presentation</vt:lpstr>
      <vt:lpstr>Definitions (see Diagram on pg 207)</vt:lpstr>
      <vt:lpstr>Lab Part I</vt:lpstr>
      <vt:lpstr>Lab Part II</vt:lpstr>
      <vt:lpstr>Lab Part III (Design Challenge!)</vt:lpstr>
      <vt:lpstr>Lab Part I Answer</vt:lpstr>
      <vt:lpstr>Lab Part I Answer (cont)</vt:lpstr>
      <vt:lpstr>Lab Part II   Answer</vt:lpstr>
      <vt:lpstr>Lab Part III (Answer)</vt:lpstr>
      <vt:lpstr>Lab Part III (Answer)</vt:lpstr>
      <vt:lpstr>PowerPoint Presentation</vt:lpstr>
      <vt:lpstr>Lab Part III</vt:lpstr>
      <vt:lpstr>Lab Part III</vt:lpstr>
      <vt:lpstr>History of Undo Operations</vt:lpstr>
      <vt:lpstr>History of Undo Operations</vt:lpstr>
      <vt:lpstr>Simple Logging</vt:lpstr>
      <vt:lpstr>Simple Logging</vt:lpstr>
      <vt:lpstr>Complex Logging</vt:lpstr>
      <vt:lpstr>Complex Logging </vt:lpstr>
      <vt:lpstr>Case Study: Command Management</vt:lpstr>
      <vt:lpstr>Question</vt:lpstr>
      <vt:lpstr>Possible Solutions</vt:lpstr>
      <vt:lpstr>Disadvantages</vt:lpstr>
      <vt:lpstr>Command Management Framework</vt:lpstr>
      <vt:lpstr>Example</vt:lpstr>
      <vt:lpstr>Command Manager</vt:lpstr>
      <vt:lpstr>Command Object</vt:lpstr>
      <vt:lpstr>Command Constructor</vt:lpstr>
      <vt:lpstr>Command: Execute() and ProcessUpdates()</vt:lpstr>
      <vt:lpstr>Re-look at EditCopy</vt:lpstr>
      <vt:lpstr>So far..</vt:lpstr>
      <vt:lpstr>Associating UI Elements to a Command</vt:lpstr>
      <vt:lpstr>CommandInstances</vt:lpstr>
      <vt:lpstr>So far..</vt:lpstr>
      <vt:lpstr>How do we enable a Command???</vt:lpstr>
      <vt:lpstr>Command.ProcessUpdates()</vt:lpstr>
      <vt:lpstr>Command.Enabled Property</vt:lpstr>
      <vt:lpstr>Command.Enabled (Psuedo-Code)</vt:lpstr>
      <vt:lpstr>Command.Enabled (Psuedo-Code)</vt:lpstr>
      <vt:lpstr>CommandExecutor</vt:lpstr>
      <vt:lpstr>CommandExecutor</vt:lpstr>
      <vt:lpstr>Command.Enabled (Real Code)</vt:lpstr>
      <vt:lpstr>CommandExecutor - Execution</vt:lpstr>
      <vt:lpstr>MenuCommandExecutor</vt:lpstr>
      <vt:lpstr>Example (Again)</vt:lpstr>
      <vt:lpstr>Confused?</vt:lpstr>
      <vt:lpstr>Distributed Command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Induwara Rajapaksha</cp:lastModifiedBy>
  <cp:revision>1120</cp:revision>
  <cp:lastPrinted>1601-01-01T00:00:00Z</cp:lastPrinted>
  <dcterms:created xsi:type="dcterms:W3CDTF">1601-01-01T00:00:00Z</dcterms:created>
  <dcterms:modified xsi:type="dcterms:W3CDTF">2023-12-06T03:42:38Z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