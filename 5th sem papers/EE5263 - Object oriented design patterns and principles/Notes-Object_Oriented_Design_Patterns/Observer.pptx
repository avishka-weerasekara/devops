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1"/>
  </p:sldMasterIdLst>
  <p:notesMasterIdLst>
    <p:notesMasterId r:id="rId63"/>
  </p:notesMasterIdLst>
  <p:handoutMasterIdLst>
    <p:handoutMasterId r:id="rId64"/>
  </p:handoutMasterIdLst>
  <p:sldIdLst>
    <p:sldId id="285" r:id="rId2"/>
    <p:sldId id="286" r:id="rId3"/>
    <p:sldId id="291" r:id="rId4"/>
    <p:sldId id="373" r:id="rId5"/>
    <p:sldId id="374" r:id="rId6"/>
    <p:sldId id="290" r:id="rId7"/>
    <p:sldId id="289" r:id="rId8"/>
    <p:sldId id="288" r:id="rId9"/>
    <p:sldId id="294" r:id="rId10"/>
    <p:sldId id="293" r:id="rId11"/>
    <p:sldId id="287" r:id="rId12"/>
    <p:sldId id="292" r:id="rId13"/>
    <p:sldId id="295" r:id="rId14"/>
    <p:sldId id="343" r:id="rId15"/>
    <p:sldId id="344" r:id="rId16"/>
    <p:sldId id="345" r:id="rId17"/>
    <p:sldId id="306" r:id="rId18"/>
    <p:sldId id="307" r:id="rId19"/>
    <p:sldId id="309" r:id="rId20"/>
    <p:sldId id="313" r:id="rId21"/>
    <p:sldId id="311" r:id="rId22"/>
    <p:sldId id="312" r:id="rId23"/>
    <p:sldId id="314" r:id="rId24"/>
    <p:sldId id="316" r:id="rId25"/>
    <p:sldId id="315" r:id="rId26"/>
    <p:sldId id="317" r:id="rId27"/>
    <p:sldId id="319" r:id="rId28"/>
    <p:sldId id="318" r:id="rId29"/>
    <p:sldId id="305" r:id="rId30"/>
    <p:sldId id="346" r:id="rId31"/>
    <p:sldId id="325" r:id="rId32"/>
    <p:sldId id="304" r:id="rId33"/>
    <p:sldId id="303" r:id="rId34"/>
    <p:sldId id="326" r:id="rId35"/>
    <p:sldId id="328" r:id="rId36"/>
    <p:sldId id="327" r:id="rId37"/>
    <p:sldId id="330" r:id="rId38"/>
    <p:sldId id="334" r:id="rId39"/>
    <p:sldId id="335" r:id="rId40"/>
    <p:sldId id="329" r:id="rId41"/>
    <p:sldId id="331" r:id="rId42"/>
    <p:sldId id="333" r:id="rId43"/>
    <p:sldId id="338" r:id="rId44"/>
    <p:sldId id="332" r:id="rId45"/>
    <p:sldId id="337" r:id="rId46"/>
    <p:sldId id="336" r:id="rId47"/>
    <p:sldId id="339" r:id="rId48"/>
    <p:sldId id="340" r:id="rId49"/>
    <p:sldId id="341" r:id="rId50"/>
    <p:sldId id="342" r:id="rId51"/>
    <p:sldId id="324" r:id="rId52"/>
    <p:sldId id="349" r:id="rId53"/>
    <p:sldId id="322" r:id="rId54"/>
    <p:sldId id="350" r:id="rId55"/>
    <p:sldId id="351" r:id="rId56"/>
    <p:sldId id="352" r:id="rId57"/>
    <p:sldId id="348" r:id="rId58"/>
    <p:sldId id="347" r:id="rId59"/>
    <p:sldId id="353" r:id="rId60"/>
    <p:sldId id="354" r:id="rId61"/>
    <p:sldId id="355" r:id="rId62"/>
  </p:sldIdLst>
  <p:sldSz cx="9144000" cy="6858000" type="screen4x3"/>
  <p:notesSz cx="9223375" cy="700405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5" autoAdjust="0"/>
    <p:restoredTop sz="77864" autoAdjust="0"/>
  </p:normalViewPr>
  <p:slideViewPr>
    <p:cSldViewPr>
      <p:cViewPr varScale="1">
        <p:scale>
          <a:sx n="85" d="100"/>
          <a:sy n="85" d="100"/>
        </p:scale>
        <p:origin x="1488"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3C477677-F03B-CD89-46E4-97D0EB6AD76A}"/>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63" name="Rectangle 3">
            <a:extLst>
              <a:ext uri="{FF2B5EF4-FFF2-40B4-BE49-F238E27FC236}">
                <a16:creationId xmlns:a16="http://schemas.microsoft.com/office/drawing/2014/main" id="{7C9C5B09-64CA-D730-C48D-06DB0408C964}"/>
              </a:ext>
            </a:extLst>
          </p:cNvPr>
          <p:cNvSpPr>
            <a:spLocks noGrp="1" noChangeArrowheads="1"/>
          </p:cNvSpPr>
          <p:nvPr>
            <p:ph type="dt" sz="quarter"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40964" name="Rectangle 4">
            <a:extLst>
              <a:ext uri="{FF2B5EF4-FFF2-40B4-BE49-F238E27FC236}">
                <a16:creationId xmlns:a16="http://schemas.microsoft.com/office/drawing/2014/main" id="{BBD743C0-87C5-9825-0A7C-C19766012566}"/>
              </a:ext>
            </a:extLst>
          </p:cNvPr>
          <p:cNvSpPr>
            <a:spLocks noGrp="1" noChangeArrowheads="1"/>
          </p:cNvSpPr>
          <p:nvPr>
            <p:ph type="ftr" sz="quarter" idx="2"/>
          </p:nvPr>
        </p:nvSpPr>
        <p:spPr bwMode="auto">
          <a:xfrm>
            <a:off x="0"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0965" name="Rectangle 5">
            <a:extLst>
              <a:ext uri="{FF2B5EF4-FFF2-40B4-BE49-F238E27FC236}">
                <a16:creationId xmlns:a16="http://schemas.microsoft.com/office/drawing/2014/main" id="{FC642A4A-F7FF-5327-97CE-624D6500A1E5}"/>
              </a:ext>
            </a:extLst>
          </p:cNvPr>
          <p:cNvSpPr>
            <a:spLocks noGrp="1" noChangeArrowheads="1"/>
          </p:cNvSpPr>
          <p:nvPr>
            <p:ph type="sldNum" sz="quarter" idx="3"/>
          </p:nvPr>
        </p:nvSpPr>
        <p:spPr bwMode="auto">
          <a:xfrm>
            <a:off x="5224463" y="6651625"/>
            <a:ext cx="3997325" cy="3508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C2A870DD-4607-124F-88F3-ED5C0D0F036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A794A22-F5BB-5018-D978-CB092C3EACBE}"/>
              </a:ext>
            </a:extLst>
          </p:cNvPr>
          <p:cNvSpPr>
            <a:spLocks noGrp="1" noChangeArrowheads="1"/>
          </p:cNvSpPr>
          <p:nvPr>
            <p:ph type="hdr" sz="quarter"/>
          </p:nvPr>
        </p:nvSpPr>
        <p:spPr bwMode="auto">
          <a:xfrm>
            <a:off x="0"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9155" name="Rectangle 3">
            <a:extLst>
              <a:ext uri="{FF2B5EF4-FFF2-40B4-BE49-F238E27FC236}">
                <a16:creationId xmlns:a16="http://schemas.microsoft.com/office/drawing/2014/main" id="{78A4E0D7-BF55-D543-6806-6A9731B7D814}"/>
              </a:ext>
            </a:extLst>
          </p:cNvPr>
          <p:cNvSpPr>
            <a:spLocks noGrp="1" noChangeArrowheads="1"/>
          </p:cNvSpPr>
          <p:nvPr>
            <p:ph type="dt" idx="1"/>
          </p:nvPr>
        </p:nvSpPr>
        <p:spPr bwMode="auto">
          <a:xfrm>
            <a:off x="5224463" y="0"/>
            <a:ext cx="3997325" cy="3508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r>
              <a:rPr lang="en-US"/>
              <a:t>13 November 2008</a:t>
            </a:r>
          </a:p>
        </p:txBody>
      </p:sp>
      <p:sp>
        <p:nvSpPr>
          <p:cNvPr id="13316" name="Rectangle 4">
            <a:extLst>
              <a:ext uri="{FF2B5EF4-FFF2-40B4-BE49-F238E27FC236}">
                <a16:creationId xmlns:a16="http://schemas.microsoft.com/office/drawing/2014/main" id="{C725F2E1-5A5E-ADF8-5428-5DB55415BE20}"/>
              </a:ext>
            </a:extLst>
          </p:cNvPr>
          <p:cNvSpPr>
            <a:spLocks noGrp="1" noRot="1" noChangeAspect="1" noChangeArrowheads="1" noTextEdit="1"/>
          </p:cNvSpPr>
          <p:nvPr>
            <p:ph type="sldImg" idx="2"/>
          </p:nvPr>
        </p:nvSpPr>
        <p:spPr bwMode="auto">
          <a:xfrm>
            <a:off x="2860675" y="525463"/>
            <a:ext cx="3502025" cy="2625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7" name="Rectangle 5">
            <a:extLst>
              <a:ext uri="{FF2B5EF4-FFF2-40B4-BE49-F238E27FC236}">
                <a16:creationId xmlns:a16="http://schemas.microsoft.com/office/drawing/2014/main" id="{E03D86A4-F2A2-C937-B4E1-1770907BD2EF}"/>
              </a:ext>
            </a:extLst>
          </p:cNvPr>
          <p:cNvSpPr>
            <a:spLocks noGrp="1" noChangeArrowheads="1"/>
          </p:cNvSpPr>
          <p:nvPr>
            <p:ph type="body" sz="quarter" idx="3"/>
          </p:nvPr>
        </p:nvSpPr>
        <p:spPr bwMode="auto">
          <a:xfrm>
            <a:off x="922338" y="3327400"/>
            <a:ext cx="7378700" cy="3151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6">
            <a:extLst>
              <a:ext uri="{FF2B5EF4-FFF2-40B4-BE49-F238E27FC236}">
                <a16:creationId xmlns:a16="http://schemas.microsoft.com/office/drawing/2014/main" id="{86958FCC-A433-8939-BC7F-8982AF9F74C4}"/>
              </a:ext>
            </a:extLst>
          </p:cNvPr>
          <p:cNvSpPr>
            <a:spLocks noGrp="1" noChangeArrowheads="1"/>
          </p:cNvSpPr>
          <p:nvPr>
            <p:ph type="ftr" sz="quarter" idx="4"/>
          </p:nvPr>
        </p:nvSpPr>
        <p:spPr bwMode="auto">
          <a:xfrm>
            <a:off x="0"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9159" name="Rectangle 7">
            <a:extLst>
              <a:ext uri="{FF2B5EF4-FFF2-40B4-BE49-F238E27FC236}">
                <a16:creationId xmlns:a16="http://schemas.microsoft.com/office/drawing/2014/main" id="{FF1D3AFD-CE73-F655-2058-CC6E556EC759}"/>
              </a:ext>
            </a:extLst>
          </p:cNvPr>
          <p:cNvSpPr>
            <a:spLocks noGrp="1" noChangeArrowheads="1"/>
          </p:cNvSpPr>
          <p:nvPr>
            <p:ph type="sldNum" sz="quarter" idx="5"/>
          </p:nvPr>
        </p:nvSpPr>
        <p:spPr bwMode="auto">
          <a:xfrm>
            <a:off x="5224463" y="6653213"/>
            <a:ext cx="3997325" cy="349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BBE472EC-9C4F-BA4B-BAF7-91D25A718524}"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67DA0361-8F35-DE73-D3E3-7C36C0438BB5}"/>
              </a:ext>
            </a:extLst>
          </p:cNvPr>
          <p:cNvSpPr>
            <a:spLocks noGrp="1" noRot="1" noChangeAspect="1" noTextEdit="1"/>
          </p:cNvSpPr>
          <p:nvPr>
            <p:ph type="sldImg"/>
          </p:nvPr>
        </p:nvSpPr>
        <p:spPr>
          <a:ln/>
        </p:spPr>
      </p:sp>
      <p:sp>
        <p:nvSpPr>
          <p:cNvPr id="16386" name="Notes Placeholder 2">
            <a:extLst>
              <a:ext uri="{FF2B5EF4-FFF2-40B4-BE49-F238E27FC236}">
                <a16:creationId xmlns:a16="http://schemas.microsoft.com/office/drawing/2014/main" id="{B8085BF0-B568-3305-2976-1FCB75C0C33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6387" name="Date Placeholder 3">
            <a:extLst>
              <a:ext uri="{FF2B5EF4-FFF2-40B4-BE49-F238E27FC236}">
                <a16:creationId xmlns:a16="http://schemas.microsoft.com/office/drawing/2014/main" id="{E1417144-0F81-28C0-5604-982A2E500857}"/>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16388" name="Slide Number Placeholder 4">
            <a:extLst>
              <a:ext uri="{FF2B5EF4-FFF2-40B4-BE49-F238E27FC236}">
                <a16:creationId xmlns:a16="http://schemas.microsoft.com/office/drawing/2014/main" id="{39EF9A08-EB49-2CED-6495-A4D88B1D74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F208D9-1A52-E644-B92F-41DC82711B21}"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7D6CD409-2DB7-5363-5CB2-B89BDD2B5534}"/>
              </a:ext>
            </a:extLst>
          </p:cNvPr>
          <p:cNvSpPr>
            <a:spLocks noGrp="1" noRot="1" noChangeAspect="1" noTextEdit="1"/>
          </p:cNvSpPr>
          <p:nvPr>
            <p:ph type="sldImg"/>
          </p:nvPr>
        </p:nvSpPr>
        <p:spPr>
          <a:ln/>
        </p:spPr>
      </p:sp>
      <p:sp>
        <p:nvSpPr>
          <p:cNvPr id="23554" name="Notes Placeholder 2">
            <a:extLst>
              <a:ext uri="{FF2B5EF4-FFF2-40B4-BE49-F238E27FC236}">
                <a16:creationId xmlns:a16="http://schemas.microsoft.com/office/drawing/2014/main" id="{AEF11F93-8CCA-0C35-B08E-BF47F0B45F1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r>
              <a:rPr lang="en-US" altLang="en-US" b="1" u="sng">
                <a:solidFill>
                  <a:srgbClr val="FF0000"/>
                </a:solidFill>
                <a:latin typeface="Arial" panose="020B0604020202020204" pitchFamily="34" charset="0"/>
              </a:rPr>
              <a:t>Questions:</a:t>
            </a:r>
            <a:r>
              <a:rPr lang="en-US" altLang="en-US">
                <a:latin typeface="Arial" panose="020B0604020202020204" pitchFamily="34" charset="0"/>
              </a:rPr>
              <a:t> </a:t>
            </a:r>
          </a:p>
          <a:p>
            <a:pPr>
              <a:spcBef>
                <a:spcPct val="0"/>
              </a:spcBef>
            </a:pPr>
            <a:r>
              <a:rPr lang="en-US" altLang="en-US">
                <a:latin typeface="Arial" panose="020B0604020202020204" pitchFamily="34" charset="0"/>
              </a:rPr>
              <a:t>Which field is used for storing the list of Observers?  </a:t>
            </a:r>
          </a:p>
          <a:p>
            <a:pPr>
              <a:spcBef>
                <a:spcPct val="0"/>
              </a:spcBef>
            </a:pPr>
            <a:r>
              <a:rPr lang="en-US" altLang="en-US">
                <a:latin typeface="Arial" panose="020B0604020202020204" pitchFamily="34" charset="0"/>
              </a:rPr>
              <a:t>How does an Observer add itself to this list?</a:t>
            </a:r>
          </a:p>
          <a:p>
            <a:endParaRPr lang="en-US" altLang="en-US">
              <a:latin typeface="Arial" panose="020B0604020202020204" pitchFamily="34" charset="0"/>
            </a:endParaRPr>
          </a:p>
        </p:txBody>
      </p:sp>
      <p:sp>
        <p:nvSpPr>
          <p:cNvPr id="23555" name="Date Placeholder 3">
            <a:extLst>
              <a:ext uri="{FF2B5EF4-FFF2-40B4-BE49-F238E27FC236}">
                <a16:creationId xmlns:a16="http://schemas.microsoft.com/office/drawing/2014/main" id="{0F43B9C2-F762-B553-CFF2-CAFC13FAFB4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23556" name="Slide Number Placeholder 4">
            <a:extLst>
              <a:ext uri="{FF2B5EF4-FFF2-40B4-BE49-F238E27FC236}">
                <a16:creationId xmlns:a16="http://schemas.microsoft.com/office/drawing/2014/main" id="{BFBB4EEA-EF68-A171-4023-278D6CBC5F0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EC3607-E8A7-6D48-96E6-B43C4E9F649A}" type="slidenum">
              <a:rPr lang="en-US" altLang="en-US"/>
              <a:pPr/>
              <a:t>8</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AE0090DF-3649-748E-CD10-B648300B0A7A}"/>
              </a:ext>
            </a:extLst>
          </p:cNvPr>
          <p:cNvSpPr>
            <a:spLocks noGrp="1" noRot="1" noChangeAspect="1" noTextEdit="1"/>
          </p:cNvSpPr>
          <p:nvPr>
            <p:ph type="sldImg"/>
          </p:nvPr>
        </p:nvSpPr>
        <p:spPr>
          <a:ln/>
        </p:spPr>
      </p:sp>
      <p:sp>
        <p:nvSpPr>
          <p:cNvPr id="30722" name="Notes Placeholder 2">
            <a:extLst>
              <a:ext uri="{FF2B5EF4-FFF2-40B4-BE49-F238E27FC236}">
                <a16:creationId xmlns:a16="http://schemas.microsoft.com/office/drawing/2014/main" id="{AABE25F2-4D2A-98C1-414D-9026463E7C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r>
              <a:rPr lang="en-US" altLang="en-US">
                <a:latin typeface="Arial" panose="020B0604020202020204" pitchFamily="34" charset="0"/>
              </a:rPr>
              <a:t>Interface breaks.</a:t>
            </a:r>
          </a:p>
          <a:p>
            <a:pPr marL="228600" indent="-228600">
              <a:buFontTx/>
              <a:buAutoNum type="arabicPeriod"/>
            </a:pPr>
            <a:r>
              <a:rPr lang="en-US" altLang="en-US">
                <a:latin typeface="Arial" panose="020B0604020202020204" pitchFamily="34" charset="0"/>
              </a:rPr>
              <a:t>By value.  The Observer needs to have it’s own version of the state data.</a:t>
            </a:r>
          </a:p>
          <a:p>
            <a:pPr marL="228600" indent="-228600">
              <a:buFontTx/>
              <a:buAutoNum type="arabicPeriod"/>
            </a:pPr>
            <a:r>
              <a:rPr lang="en-US" altLang="en-US">
                <a:latin typeface="Arial" panose="020B0604020202020204" pitchFamily="34" charset="0"/>
              </a:rPr>
              <a:t>Problem is that the Subject sends a lot more information that needed.  We can resolve by sending a null value for data that has not changed.</a:t>
            </a:r>
          </a:p>
        </p:txBody>
      </p:sp>
      <p:sp>
        <p:nvSpPr>
          <p:cNvPr id="30723" name="Date Placeholder 3">
            <a:extLst>
              <a:ext uri="{FF2B5EF4-FFF2-40B4-BE49-F238E27FC236}">
                <a16:creationId xmlns:a16="http://schemas.microsoft.com/office/drawing/2014/main" id="{70513716-799D-5648-6017-F91D3620FB9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0724" name="Slide Number Placeholder 4">
            <a:extLst>
              <a:ext uri="{FF2B5EF4-FFF2-40B4-BE49-F238E27FC236}">
                <a16:creationId xmlns:a16="http://schemas.microsoft.com/office/drawing/2014/main" id="{BCDA5AD6-9591-499A-0499-6709EC4449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BE8A9DA-BFE1-D940-B0C1-CCD9580D25EC}" type="slidenum">
              <a:rPr lang="en-US" altLang="en-US"/>
              <a:pPr/>
              <a:t>14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91D39654-3CD4-AA17-1FE5-CAECCE6AD017}"/>
              </a:ext>
            </a:extLst>
          </p:cNvPr>
          <p:cNvSpPr>
            <a:spLocks noGrp="1" noRot="1" noChangeAspect="1" noTextEdit="1"/>
          </p:cNvSpPr>
          <p:nvPr>
            <p:ph type="sldImg"/>
          </p:nvPr>
        </p:nvSpPr>
        <p:spPr>
          <a:ln/>
        </p:spPr>
      </p:sp>
      <p:sp>
        <p:nvSpPr>
          <p:cNvPr id="32770" name="Notes Placeholder 2">
            <a:extLst>
              <a:ext uri="{FF2B5EF4-FFF2-40B4-BE49-F238E27FC236}">
                <a16:creationId xmlns:a16="http://schemas.microsoft.com/office/drawing/2014/main" id="{CA32B1B6-1639-1090-47F6-4A4C40141B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r>
              <a:rPr lang="en-US" altLang="en-US">
                <a:latin typeface="Arial" panose="020B0604020202020204" pitchFamily="34" charset="0"/>
              </a:rPr>
              <a:t>No. We would need to cast the subject to a specific subject so that we can get the properties that we want.  This ties our Observer to a very specific Subject. Note with the Push model, the Observer did not need to know about the Subject data.</a:t>
            </a:r>
          </a:p>
          <a:p>
            <a:pPr marL="228600" indent="-228600">
              <a:buFontTx/>
              <a:buAutoNum type="arabicPeriod"/>
            </a:pPr>
            <a:endParaRPr lang="en-US" altLang="en-US">
              <a:latin typeface="Arial" panose="020B0604020202020204" pitchFamily="34" charset="0"/>
            </a:endParaRPr>
          </a:p>
          <a:p>
            <a:pPr marL="228600" indent="-228600">
              <a:buFontTx/>
              <a:buAutoNum type="arabicPeriod"/>
            </a:pPr>
            <a:r>
              <a:rPr lang="en-US" altLang="en-US">
                <a:latin typeface="Arial" panose="020B0604020202020204" pitchFamily="34" charset="0"/>
                <a:cs typeface="Courier New" panose="02070309020205020404" pitchFamily="49" charset="0"/>
              </a:rPr>
              <a:t>Question 2:  Let’s say CurrentConditionsDisplay gets notified that WeatherData has a change.  It goes to retrieve the new temperature…but right before it does, WeatherData gets another temperature change and is reset to the original temperature value.  Does the Observer notice any real change?  How can we resolve?</a:t>
            </a:r>
          </a:p>
          <a:p>
            <a:pPr marL="228600" indent="-228600">
              <a:buFontTx/>
              <a:buAutoNum type="arabicPeriod"/>
            </a:pPr>
            <a:endParaRPr lang="en-US" altLang="en-US">
              <a:latin typeface="Arial" panose="020B0604020202020204" pitchFamily="34" charset="0"/>
            </a:endParaRPr>
          </a:p>
        </p:txBody>
      </p:sp>
      <p:sp>
        <p:nvSpPr>
          <p:cNvPr id="32771" name="Date Placeholder 3">
            <a:extLst>
              <a:ext uri="{FF2B5EF4-FFF2-40B4-BE49-F238E27FC236}">
                <a16:creationId xmlns:a16="http://schemas.microsoft.com/office/drawing/2014/main" id="{18615702-E4B1-56D9-DBB5-23B5FC799DBC}"/>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2772" name="Slide Number Placeholder 4">
            <a:extLst>
              <a:ext uri="{FF2B5EF4-FFF2-40B4-BE49-F238E27FC236}">
                <a16:creationId xmlns:a16="http://schemas.microsoft.com/office/drawing/2014/main" id="{5ED806A3-B3A7-0C7B-40EA-204F947802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F1FC92-6F34-6349-950D-5B30CA063084}" type="slidenum">
              <a:rPr lang="en-US" altLang="en-US"/>
              <a:pPr/>
              <a:t>15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DEEBCE66-D785-389C-7817-E04F7FCE8C65}"/>
              </a:ext>
            </a:extLst>
          </p:cNvPr>
          <p:cNvSpPr>
            <a:spLocks noGrp="1" noRot="1" noChangeAspect="1" noTextEdit="1"/>
          </p:cNvSpPr>
          <p:nvPr>
            <p:ph type="sldImg"/>
          </p:nvPr>
        </p:nvSpPr>
        <p:spPr>
          <a:ln/>
        </p:spPr>
      </p:sp>
      <p:sp>
        <p:nvSpPr>
          <p:cNvPr id="36866" name="Notes Placeholder 2">
            <a:extLst>
              <a:ext uri="{FF2B5EF4-FFF2-40B4-BE49-F238E27FC236}">
                <a16:creationId xmlns:a16="http://schemas.microsoft.com/office/drawing/2014/main" id="{1D3F2093-0C12-8057-8A1A-82EFF5E9D1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1. reigsterObserver</a:t>
            </a:r>
          </a:p>
          <a:p>
            <a:r>
              <a:rPr lang="en-US" altLang="en-US">
                <a:latin typeface="Arial" panose="020B0604020202020204" pitchFamily="34" charset="0"/>
              </a:rPr>
              <a:t>removeObserver</a:t>
            </a:r>
          </a:p>
          <a:p>
            <a:r>
              <a:rPr lang="en-US" altLang="en-US">
                <a:latin typeface="Arial" panose="020B0604020202020204" pitchFamily="34" charset="0"/>
              </a:rPr>
              <a:t>notifyObservers</a:t>
            </a:r>
          </a:p>
          <a:p>
            <a:endParaRPr lang="en-US" altLang="en-US">
              <a:latin typeface="Arial" panose="020B0604020202020204" pitchFamily="34" charset="0"/>
            </a:endParaRPr>
          </a:p>
          <a:p>
            <a:r>
              <a:rPr lang="en-US" altLang="en-US">
                <a:latin typeface="Arial" panose="020B0604020202020204" pitchFamily="34" charset="0"/>
              </a:rPr>
              <a:t>2. ArrayList observers</a:t>
            </a:r>
          </a:p>
          <a:p>
            <a:endParaRPr lang="en-US" altLang="en-US">
              <a:latin typeface="Arial" panose="020B0604020202020204" pitchFamily="34" charset="0"/>
            </a:endParaRPr>
          </a:p>
          <a:p>
            <a:r>
              <a:rPr lang="en-US" altLang="en-US">
                <a:latin typeface="Arial" panose="020B0604020202020204" pitchFamily="34" charset="0"/>
              </a:rPr>
              <a:t>3. Initialize the ArrayList of observers</a:t>
            </a:r>
          </a:p>
        </p:txBody>
      </p:sp>
      <p:sp>
        <p:nvSpPr>
          <p:cNvPr id="36867" name="Date Placeholder 3">
            <a:extLst>
              <a:ext uri="{FF2B5EF4-FFF2-40B4-BE49-F238E27FC236}">
                <a16:creationId xmlns:a16="http://schemas.microsoft.com/office/drawing/2014/main" id="{308E30AB-5CD9-EDF0-D0F2-AC3D4E97DB95}"/>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6868" name="Slide Number Placeholder 4">
            <a:extLst>
              <a:ext uri="{FF2B5EF4-FFF2-40B4-BE49-F238E27FC236}">
                <a16:creationId xmlns:a16="http://schemas.microsoft.com/office/drawing/2014/main" id="{23A884CE-1B03-DD43-3612-E0736E8205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5E2515-EB02-8D47-96FA-439E6A528CB7}" type="slidenum">
              <a:rPr lang="en-US" altLang="en-US"/>
              <a:pPr/>
              <a:t>18</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F19462C5-0F9F-C955-14B6-269ACCFEA449}"/>
              </a:ext>
            </a:extLst>
          </p:cNvPr>
          <p:cNvSpPr>
            <a:spLocks noGrp="1" noRot="1" noChangeAspect="1" noTextEdit="1"/>
          </p:cNvSpPr>
          <p:nvPr>
            <p:ph type="sldImg"/>
          </p:nvPr>
        </p:nvSpPr>
        <p:spPr>
          <a:ln/>
        </p:spPr>
      </p:sp>
      <p:sp>
        <p:nvSpPr>
          <p:cNvPr id="38914" name="Notes Placeholder 2">
            <a:extLst>
              <a:ext uri="{FF2B5EF4-FFF2-40B4-BE49-F238E27FC236}">
                <a16:creationId xmlns:a16="http://schemas.microsoft.com/office/drawing/2014/main" id="{9624FAB2-5FF4-FFB4-CB3D-61F4A373B4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Temperature, humidity, and pressure aren’t part of a generic subject.</a:t>
            </a:r>
          </a:p>
        </p:txBody>
      </p:sp>
      <p:sp>
        <p:nvSpPr>
          <p:cNvPr id="38915" name="Date Placeholder 3">
            <a:extLst>
              <a:ext uri="{FF2B5EF4-FFF2-40B4-BE49-F238E27FC236}">
                <a16:creationId xmlns:a16="http://schemas.microsoft.com/office/drawing/2014/main" id="{4D261202-EF1D-1193-60A6-D8E31F3976A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38916" name="Slide Number Placeholder 4">
            <a:extLst>
              <a:ext uri="{FF2B5EF4-FFF2-40B4-BE49-F238E27FC236}">
                <a16:creationId xmlns:a16="http://schemas.microsoft.com/office/drawing/2014/main" id="{C7AFCB7C-1309-CD70-D419-FBEEBCD37E1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79FE7E5-C11F-B047-9607-C0603305C8AB}" type="slidenum">
              <a:rPr lang="en-US" altLang="en-US"/>
              <a:pPr/>
              <a:t>19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462B46C5-5E0F-E346-FCA3-DF14A74DB2C8}"/>
              </a:ext>
            </a:extLst>
          </p:cNvPr>
          <p:cNvSpPr>
            <a:spLocks noGrp="1" noRot="1" noChangeAspect="1" noTextEdit="1"/>
          </p:cNvSpPr>
          <p:nvPr>
            <p:ph type="sldImg"/>
          </p:nvPr>
        </p:nvSpPr>
        <p:spPr>
          <a:ln/>
        </p:spPr>
      </p:sp>
      <p:sp>
        <p:nvSpPr>
          <p:cNvPr id="40962" name="Notes Placeholder 2">
            <a:extLst>
              <a:ext uri="{FF2B5EF4-FFF2-40B4-BE49-F238E27FC236}">
                <a16:creationId xmlns:a16="http://schemas.microsoft.com/office/drawing/2014/main" id="{18B7D662-748E-1522-5424-7BC9FF6243A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Is this implying Push or Pull?</a:t>
            </a:r>
          </a:p>
          <a:p>
            <a:endParaRPr lang="en-US" altLang="en-US">
              <a:latin typeface="Arial" panose="020B0604020202020204" pitchFamily="34" charset="0"/>
            </a:endParaRPr>
          </a:p>
        </p:txBody>
      </p:sp>
      <p:sp>
        <p:nvSpPr>
          <p:cNvPr id="40963" name="Date Placeholder 3">
            <a:extLst>
              <a:ext uri="{FF2B5EF4-FFF2-40B4-BE49-F238E27FC236}">
                <a16:creationId xmlns:a16="http://schemas.microsoft.com/office/drawing/2014/main" id="{22AE734C-9736-5C0F-E4C1-6C484B84876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40964" name="Slide Number Placeholder 4">
            <a:extLst>
              <a:ext uri="{FF2B5EF4-FFF2-40B4-BE49-F238E27FC236}">
                <a16:creationId xmlns:a16="http://schemas.microsoft.com/office/drawing/2014/main" id="{AADD08D6-5585-F6B9-B832-1F418892C51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CECBF7C-556C-8941-A8BC-71DD9EE2022D}" type="slidenum">
              <a:rPr lang="en-US" altLang="en-US"/>
              <a:pPr/>
              <a:t>20</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57F96D8C-0CEE-C42B-8609-99BB41AFF9DC}"/>
              </a:ext>
            </a:extLst>
          </p:cNvPr>
          <p:cNvSpPr>
            <a:spLocks noGrp="1" noRot="1" noChangeAspect="1" noTextEdit="1"/>
          </p:cNvSpPr>
          <p:nvPr>
            <p:ph type="sldImg"/>
          </p:nvPr>
        </p:nvSpPr>
        <p:spPr>
          <a:ln/>
        </p:spPr>
      </p:sp>
      <p:sp>
        <p:nvSpPr>
          <p:cNvPr id="53250" name="Notes Placeholder 2">
            <a:extLst>
              <a:ext uri="{FF2B5EF4-FFF2-40B4-BE49-F238E27FC236}">
                <a16:creationId xmlns:a16="http://schemas.microsoft.com/office/drawing/2014/main" id="{AEB67F83-F48C-6F1A-8BED-F12C2A8F64D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53251" name="Date Placeholder 3">
            <a:extLst>
              <a:ext uri="{FF2B5EF4-FFF2-40B4-BE49-F238E27FC236}">
                <a16:creationId xmlns:a16="http://schemas.microsoft.com/office/drawing/2014/main" id="{52B3607A-4C21-741F-F001-7CF364726D31}"/>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53252" name="Slide Number Placeholder 4">
            <a:extLst>
              <a:ext uri="{FF2B5EF4-FFF2-40B4-BE49-F238E27FC236}">
                <a16:creationId xmlns:a16="http://schemas.microsoft.com/office/drawing/2014/main" id="{6B62AA4A-97F4-70E8-AA01-C61C00BE79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03AF7F-9731-3344-ADF7-1DEADAD5FB68}" type="slidenum">
              <a:rPr lang="en-US" altLang="en-US"/>
              <a:pPr/>
              <a:t>31</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18CA2E38-0782-A4A0-44D5-A28102D63B42}"/>
              </a:ext>
            </a:extLst>
          </p:cNvPr>
          <p:cNvSpPr>
            <a:spLocks noGrp="1" noRot="1" noChangeAspect="1" noTextEdit="1"/>
          </p:cNvSpPr>
          <p:nvPr>
            <p:ph type="sldImg"/>
          </p:nvPr>
        </p:nvSpPr>
        <p:spPr>
          <a:ln/>
        </p:spPr>
      </p:sp>
      <p:sp>
        <p:nvSpPr>
          <p:cNvPr id="63490" name="Notes Placeholder 2">
            <a:extLst>
              <a:ext uri="{FF2B5EF4-FFF2-40B4-BE49-F238E27FC236}">
                <a16:creationId xmlns:a16="http://schemas.microsoft.com/office/drawing/2014/main" id="{93734DC7-B56B-441E-8869-ECE5C59130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buFontTx/>
              <a:buAutoNum type="arabicPeriod"/>
            </a:pPr>
            <a:r>
              <a:rPr lang="en-US" altLang="en-US">
                <a:latin typeface="Arial" panose="020B0604020202020204" pitchFamily="34" charset="0"/>
              </a:rPr>
              <a:t>The Subject passed on a reference to itself.</a:t>
            </a:r>
          </a:p>
          <a:p>
            <a:pPr marL="228600" indent="-228600">
              <a:buFontTx/>
              <a:buAutoNum type="arabicPeriod"/>
            </a:pPr>
            <a:endParaRPr lang="en-US" altLang="en-US">
              <a:latin typeface="Arial" panose="020B0604020202020204" pitchFamily="34" charset="0"/>
            </a:endParaRPr>
          </a:p>
          <a:p>
            <a:pPr marL="228600" indent="-228600">
              <a:buFontTx/>
              <a:buAutoNum type="arabicPeriod"/>
            </a:pPr>
            <a:r>
              <a:rPr lang="en-US" altLang="en-US">
                <a:latin typeface="Arial" panose="020B0604020202020204" pitchFamily="34" charset="0"/>
              </a:rPr>
              <a:t>The SubjectEvent needs to pass the Subject as well.</a:t>
            </a:r>
          </a:p>
          <a:p>
            <a:pPr marL="228600" indent="-228600">
              <a:buFontTx/>
              <a:buAutoNum type="arabicPeriod"/>
            </a:pPr>
            <a:endParaRPr lang="en-US" altLang="en-US">
              <a:latin typeface="Arial" panose="020B0604020202020204" pitchFamily="34" charset="0"/>
            </a:endParaRPr>
          </a:p>
          <a:p>
            <a:pPr marL="228600" indent="-228600">
              <a:buFontTx/>
              <a:buAutoNum type="arabicPeriod"/>
            </a:pPr>
            <a:r>
              <a:rPr lang="en-US" altLang="en-US">
                <a:latin typeface="Arial" panose="020B0604020202020204" pitchFamily="34" charset="0"/>
              </a:rPr>
              <a:t>The SubjectEvent needs to tell the Observer the name of the event.</a:t>
            </a:r>
          </a:p>
        </p:txBody>
      </p:sp>
      <p:sp>
        <p:nvSpPr>
          <p:cNvPr id="63491" name="Date Placeholder 3">
            <a:extLst>
              <a:ext uri="{FF2B5EF4-FFF2-40B4-BE49-F238E27FC236}">
                <a16:creationId xmlns:a16="http://schemas.microsoft.com/office/drawing/2014/main" id="{23DF344A-186D-BA5D-07FD-1F3E0BA52B0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63492" name="Slide Number Placeholder 4">
            <a:extLst>
              <a:ext uri="{FF2B5EF4-FFF2-40B4-BE49-F238E27FC236}">
                <a16:creationId xmlns:a16="http://schemas.microsoft.com/office/drawing/2014/main" id="{CB3A9F1A-0002-82C5-1262-00FEA03EDB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691720E-ABF5-5C4E-BBC4-AC9357FF3810}" type="slidenum">
              <a:rPr lang="en-US" altLang="en-US"/>
              <a:pPr/>
              <a:t>40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881089B5-C90D-2FAB-2522-136881B47471}"/>
              </a:ext>
            </a:extLst>
          </p:cNvPr>
          <p:cNvSpPr>
            <a:spLocks noGrp="1" noRot="1" noChangeAspect="1" noTextEdit="1"/>
          </p:cNvSpPr>
          <p:nvPr>
            <p:ph type="sldImg"/>
          </p:nvPr>
        </p:nvSpPr>
        <p:spPr>
          <a:ln/>
        </p:spPr>
      </p:sp>
      <p:sp>
        <p:nvSpPr>
          <p:cNvPr id="82946" name="Notes Placeholder 2">
            <a:extLst>
              <a:ext uri="{FF2B5EF4-FFF2-40B4-BE49-F238E27FC236}">
                <a16:creationId xmlns:a16="http://schemas.microsoft.com/office/drawing/2014/main" id="{8ACA4F21-2FBC-09A6-F6F1-D7F044AA46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Observer = Search Screen.  Just one observer</a:t>
            </a:r>
          </a:p>
          <a:p>
            <a:r>
              <a:rPr lang="en-US" altLang="en-US">
                <a:latin typeface="Arial" panose="020B0604020202020204" pitchFamily="34" charset="0"/>
              </a:rPr>
              <a:t>Multiple Subjects</a:t>
            </a:r>
          </a:p>
        </p:txBody>
      </p:sp>
      <p:sp>
        <p:nvSpPr>
          <p:cNvPr id="82947" name="Date Placeholder 3">
            <a:extLst>
              <a:ext uri="{FF2B5EF4-FFF2-40B4-BE49-F238E27FC236}">
                <a16:creationId xmlns:a16="http://schemas.microsoft.com/office/drawing/2014/main" id="{5F5BB67D-ED47-F17D-49F1-723C91FE99C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82948" name="Slide Number Placeholder 4">
            <a:extLst>
              <a:ext uri="{FF2B5EF4-FFF2-40B4-BE49-F238E27FC236}">
                <a16:creationId xmlns:a16="http://schemas.microsoft.com/office/drawing/2014/main" id="{8FB46AA8-428C-503C-FA58-32B1BD7581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2869DEF-7235-844D-97F6-64586597010A}" type="slidenum">
              <a:rPr lang="en-US" altLang="en-US"/>
              <a:pPr/>
              <a:t>58</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1C1ABAA2-B855-AEFD-F870-F6910DC7043C}"/>
              </a:ext>
            </a:extLst>
          </p:cNvPr>
          <p:cNvSpPr>
            <a:spLocks noGrp="1" noRot="1" noChangeAspect="1" noTextEdit="1"/>
          </p:cNvSpPr>
          <p:nvPr>
            <p:ph type="sldImg"/>
          </p:nvPr>
        </p:nvSpPr>
        <p:spPr>
          <a:ln/>
        </p:spPr>
      </p:sp>
      <p:sp>
        <p:nvSpPr>
          <p:cNvPr id="86018" name="Notes Placeholder 2">
            <a:extLst>
              <a:ext uri="{FF2B5EF4-FFF2-40B4-BE49-F238E27FC236}">
                <a16:creationId xmlns:a16="http://schemas.microsoft.com/office/drawing/2014/main" id="{9724EEFC-70DE-C3A6-1EDF-5865F5492BC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Observers = Each Child Node</a:t>
            </a:r>
          </a:p>
          <a:p>
            <a:r>
              <a:rPr lang="en-US" altLang="en-US">
                <a:latin typeface="Arial" panose="020B0604020202020204" pitchFamily="34" charset="0"/>
              </a:rPr>
              <a:t>Subject = Parent Node</a:t>
            </a:r>
          </a:p>
        </p:txBody>
      </p:sp>
      <p:sp>
        <p:nvSpPr>
          <p:cNvPr id="86019" name="Date Placeholder 3">
            <a:extLst>
              <a:ext uri="{FF2B5EF4-FFF2-40B4-BE49-F238E27FC236}">
                <a16:creationId xmlns:a16="http://schemas.microsoft.com/office/drawing/2014/main" id="{88EE2F14-5A4D-20C2-15DD-FC694A36C46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13 November 2008</a:t>
            </a:r>
          </a:p>
        </p:txBody>
      </p:sp>
      <p:sp>
        <p:nvSpPr>
          <p:cNvPr id="86020" name="Slide Number Placeholder 4">
            <a:extLst>
              <a:ext uri="{FF2B5EF4-FFF2-40B4-BE49-F238E27FC236}">
                <a16:creationId xmlns:a16="http://schemas.microsoft.com/office/drawing/2014/main" id="{23084260-1091-D1C0-CD43-7D6647F206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22B787-D137-E44F-B312-FBEB68132CD5}" type="slidenum">
              <a:rPr lang="en-US" altLang="en-US"/>
              <a:pPr/>
              <a:t>60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DC0435D-1223-EC3D-2B69-1FD1BD522C29}"/>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4A637721-2205-8DE8-BF2E-A2ADC7700B0E}"/>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sz="2400">
                <a:latin typeface="Times New Roman" charset="0"/>
              </a:endParaRPr>
            </a:p>
          </p:txBody>
        </p:sp>
        <p:sp>
          <p:nvSpPr>
            <p:cNvPr id="4" name="Rectangle 4">
              <a:extLst>
                <a:ext uri="{FF2B5EF4-FFF2-40B4-BE49-F238E27FC236}">
                  <a16:creationId xmlns:a16="http://schemas.microsoft.com/office/drawing/2014/main" id="{53900AF6-7CA2-A46E-456D-7745BF752698}"/>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grpSp>
          <p:nvGrpSpPr>
            <p:cNvPr id="5" name="Group 5">
              <a:extLst>
                <a:ext uri="{FF2B5EF4-FFF2-40B4-BE49-F238E27FC236}">
                  <a16:creationId xmlns:a16="http://schemas.microsoft.com/office/drawing/2014/main" id="{676E71F0-6269-DB67-7554-5EE93DCBEDAE}"/>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F4DF88C8-C5DC-5E49-E789-1F545BABCA01}"/>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7" name="Rectangle 7">
                <a:extLst>
                  <a:ext uri="{FF2B5EF4-FFF2-40B4-BE49-F238E27FC236}">
                    <a16:creationId xmlns:a16="http://schemas.microsoft.com/office/drawing/2014/main" id="{B291541C-878D-3835-073F-9A50CCF7A305}"/>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8" name="Rectangle 8">
                <a:extLst>
                  <a:ext uri="{FF2B5EF4-FFF2-40B4-BE49-F238E27FC236}">
                    <a16:creationId xmlns:a16="http://schemas.microsoft.com/office/drawing/2014/main" id="{5B492B5E-0ECE-E5B4-3D19-DD42446235E9}"/>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9" name="Rectangle 9">
                <a:extLst>
                  <a:ext uri="{FF2B5EF4-FFF2-40B4-BE49-F238E27FC236}">
                    <a16:creationId xmlns:a16="http://schemas.microsoft.com/office/drawing/2014/main" id="{010122AF-0AA3-6838-03F6-8D7F21D23567}"/>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0" name="Rectangle 10">
                <a:extLst>
                  <a:ext uri="{FF2B5EF4-FFF2-40B4-BE49-F238E27FC236}">
                    <a16:creationId xmlns:a16="http://schemas.microsoft.com/office/drawing/2014/main" id="{5E708A70-9E3A-AEAE-E0CB-6E9B12711D4A}"/>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1" name="Rectangle 11">
                <a:extLst>
                  <a:ext uri="{FF2B5EF4-FFF2-40B4-BE49-F238E27FC236}">
                    <a16:creationId xmlns:a16="http://schemas.microsoft.com/office/drawing/2014/main" id="{38727C4A-8936-43BE-8E7A-9515A2C624A3}"/>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2" name="Rectangle 12">
                <a:extLst>
                  <a:ext uri="{FF2B5EF4-FFF2-40B4-BE49-F238E27FC236}">
                    <a16:creationId xmlns:a16="http://schemas.microsoft.com/office/drawing/2014/main" id="{53832E10-7474-D643-F36B-9A6E0B4E2E8B}"/>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3" name="Rectangle 13">
                <a:extLst>
                  <a:ext uri="{FF2B5EF4-FFF2-40B4-BE49-F238E27FC236}">
                    <a16:creationId xmlns:a16="http://schemas.microsoft.com/office/drawing/2014/main" id="{E06B9E0A-A036-06FB-2587-CD2F4588CF8C}"/>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4" name="Rectangle 14">
                <a:extLst>
                  <a:ext uri="{FF2B5EF4-FFF2-40B4-BE49-F238E27FC236}">
                    <a16:creationId xmlns:a16="http://schemas.microsoft.com/office/drawing/2014/main" id="{43F759C5-645B-F8A5-F198-545FD1AD4022}"/>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5" name="Rectangle 15">
                <a:extLst>
                  <a:ext uri="{FF2B5EF4-FFF2-40B4-BE49-F238E27FC236}">
                    <a16:creationId xmlns:a16="http://schemas.microsoft.com/office/drawing/2014/main" id="{7FEE6340-23BC-C0B0-1480-9A0C81139A15}"/>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grpSp>
      </p:grpSp>
      <p:sp>
        <p:nvSpPr>
          <p:cNvPr id="47123" name="Rectangle 19"/>
          <p:cNvSpPr>
            <a:spLocks noGrp="1" noChangeArrowheads="1"/>
          </p:cNvSpPr>
          <p:nvPr>
            <p:ph type="ctrTitle"/>
          </p:nvPr>
        </p:nvSpPr>
        <p:spPr>
          <a:xfrm>
            <a:off x="2971800" y="1828800"/>
            <a:ext cx="6019800" cy="2209800"/>
          </a:xfrm>
        </p:spPr>
        <p:txBody>
          <a:bodyPr/>
          <a:lstStyle>
            <a:lvl1pPr>
              <a:defRPr sz="3800">
                <a:solidFill>
                  <a:srgbClr val="FFFFFF"/>
                </a:solidFill>
              </a:defRPr>
            </a:lvl1pPr>
          </a:lstStyle>
          <a:p>
            <a:r>
              <a:rPr lang="en-US"/>
              <a:t>Click to edit Master title style</a:t>
            </a:r>
          </a:p>
        </p:txBody>
      </p:sp>
      <p:sp>
        <p:nvSpPr>
          <p:cNvPr id="4712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600"/>
            </a:lvl1pPr>
          </a:lstStyle>
          <a:p>
            <a:r>
              <a:rPr lang="en-US"/>
              <a:t>Click to edit Master subtitle style</a:t>
            </a:r>
          </a:p>
        </p:txBody>
      </p:sp>
      <p:sp>
        <p:nvSpPr>
          <p:cNvPr id="16" name="Rectangle 16">
            <a:extLst>
              <a:ext uri="{FF2B5EF4-FFF2-40B4-BE49-F238E27FC236}">
                <a16:creationId xmlns:a16="http://schemas.microsoft.com/office/drawing/2014/main" id="{6E935993-A79B-2B3F-07E9-3EF2DC2CD0D1}"/>
              </a:ext>
            </a:extLst>
          </p:cNvPr>
          <p:cNvSpPr>
            <a:spLocks noGrp="1" noChangeArrowheads="1"/>
          </p:cNvSpPr>
          <p:nvPr>
            <p:ph type="dt" sz="half" idx="10"/>
          </p:nvPr>
        </p:nvSpPr>
        <p:spPr>
          <a:xfrm>
            <a:off x="457200" y="6248400"/>
            <a:ext cx="2133600" cy="457200"/>
          </a:xfrm>
        </p:spPr>
        <p:txBody>
          <a:bodyPr/>
          <a:lstStyle>
            <a:lvl1pPr>
              <a:defRPr/>
            </a:lvl1pPr>
          </a:lstStyle>
          <a:p>
            <a:pPr>
              <a:defRPr/>
            </a:pPr>
            <a:fld id="{F1863154-F101-2A4D-9981-D6A99FEE120D}" type="datetime1">
              <a:rPr lang="en-US"/>
              <a:pPr>
                <a:defRPr/>
              </a:pPr>
              <a:t>11/22/23</a:t>
            </a:fld>
            <a:endParaRPr lang="en-US"/>
          </a:p>
        </p:txBody>
      </p:sp>
      <p:sp>
        <p:nvSpPr>
          <p:cNvPr id="17" name="Rectangle 17">
            <a:extLst>
              <a:ext uri="{FF2B5EF4-FFF2-40B4-BE49-F238E27FC236}">
                <a16:creationId xmlns:a16="http://schemas.microsoft.com/office/drawing/2014/main" id="{379E8424-CEA5-4CAE-91CE-61661E4BDE57}"/>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F5150573-39AC-80E4-6C00-B68CDFDCF2C8}"/>
              </a:ext>
            </a:extLst>
          </p:cNvPr>
          <p:cNvSpPr>
            <a:spLocks noGrp="1" noChangeArrowheads="1"/>
          </p:cNvSpPr>
          <p:nvPr>
            <p:ph type="sldNum" sz="quarter" idx="12"/>
          </p:nvPr>
        </p:nvSpPr>
        <p:spPr/>
        <p:txBody>
          <a:bodyPr/>
          <a:lstStyle>
            <a:lvl1pPr>
              <a:defRPr sz="1200"/>
            </a:lvl1pPr>
          </a:lstStyle>
          <a:p>
            <a:fld id="{2F7D2779-CE25-DD46-8811-B3CC1B1AF43A}" type="slidenum">
              <a:rPr lang="en-US" altLang="en-US"/>
              <a:pPr/>
              <a:t>‹#›</a:t>
            </a:fld>
            <a:endParaRPr lang="en-US" altLang="en-US"/>
          </a:p>
        </p:txBody>
      </p:sp>
    </p:spTree>
    <p:extLst>
      <p:ext uri="{BB962C8B-B14F-4D97-AF65-F5344CB8AC3E}">
        <p14:creationId xmlns:p14="http://schemas.microsoft.com/office/powerpoint/2010/main" val="1457191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173CE108-187A-66CE-1E2C-51D346A711F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842082A5-5D3E-FC81-07BB-7FA288584731}"/>
              </a:ext>
            </a:extLst>
          </p:cNvPr>
          <p:cNvSpPr>
            <a:spLocks noGrp="1" noChangeArrowheads="1"/>
          </p:cNvSpPr>
          <p:nvPr>
            <p:ph type="sldNum" sz="quarter" idx="11"/>
          </p:nvPr>
        </p:nvSpPr>
        <p:spPr>
          <a:ln/>
        </p:spPr>
        <p:txBody>
          <a:bodyPr/>
          <a:lstStyle>
            <a:lvl1pPr>
              <a:defRPr/>
            </a:lvl1pPr>
          </a:lstStyle>
          <a:p>
            <a:fld id="{24C3D061-F854-F640-86B1-833941556D6E}" type="slidenum">
              <a:rPr lang="en-US" altLang="en-US"/>
              <a:pPr/>
              <a:t>‹#›</a:t>
            </a:fld>
            <a:endParaRPr lang="en-US" altLang="en-US"/>
          </a:p>
        </p:txBody>
      </p:sp>
      <p:sp>
        <p:nvSpPr>
          <p:cNvPr id="6" name="Rectangle 16">
            <a:extLst>
              <a:ext uri="{FF2B5EF4-FFF2-40B4-BE49-F238E27FC236}">
                <a16:creationId xmlns:a16="http://schemas.microsoft.com/office/drawing/2014/main" id="{45F38B42-4CA0-6D85-0CF8-07173726C332}"/>
              </a:ext>
            </a:extLst>
          </p:cNvPr>
          <p:cNvSpPr>
            <a:spLocks noGrp="1" noChangeArrowheads="1"/>
          </p:cNvSpPr>
          <p:nvPr>
            <p:ph type="dt" sz="half" idx="12"/>
          </p:nvPr>
        </p:nvSpPr>
        <p:spPr>
          <a:ln/>
        </p:spPr>
        <p:txBody>
          <a:bodyPr/>
          <a:lstStyle>
            <a:lvl1pPr>
              <a:defRPr/>
            </a:lvl1pPr>
          </a:lstStyle>
          <a:p>
            <a:pPr>
              <a:defRPr/>
            </a:pPr>
            <a:fld id="{4A6B991F-14F1-6C4F-90DF-C7424CD9CAC7}" type="datetime1">
              <a:rPr lang="en-US"/>
              <a:pPr>
                <a:defRPr/>
              </a:pPr>
              <a:t>11/22/23</a:t>
            </a:fld>
            <a:endParaRPr lang="en-US"/>
          </a:p>
        </p:txBody>
      </p:sp>
    </p:spTree>
    <p:extLst>
      <p:ext uri="{BB962C8B-B14F-4D97-AF65-F5344CB8AC3E}">
        <p14:creationId xmlns:p14="http://schemas.microsoft.com/office/powerpoint/2010/main" val="2753770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52C2AE7A-C170-C59F-EEE9-7EF132305CE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E3E8F890-F532-8532-BC5B-1863F2C64CAB}"/>
              </a:ext>
            </a:extLst>
          </p:cNvPr>
          <p:cNvSpPr>
            <a:spLocks noGrp="1" noChangeArrowheads="1"/>
          </p:cNvSpPr>
          <p:nvPr>
            <p:ph type="sldNum" sz="quarter" idx="11"/>
          </p:nvPr>
        </p:nvSpPr>
        <p:spPr>
          <a:ln/>
        </p:spPr>
        <p:txBody>
          <a:bodyPr/>
          <a:lstStyle>
            <a:lvl1pPr>
              <a:defRPr/>
            </a:lvl1pPr>
          </a:lstStyle>
          <a:p>
            <a:fld id="{B7B42CCB-A9A7-504D-A8E1-DE1799D1C2BD}" type="slidenum">
              <a:rPr lang="en-US" altLang="en-US"/>
              <a:pPr/>
              <a:t>‹#›</a:t>
            </a:fld>
            <a:endParaRPr lang="en-US" altLang="en-US"/>
          </a:p>
        </p:txBody>
      </p:sp>
      <p:sp>
        <p:nvSpPr>
          <p:cNvPr id="6" name="Rectangle 16">
            <a:extLst>
              <a:ext uri="{FF2B5EF4-FFF2-40B4-BE49-F238E27FC236}">
                <a16:creationId xmlns:a16="http://schemas.microsoft.com/office/drawing/2014/main" id="{E68A496B-6D9A-3FF3-6432-057932858CC8}"/>
              </a:ext>
            </a:extLst>
          </p:cNvPr>
          <p:cNvSpPr>
            <a:spLocks noGrp="1" noChangeArrowheads="1"/>
          </p:cNvSpPr>
          <p:nvPr>
            <p:ph type="dt" sz="half" idx="12"/>
          </p:nvPr>
        </p:nvSpPr>
        <p:spPr>
          <a:ln/>
        </p:spPr>
        <p:txBody>
          <a:bodyPr/>
          <a:lstStyle>
            <a:lvl1pPr>
              <a:defRPr/>
            </a:lvl1pPr>
          </a:lstStyle>
          <a:p>
            <a:pPr>
              <a:defRPr/>
            </a:pPr>
            <a:fld id="{9CE91EBF-6134-D244-A0B1-78A433C66056}" type="datetime1">
              <a:rPr lang="en-US"/>
              <a:pPr>
                <a:defRPr/>
              </a:pPr>
              <a:t>11/22/23</a:t>
            </a:fld>
            <a:endParaRPr lang="en-US"/>
          </a:p>
        </p:txBody>
      </p:sp>
    </p:spTree>
    <p:extLst>
      <p:ext uri="{BB962C8B-B14F-4D97-AF65-F5344CB8AC3E}">
        <p14:creationId xmlns:p14="http://schemas.microsoft.com/office/powerpoint/2010/main" val="262612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a:extLst>
              <a:ext uri="{FF2B5EF4-FFF2-40B4-BE49-F238E27FC236}">
                <a16:creationId xmlns:a16="http://schemas.microsoft.com/office/drawing/2014/main" id="{594F3559-92B0-F4BE-2F53-A000C3277491}"/>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B2E773D2-64B4-5AD5-D3AD-5CCC1AA1ECE3}"/>
              </a:ext>
            </a:extLst>
          </p:cNvPr>
          <p:cNvSpPr>
            <a:spLocks noGrp="1" noChangeArrowheads="1"/>
          </p:cNvSpPr>
          <p:nvPr>
            <p:ph type="sldNum" sz="quarter" idx="11"/>
          </p:nvPr>
        </p:nvSpPr>
        <p:spPr>
          <a:ln/>
        </p:spPr>
        <p:txBody>
          <a:bodyPr/>
          <a:lstStyle>
            <a:lvl1pPr>
              <a:defRPr/>
            </a:lvl1pPr>
          </a:lstStyle>
          <a:p>
            <a:fld id="{34508652-CB70-184B-B015-C588D9D4F854}" type="slidenum">
              <a:rPr lang="en-US" altLang="en-US"/>
              <a:pPr/>
              <a:t>‹#›</a:t>
            </a:fld>
            <a:endParaRPr lang="en-US" altLang="en-US"/>
          </a:p>
        </p:txBody>
      </p:sp>
      <p:sp>
        <p:nvSpPr>
          <p:cNvPr id="7" name="Rectangle 16">
            <a:extLst>
              <a:ext uri="{FF2B5EF4-FFF2-40B4-BE49-F238E27FC236}">
                <a16:creationId xmlns:a16="http://schemas.microsoft.com/office/drawing/2014/main" id="{C5E72A71-C31A-46ED-F913-85E41F100F28}"/>
              </a:ext>
            </a:extLst>
          </p:cNvPr>
          <p:cNvSpPr>
            <a:spLocks noGrp="1" noChangeArrowheads="1"/>
          </p:cNvSpPr>
          <p:nvPr>
            <p:ph type="dt" sz="half" idx="12"/>
          </p:nvPr>
        </p:nvSpPr>
        <p:spPr>
          <a:ln/>
        </p:spPr>
        <p:txBody>
          <a:bodyPr/>
          <a:lstStyle>
            <a:lvl1pPr>
              <a:defRPr/>
            </a:lvl1pPr>
          </a:lstStyle>
          <a:p>
            <a:pPr>
              <a:defRPr/>
            </a:pPr>
            <a:fld id="{1236CD27-457B-7842-8C19-290BD213E73B}" type="datetime1">
              <a:rPr lang="en-US"/>
              <a:pPr>
                <a:defRPr/>
              </a:pPr>
              <a:t>11/22/23</a:t>
            </a:fld>
            <a:endParaRPr lang="en-US"/>
          </a:p>
        </p:txBody>
      </p:sp>
    </p:spTree>
    <p:extLst>
      <p:ext uri="{BB962C8B-B14F-4D97-AF65-F5344CB8AC3E}">
        <p14:creationId xmlns:p14="http://schemas.microsoft.com/office/powerpoint/2010/main" val="2784090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FE9B4A7-C4AE-2567-CC66-A4D85308C8D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FF244097-688F-65BD-3A2E-92DB86026743}"/>
              </a:ext>
            </a:extLst>
          </p:cNvPr>
          <p:cNvSpPr>
            <a:spLocks noGrp="1" noChangeArrowheads="1"/>
          </p:cNvSpPr>
          <p:nvPr>
            <p:ph type="sldNum" sz="quarter" idx="11"/>
          </p:nvPr>
        </p:nvSpPr>
        <p:spPr>
          <a:ln/>
        </p:spPr>
        <p:txBody>
          <a:bodyPr/>
          <a:lstStyle>
            <a:lvl1pPr>
              <a:defRPr/>
            </a:lvl1pPr>
          </a:lstStyle>
          <a:p>
            <a:fld id="{28028F2F-5FF9-7349-9260-CA1AFBF46024}" type="slidenum">
              <a:rPr lang="en-US" altLang="en-US"/>
              <a:pPr/>
              <a:t>‹#›</a:t>
            </a:fld>
            <a:endParaRPr lang="en-US" altLang="en-US"/>
          </a:p>
        </p:txBody>
      </p:sp>
      <p:sp>
        <p:nvSpPr>
          <p:cNvPr id="9" name="Rectangle 16">
            <a:extLst>
              <a:ext uri="{FF2B5EF4-FFF2-40B4-BE49-F238E27FC236}">
                <a16:creationId xmlns:a16="http://schemas.microsoft.com/office/drawing/2014/main" id="{C7EACDD7-20D6-D6C6-54CD-65BD5EA71956}"/>
              </a:ext>
            </a:extLst>
          </p:cNvPr>
          <p:cNvSpPr>
            <a:spLocks noGrp="1" noChangeArrowheads="1"/>
          </p:cNvSpPr>
          <p:nvPr>
            <p:ph type="dt" sz="half" idx="12"/>
          </p:nvPr>
        </p:nvSpPr>
        <p:spPr>
          <a:ln/>
        </p:spPr>
        <p:txBody>
          <a:bodyPr/>
          <a:lstStyle>
            <a:lvl1pPr>
              <a:defRPr/>
            </a:lvl1pPr>
          </a:lstStyle>
          <a:p>
            <a:pPr>
              <a:defRPr/>
            </a:pPr>
            <a:fld id="{6B34B295-B23F-9C43-A106-6F7F835E34D8}" type="datetime1">
              <a:rPr lang="en-US"/>
              <a:pPr>
                <a:defRPr/>
              </a:pPr>
              <a:t>11/22/23</a:t>
            </a:fld>
            <a:endParaRPr lang="en-US"/>
          </a:p>
        </p:txBody>
      </p:sp>
    </p:spTree>
    <p:extLst>
      <p:ext uri="{BB962C8B-B14F-4D97-AF65-F5344CB8AC3E}">
        <p14:creationId xmlns:p14="http://schemas.microsoft.com/office/powerpoint/2010/main" val="72752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59598401-D8A1-4BB9-B3E6-C1BB937BCCDE}"/>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45898854-1726-24DE-FFA2-6A43BC3C4219}"/>
              </a:ext>
            </a:extLst>
          </p:cNvPr>
          <p:cNvSpPr>
            <a:spLocks noGrp="1" noChangeArrowheads="1"/>
          </p:cNvSpPr>
          <p:nvPr>
            <p:ph type="sldNum" sz="quarter" idx="11"/>
          </p:nvPr>
        </p:nvSpPr>
        <p:spPr>
          <a:ln/>
        </p:spPr>
        <p:txBody>
          <a:bodyPr/>
          <a:lstStyle>
            <a:lvl1pPr>
              <a:defRPr/>
            </a:lvl1pPr>
          </a:lstStyle>
          <a:p>
            <a:fld id="{5954F371-D0A1-6A4F-BF91-69CCF2513DE0}" type="slidenum">
              <a:rPr lang="en-US" altLang="en-US"/>
              <a:pPr/>
              <a:t>‹#›</a:t>
            </a:fld>
            <a:endParaRPr lang="en-US" altLang="en-US"/>
          </a:p>
        </p:txBody>
      </p:sp>
      <p:sp>
        <p:nvSpPr>
          <p:cNvPr id="5" name="Rectangle 16">
            <a:extLst>
              <a:ext uri="{FF2B5EF4-FFF2-40B4-BE49-F238E27FC236}">
                <a16:creationId xmlns:a16="http://schemas.microsoft.com/office/drawing/2014/main" id="{6220C353-9D91-9767-DA7C-AC00367B9E3D}"/>
              </a:ext>
            </a:extLst>
          </p:cNvPr>
          <p:cNvSpPr>
            <a:spLocks noGrp="1" noChangeArrowheads="1"/>
          </p:cNvSpPr>
          <p:nvPr>
            <p:ph type="dt" sz="half" idx="12"/>
          </p:nvPr>
        </p:nvSpPr>
        <p:spPr>
          <a:ln/>
        </p:spPr>
        <p:txBody>
          <a:bodyPr/>
          <a:lstStyle>
            <a:lvl1pPr>
              <a:defRPr/>
            </a:lvl1pPr>
          </a:lstStyle>
          <a:p>
            <a:pPr>
              <a:defRPr/>
            </a:pPr>
            <a:fld id="{8C3A9F1A-B3AD-6247-9BD8-929F6194E65C}" type="datetime1">
              <a:rPr lang="en-US"/>
              <a:pPr>
                <a:defRPr/>
              </a:pPr>
              <a:t>11/22/23</a:t>
            </a:fld>
            <a:endParaRPr lang="en-US"/>
          </a:p>
        </p:txBody>
      </p:sp>
    </p:spTree>
    <p:extLst>
      <p:ext uri="{BB962C8B-B14F-4D97-AF65-F5344CB8AC3E}">
        <p14:creationId xmlns:p14="http://schemas.microsoft.com/office/powerpoint/2010/main" val="1118177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CC94474-2861-ED3A-0EB0-878BCCD6ABC9}"/>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A7A1F2DF-1B8C-D06A-6E6E-8D6896D4684B}"/>
              </a:ext>
            </a:extLst>
          </p:cNvPr>
          <p:cNvSpPr>
            <a:spLocks noGrp="1" noChangeArrowheads="1"/>
          </p:cNvSpPr>
          <p:nvPr>
            <p:ph type="sldNum" sz="quarter" idx="11"/>
          </p:nvPr>
        </p:nvSpPr>
        <p:spPr>
          <a:ln/>
        </p:spPr>
        <p:txBody>
          <a:bodyPr/>
          <a:lstStyle>
            <a:lvl1pPr>
              <a:defRPr/>
            </a:lvl1pPr>
          </a:lstStyle>
          <a:p>
            <a:fld id="{8A60FA53-75AD-074C-B301-6A0815ED9539}" type="slidenum">
              <a:rPr lang="en-US" altLang="en-US"/>
              <a:pPr/>
              <a:t>‹#›</a:t>
            </a:fld>
            <a:endParaRPr lang="en-US" altLang="en-US"/>
          </a:p>
        </p:txBody>
      </p:sp>
      <p:sp>
        <p:nvSpPr>
          <p:cNvPr id="4" name="Rectangle 16">
            <a:extLst>
              <a:ext uri="{FF2B5EF4-FFF2-40B4-BE49-F238E27FC236}">
                <a16:creationId xmlns:a16="http://schemas.microsoft.com/office/drawing/2014/main" id="{5794BE9C-D05D-1335-1EF1-0803C6B9F92E}"/>
              </a:ext>
            </a:extLst>
          </p:cNvPr>
          <p:cNvSpPr>
            <a:spLocks noGrp="1" noChangeArrowheads="1"/>
          </p:cNvSpPr>
          <p:nvPr>
            <p:ph type="dt" sz="half" idx="12"/>
          </p:nvPr>
        </p:nvSpPr>
        <p:spPr>
          <a:ln/>
        </p:spPr>
        <p:txBody>
          <a:bodyPr/>
          <a:lstStyle>
            <a:lvl1pPr>
              <a:defRPr/>
            </a:lvl1pPr>
          </a:lstStyle>
          <a:p>
            <a:pPr>
              <a:defRPr/>
            </a:pPr>
            <a:fld id="{67E3AD60-69E5-4043-92A5-9A47AD88A1D6}" type="datetime1">
              <a:rPr lang="en-US"/>
              <a:pPr>
                <a:defRPr/>
              </a:pPr>
              <a:t>11/22/23</a:t>
            </a:fld>
            <a:endParaRPr lang="en-US"/>
          </a:p>
        </p:txBody>
      </p:sp>
    </p:spTree>
    <p:extLst>
      <p:ext uri="{BB962C8B-B14F-4D97-AF65-F5344CB8AC3E}">
        <p14:creationId xmlns:p14="http://schemas.microsoft.com/office/powerpoint/2010/main" val="2831131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722DF0CF-6F10-78FA-D17B-AE808D09397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87F0EBF9-1BF5-0929-9C41-3DB7CE2203A4}"/>
              </a:ext>
            </a:extLst>
          </p:cNvPr>
          <p:cNvSpPr>
            <a:spLocks noGrp="1" noChangeArrowheads="1"/>
          </p:cNvSpPr>
          <p:nvPr>
            <p:ph type="sldNum" sz="quarter" idx="11"/>
          </p:nvPr>
        </p:nvSpPr>
        <p:spPr>
          <a:ln/>
        </p:spPr>
        <p:txBody>
          <a:bodyPr/>
          <a:lstStyle>
            <a:lvl1pPr>
              <a:defRPr/>
            </a:lvl1pPr>
          </a:lstStyle>
          <a:p>
            <a:fld id="{845E6220-4029-3045-A286-6AE99A7EEB6E}" type="slidenum">
              <a:rPr lang="en-US" altLang="en-US"/>
              <a:pPr/>
              <a:t>‹#›</a:t>
            </a:fld>
            <a:endParaRPr lang="en-US" altLang="en-US"/>
          </a:p>
        </p:txBody>
      </p:sp>
      <p:sp>
        <p:nvSpPr>
          <p:cNvPr id="7" name="Rectangle 16">
            <a:extLst>
              <a:ext uri="{FF2B5EF4-FFF2-40B4-BE49-F238E27FC236}">
                <a16:creationId xmlns:a16="http://schemas.microsoft.com/office/drawing/2014/main" id="{5100D32F-9734-756B-198A-59358FC41A85}"/>
              </a:ext>
            </a:extLst>
          </p:cNvPr>
          <p:cNvSpPr>
            <a:spLocks noGrp="1" noChangeArrowheads="1"/>
          </p:cNvSpPr>
          <p:nvPr>
            <p:ph type="dt" sz="half" idx="12"/>
          </p:nvPr>
        </p:nvSpPr>
        <p:spPr>
          <a:ln/>
        </p:spPr>
        <p:txBody>
          <a:bodyPr/>
          <a:lstStyle>
            <a:lvl1pPr>
              <a:defRPr/>
            </a:lvl1pPr>
          </a:lstStyle>
          <a:p>
            <a:pPr>
              <a:defRPr/>
            </a:pPr>
            <a:fld id="{67DD228F-97F9-4840-8409-893C52B93B29}" type="datetime1">
              <a:rPr lang="en-US"/>
              <a:pPr>
                <a:defRPr/>
              </a:pPr>
              <a:t>11/22/23</a:t>
            </a:fld>
            <a:endParaRPr lang="en-US"/>
          </a:p>
        </p:txBody>
      </p:sp>
    </p:spTree>
    <p:extLst>
      <p:ext uri="{BB962C8B-B14F-4D97-AF65-F5344CB8AC3E}">
        <p14:creationId xmlns:p14="http://schemas.microsoft.com/office/powerpoint/2010/main" val="1279302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80C3E3F8-CB3C-F43C-A22F-CBA26B0D83D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8FBDDFCE-28A8-F669-7F0A-3910DC080212}"/>
              </a:ext>
            </a:extLst>
          </p:cNvPr>
          <p:cNvSpPr>
            <a:spLocks noGrp="1" noChangeArrowheads="1"/>
          </p:cNvSpPr>
          <p:nvPr>
            <p:ph type="sldNum" sz="quarter" idx="11"/>
          </p:nvPr>
        </p:nvSpPr>
        <p:spPr>
          <a:ln/>
        </p:spPr>
        <p:txBody>
          <a:bodyPr/>
          <a:lstStyle>
            <a:lvl1pPr>
              <a:defRPr/>
            </a:lvl1pPr>
          </a:lstStyle>
          <a:p>
            <a:fld id="{DC307044-0A60-334F-AF5E-A0DF1C459668}" type="slidenum">
              <a:rPr lang="en-US" altLang="en-US"/>
              <a:pPr/>
              <a:t>‹#›</a:t>
            </a:fld>
            <a:endParaRPr lang="en-US" altLang="en-US"/>
          </a:p>
        </p:txBody>
      </p:sp>
      <p:sp>
        <p:nvSpPr>
          <p:cNvPr id="7" name="Rectangle 16">
            <a:extLst>
              <a:ext uri="{FF2B5EF4-FFF2-40B4-BE49-F238E27FC236}">
                <a16:creationId xmlns:a16="http://schemas.microsoft.com/office/drawing/2014/main" id="{016633B3-E017-860E-E7A8-C476458A80FF}"/>
              </a:ext>
            </a:extLst>
          </p:cNvPr>
          <p:cNvSpPr>
            <a:spLocks noGrp="1" noChangeArrowheads="1"/>
          </p:cNvSpPr>
          <p:nvPr>
            <p:ph type="dt" sz="half" idx="12"/>
          </p:nvPr>
        </p:nvSpPr>
        <p:spPr>
          <a:ln/>
        </p:spPr>
        <p:txBody>
          <a:bodyPr/>
          <a:lstStyle>
            <a:lvl1pPr>
              <a:defRPr/>
            </a:lvl1pPr>
          </a:lstStyle>
          <a:p>
            <a:pPr>
              <a:defRPr/>
            </a:pPr>
            <a:fld id="{1ABFCB0F-8290-4941-89CC-77D4D4A20555}" type="datetime1">
              <a:rPr lang="en-US"/>
              <a:pPr>
                <a:defRPr/>
              </a:pPr>
              <a:t>11/22/23</a:t>
            </a:fld>
            <a:endParaRPr lang="en-US"/>
          </a:p>
        </p:txBody>
      </p:sp>
    </p:spTree>
    <p:extLst>
      <p:ext uri="{BB962C8B-B14F-4D97-AF65-F5344CB8AC3E}">
        <p14:creationId xmlns:p14="http://schemas.microsoft.com/office/powerpoint/2010/main" val="2212300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045639DB-B5E6-BDB0-CB0B-870DC762D1B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580E4E66-7C54-3D16-B690-8FA7A558BFC9}"/>
              </a:ext>
            </a:extLst>
          </p:cNvPr>
          <p:cNvSpPr>
            <a:spLocks noGrp="1" noChangeArrowheads="1"/>
          </p:cNvSpPr>
          <p:nvPr>
            <p:ph type="sldNum" sz="quarter" idx="11"/>
          </p:nvPr>
        </p:nvSpPr>
        <p:spPr>
          <a:ln/>
        </p:spPr>
        <p:txBody>
          <a:bodyPr/>
          <a:lstStyle>
            <a:lvl1pPr>
              <a:defRPr/>
            </a:lvl1pPr>
          </a:lstStyle>
          <a:p>
            <a:fld id="{5C846838-8E2A-8240-A708-A3B92535B4EB}" type="slidenum">
              <a:rPr lang="en-US" altLang="en-US"/>
              <a:pPr/>
              <a:t>‹#›</a:t>
            </a:fld>
            <a:endParaRPr lang="en-US" altLang="en-US"/>
          </a:p>
        </p:txBody>
      </p:sp>
      <p:sp>
        <p:nvSpPr>
          <p:cNvPr id="6" name="Rectangle 16">
            <a:extLst>
              <a:ext uri="{FF2B5EF4-FFF2-40B4-BE49-F238E27FC236}">
                <a16:creationId xmlns:a16="http://schemas.microsoft.com/office/drawing/2014/main" id="{07241F77-6E62-604F-1E1F-D6C7BB55B9B9}"/>
              </a:ext>
            </a:extLst>
          </p:cNvPr>
          <p:cNvSpPr>
            <a:spLocks noGrp="1" noChangeArrowheads="1"/>
          </p:cNvSpPr>
          <p:nvPr>
            <p:ph type="dt" sz="half" idx="12"/>
          </p:nvPr>
        </p:nvSpPr>
        <p:spPr>
          <a:ln/>
        </p:spPr>
        <p:txBody>
          <a:bodyPr/>
          <a:lstStyle>
            <a:lvl1pPr>
              <a:defRPr/>
            </a:lvl1pPr>
          </a:lstStyle>
          <a:p>
            <a:pPr>
              <a:defRPr/>
            </a:pPr>
            <a:fld id="{F969B35F-5897-FF43-A508-4E045B2104E8}" type="datetime1">
              <a:rPr lang="en-US"/>
              <a:pPr>
                <a:defRPr/>
              </a:pPr>
              <a:t>11/22/23</a:t>
            </a:fld>
            <a:endParaRPr lang="en-US"/>
          </a:p>
        </p:txBody>
      </p:sp>
    </p:spTree>
    <p:extLst>
      <p:ext uri="{BB962C8B-B14F-4D97-AF65-F5344CB8AC3E}">
        <p14:creationId xmlns:p14="http://schemas.microsoft.com/office/powerpoint/2010/main" val="248842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7484FB90-750B-DAE2-162A-9DC9648663B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0DF1021F-35DC-C332-A234-125CFBA851FA}"/>
              </a:ext>
            </a:extLst>
          </p:cNvPr>
          <p:cNvSpPr>
            <a:spLocks noGrp="1" noChangeArrowheads="1"/>
          </p:cNvSpPr>
          <p:nvPr>
            <p:ph type="sldNum" sz="quarter" idx="11"/>
          </p:nvPr>
        </p:nvSpPr>
        <p:spPr>
          <a:ln/>
        </p:spPr>
        <p:txBody>
          <a:bodyPr/>
          <a:lstStyle>
            <a:lvl1pPr>
              <a:defRPr/>
            </a:lvl1pPr>
          </a:lstStyle>
          <a:p>
            <a:fld id="{F9549B0A-7010-7D45-B5CA-7267BB2CD7BB}" type="slidenum">
              <a:rPr lang="en-US" altLang="en-US"/>
              <a:pPr/>
              <a:t>‹#›</a:t>
            </a:fld>
            <a:endParaRPr lang="en-US" altLang="en-US"/>
          </a:p>
        </p:txBody>
      </p:sp>
      <p:sp>
        <p:nvSpPr>
          <p:cNvPr id="6" name="Rectangle 16">
            <a:extLst>
              <a:ext uri="{FF2B5EF4-FFF2-40B4-BE49-F238E27FC236}">
                <a16:creationId xmlns:a16="http://schemas.microsoft.com/office/drawing/2014/main" id="{E7FEC504-2645-9433-1557-4E26D8018846}"/>
              </a:ext>
            </a:extLst>
          </p:cNvPr>
          <p:cNvSpPr>
            <a:spLocks noGrp="1" noChangeArrowheads="1"/>
          </p:cNvSpPr>
          <p:nvPr>
            <p:ph type="dt" sz="half" idx="12"/>
          </p:nvPr>
        </p:nvSpPr>
        <p:spPr>
          <a:ln/>
        </p:spPr>
        <p:txBody>
          <a:bodyPr/>
          <a:lstStyle>
            <a:lvl1pPr>
              <a:defRPr/>
            </a:lvl1pPr>
          </a:lstStyle>
          <a:p>
            <a:pPr>
              <a:defRPr/>
            </a:pPr>
            <a:fld id="{26275DE0-BB18-F542-99C4-47BC7D309540}" type="datetime1">
              <a:rPr lang="en-US"/>
              <a:pPr>
                <a:defRPr/>
              </a:pPr>
              <a:t>11/22/23</a:t>
            </a:fld>
            <a:endParaRPr lang="en-US"/>
          </a:p>
        </p:txBody>
      </p:sp>
    </p:spTree>
    <p:extLst>
      <p:ext uri="{BB962C8B-B14F-4D97-AF65-F5344CB8AC3E}">
        <p14:creationId xmlns:p14="http://schemas.microsoft.com/office/powerpoint/2010/main" val="3393372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E367B40-2AA0-7058-B237-D1A602560E9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46083" name="Rectangle 3">
            <a:extLst>
              <a:ext uri="{FF2B5EF4-FFF2-40B4-BE49-F238E27FC236}">
                <a16:creationId xmlns:a16="http://schemas.microsoft.com/office/drawing/2014/main" id="{45CA98FF-87B8-80D8-BD69-5F499DF2DD96}"/>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Black" panose="020B0604020202020204" pitchFamily="34" charset="0"/>
              </a:defRPr>
            </a:lvl1pPr>
          </a:lstStyle>
          <a:p>
            <a:fld id="{117153EA-B289-9242-BF82-6FBC7D5CBB59}" type="slidenum">
              <a:rPr lang="en-US" altLang="en-US"/>
              <a:pPr/>
              <a:t>‹#›</a:t>
            </a:fld>
            <a:endParaRPr lang="en-US" altLang="en-US"/>
          </a:p>
        </p:txBody>
      </p:sp>
      <p:grpSp>
        <p:nvGrpSpPr>
          <p:cNvPr id="1028" name="Group 4">
            <a:extLst>
              <a:ext uri="{FF2B5EF4-FFF2-40B4-BE49-F238E27FC236}">
                <a16:creationId xmlns:a16="http://schemas.microsoft.com/office/drawing/2014/main" id="{0174C56B-CF82-6141-0509-D4138C4F3C4A}"/>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819AFF23-3A93-FAAB-DE93-2A567A36DFAC}"/>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en-US" altLang="en-US" sz="2400">
                <a:latin typeface="Times New Roman" charset="0"/>
              </a:endParaRPr>
            </a:p>
          </p:txBody>
        </p:sp>
        <p:sp>
          <p:nvSpPr>
            <p:cNvPr id="1033" name="Rectangle 6">
              <a:extLst>
                <a:ext uri="{FF2B5EF4-FFF2-40B4-BE49-F238E27FC236}">
                  <a16:creationId xmlns:a16="http://schemas.microsoft.com/office/drawing/2014/main" id="{5D54D635-5B2B-1E42-9A0C-F295BCBF9656}"/>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034" name="Rectangle 7">
              <a:extLst>
                <a:ext uri="{FF2B5EF4-FFF2-40B4-BE49-F238E27FC236}">
                  <a16:creationId xmlns:a16="http://schemas.microsoft.com/office/drawing/2014/main" id="{7A03DD27-AAB9-B9C0-CC9F-745A28EFCD42}"/>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hlink"/>
                </a:solidFill>
              </a:endParaRPr>
            </a:p>
          </p:txBody>
        </p:sp>
        <p:sp>
          <p:nvSpPr>
            <p:cNvPr id="1035" name="Rectangle 8">
              <a:extLst>
                <a:ext uri="{FF2B5EF4-FFF2-40B4-BE49-F238E27FC236}">
                  <a16:creationId xmlns:a16="http://schemas.microsoft.com/office/drawing/2014/main" id="{BB3E1EE8-39B3-86A9-D08F-B4144477ACA6}"/>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hlink"/>
                </a:solidFill>
              </a:endParaRPr>
            </a:p>
          </p:txBody>
        </p:sp>
        <p:sp>
          <p:nvSpPr>
            <p:cNvPr id="1036" name="Rectangle 9">
              <a:extLst>
                <a:ext uri="{FF2B5EF4-FFF2-40B4-BE49-F238E27FC236}">
                  <a16:creationId xmlns:a16="http://schemas.microsoft.com/office/drawing/2014/main" id="{2A73E87D-C460-22E9-C9D9-569EF7D816F7}"/>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accent2"/>
                </a:solidFill>
              </a:endParaRPr>
            </a:p>
          </p:txBody>
        </p:sp>
        <p:sp>
          <p:nvSpPr>
            <p:cNvPr id="1037" name="Rectangle 10">
              <a:extLst>
                <a:ext uri="{FF2B5EF4-FFF2-40B4-BE49-F238E27FC236}">
                  <a16:creationId xmlns:a16="http://schemas.microsoft.com/office/drawing/2014/main" id="{1966966B-A759-D6FB-D4DD-78D91F76C102}"/>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hlink"/>
                </a:solidFill>
              </a:endParaRPr>
            </a:p>
          </p:txBody>
        </p:sp>
        <p:sp>
          <p:nvSpPr>
            <p:cNvPr id="1038" name="Rectangle 11">
              <a:extLst>
                <a:ext uri="{FF2B5EF4-FFF2-40B4-BE49-F238E27FC236}">
                  <a16:creationId xmlns:a16="http://schemas.microsoft.com/office/drawing/2014/main" id="{36553F53-C7B8-A722-D21B-B8EB8FE9BBCF}"/>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sz="2400">
                <a:latin typeface="Times New Roman" charset="0"/>
              </a:endParaRPr>
            </a:p>
          </p:txBody>
        </p:sp>
        <p:sp>
          <p:nvSpPr>
            <p:cNvPr id="1039" name="Rectangle 12">
              <a:extLst>
                <a:ext uri="{FF2B5EF4-FFF2-40B4-BE49-F238E27FC236}">
                  <a16:creationId xmlns:a16="http://schemas.microsoft.com/office/drawing/2014/main" id="{FBEB83CA-C8A4-92FE-6DB5-716A25A1900A}"/>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accent2"/>
                </a:solidFill>
              </a:endParaRPr>
            </a:p>
          </p:txBody>
        </p:sp>
        <p:sp>
          <p:nvSpPr>
            <p:cNvPr id="1040" name="Rectangle 13">
              <a:extLst>
                <a:ext uri="{FF2B5EF4-FFF2-40B4-BE49-F238E27FC236}">
                  <a16:creationId xmlns:a16="http://schemas.microsoft.com/office/drawing/2014/main" id="{286374C7-3F36-F2BA-6CE3-FCC9D64EDC1C}"/>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n-US" altLang="en-US">
                <a:solidFill>
                  <a:schemeClr val="accent2"/>
                </a:solidFill>
              </a:endParaRPr>
            </a:p>
          </p:txBody>
        </p:sp>
      </p:grpSp>
      <p:sp>
        <p:nvSpPr>
          <p:cNvPr id="1029" name="Rectangle 14">
            <a:extLst>
              <a:ext uri="{FF2B5EF4-FFF2-40B4-BE49-F238E27FC236}">
                <a16:creationId xmlns:a16="http://schemas.microsoft.com/office/drawing/2014/main" id="{E234DB45-EA1D-A27F-4B2F-493399A8D25F}"/>
              </a:ext>
            </a:extLst>
          </p:cNvPr>
          <p:cNvSpPr>
            <a:spLocks noGrp="1" noChangeArrowheads="1"/>
          </p:cNvSpPr>
          <p:nvPr>
            <p:ph type="title"/>
          </p:nvPr>
        </p:nvSpPr>
        <p:spPr bwMode="auto">
          <a:xfrm>
            <a:off x="457200" y="457200"/>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5">
            <a:extLst>
              <a:ext uri="{FF2B5EF4-FFF2-40B4-BE49-F238E27FC236}">
                <a16:creationId xmlns:a16="http://schemas.microsoft.com/office/drawing/2014/main" id="{EEB4F0CB-6E55-E6C6-53CE-B8B738BE05D8}"/>
              </a:ext>
            </a:extLst>
          </p:cNvPr>
          <p:cNvSpPr>
            <a:spLocks noGrp="1" noChangeArrowheads="1"/>
          </p:cNvSpPr>
          <p:nvPr>
            <p:ph type="body" idx="1"/>
          </p:nvPr>
        </p:nvSpPr>
        <p:spPr bwMode="auto">
          <a:xfrm>
            <a:off x="457200" y="1371600"/>
            <a:ext cx="8229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6096" name="Rectangle 16">
            <a:extLst>
              <a:ext uri="{FF2B5EF4-FFF2-40B4-BE49-F238E27FC236}">
                <a16:creationId xmlns:a16="http://schemas.microsoft.com/office/drawing/2014/main" id="{F0A021B8-473E-1430-DDFA-23F3F99AF7C0}"/>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fld id="{DE1C93DF-EE28-5340-9527-C504F2C0A183}" type="datetime1">
              <a:rPr lang="en-US"/>
              <a:pPr>
                <a:defRPr/>
              </a:pPr>
              <a:t>11/22/23</a:t>
            </a:fld>
            <a:endParaRPr lang="en-US"/>
          </a:p>
        </p:txBody>
      </p:sp>
    </p:spTree>
  </p:cSld>
  <p:clrMap bg1="lt1" tx1="dk1" bg2="lt2" tx2="dk2" accent1="accent1" accent2="accent2" accent3="accent3" accent4="accent4" accent5="accent5" accent6="accent6" hlink="hlink" folHlink="folHlink"/>
  <p:sldLayoutIdLst>
    <p:sldLayoutId id="2147484377" r:id="rId1"/>
    <p:sldLayoutId id="2147484367" r:id="rId2"/>
    <p:sldLayoutId id="2147484368" r:id="rId3"/>
    <p:sldLayoutId id="2147484369" r:id="rId4"/>
    <p:sldLayoutId id="2147484370" r:id="rId5"/>
    <p:sldLayoutId id="2147484371" r:id="rId6"/>
    <p:sldLayoutId id="2147484372" r:id="rId7"/>
    <p:sldLayoutId id="2147484373" r:id="rId8"/>
    <p:sldLayoutId id="2147484374" r:id="rId9"/>
    <p:sldLayoutId id="2147484375" r:id="rId10"/>
    <p:sldLayoutId id="2147484376" r:id="rId11"/>
  </p:sldLayoutIdLst>
  <p:hf hdr="0" ftr="0"/>
  <p:txStyles>
    <p:titleStyle>
      <a:lvl1pPr algn="l" rtl="0" eaLnBrk="0" fontAlgn="base" hangingPunct="0">
        <a:spcBef>
          <a:spcPct val="0"/>
        </a:spcBef>
        <a:spcAft>
          <a:spcPct val="0"/>
        </a:spcAft>
        <a:defRPr sz="3200">
          <a:solidFill>
            <a:schemeClr val="tx1"/>
          </a:solidFill>
          <a:latin typeface="+mj-lt"/>
          <a:ea typeface="+mj-ea"/>
          <a:cs typeface="+mj-cs"/>
        </a:defRPr>
      </a:lvl1pPr>
      <a:lvl2pPr algn="l" rtl="0" eaLnBrk="0" fontAlgn="base" hangingPunct="0">
        <a:spcBef>
          <a:spcPct val="0"/>
        </a:spcBef>
        <a:spcAft>
          <a:spcPct val="0"/>
        </a:spcAft>
        <a:defRPr sz="3200">
          <a:solidFill>
            <a:schemeClr val="tx1"/>
          </a:solidFill>
          <a:latin typeface="Arial" charset="0"/>
        </a:defRPr>
      </a:lvl2pPr>
      <a:lvl3pPr algn="l" rtl="0" eaLnBrk="0" fontAlgn="base" hangingPunct="0">
        <a:spcBef>
          <a:spcPct val="0"/>
        </a:spcBef>
        <a:spcAft>
          <a:spcPct val="0"/>
        </a:spcAft>
        <a:defRPr sz="3200">
          <a:solidFill>
            <a:schemeClr val="tx1"/>
          </a:solidFill>
          <a:latin typeface="Arial" charset="0"/>
        </a:defRPr>
      </a:lvl3pPr>
      <a:lvl4pPr algn="l" rtl="0" eaLnBrk="0" fontAlgn="base" hangingPunct="0">
        <a:spcBef>
          <a:spcPct val="0"/>
        </a:spcBef>
        <a:spcAft>
          <a:spcPct val="0"/>
        </a:spcAft>
        <a:defRPr sz="3200">
          <a:solidFill>
            <a:schemeClr val="tx1"/>
          </a:solidFill>
          <a:latin typeface="Arial" charset="0"/>
        </a:defRPr>
      </a:lvl4pPr>
      <a:lvl5pPr algn="l" rtl="0" eaLnBrk="0" fontAlgn="base" hangingPunct="0">
        <a:spcBef>
          <a:spcPct val="0"/>
        </a:spcBef>
        <a:spcAft>
          <a:spcPct val="0"/>
        </a:spcAft>
        <a:defRPr sz="3200">
          <a:solidFill>
            <a:schemeClr val="tx1"/>
          </a:solidFill>
          <a:latin typeface="Arial" charset="0"/>
        </a:defRPr>
      </a:lvl5pPr>
      <a:lvl6pPr marL="457200" algn="l" rtl="0" fontAlgn="base">
        <a:spcBef>
          <a:spcPct val="0"/>
        </a:spcBef>
        <a:spcAft>
          <a:spcPct val="0"/>
        </a:spcAft>
        <a:defRPr sz="3200">
          <a:solidFill>
            <a:schemeClr val="tx1"/>
          </a:solidFill>
          <a:latin typeface="Arial" charset="0"/>
        </a:defRPr>
      </a:lvl6pPr>
      <a:lvl7pPr marL="914400" algn="l" rtl="0" fontAlgn="base">
        <a:spcBef>
          <a:spcPct val="0"/>
        </a:spcBef>
        <a:spcAft>
          <a:spcPct val="0"/>
        </a:spcAft>
        <a:defRPr sz="3200">
          <a:solidFill>
            <a:schemeClr val="tx1"/>
          </a:solidFill>
          <a:latin typeface="Arial" charset="0"/>
        </a:defRPr>
      </a:lvl7pPr>
      <a:lvl8pPr marL="1371600" algn="l" rtl="0" fontAlgn="base">
        <a:spcBef>
          <a:spcPct val="0"/>
        </a:spcBef>
        <a:spcAft>
          <a:spcPct val="0"/>
        </a:spcAft>
        <a:defRPr sz="3200">
          <a:solidFill>
            <a:schemeClr val="tx1"/>
          </a:solidFill>
          <a:latin typeface="Arial" charset="0"/>
        </a:defRPr>
      </a:lvl8pPr>
      <a:lvl9pPr marL="1828800" algn="l" rtl="0" fontAlgn="base">
        <a:spcBef>
          <a:spcPct val="0"/>
        </a:spcBef>
        <a:spcAft>
          <a:spcPct val="0"/>
        </a:spcAft>
        <a:defRPr sz="32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0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16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14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6">
            <a:extLst>
              <a:ext uri="{FF2B5EF4-FFF2-40B4-BE49-F238E27FC236}">
                <a16:creationId xmlns:a16="http://schemas.microsoft.com/office/drawing/2014/main" id="{C88A60DA-4937-DC1C-533E-FC1B97AA9CAB}"/>
              </a:ext>
            </a:extLst>
          </p:cNvPr>
          <p:cNvSpPr>
            <a:spLocks noGrp="1" noChangeArrowheads="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4ACBF79-A37B-CA4F-AC2B-29C095AEF8F9}" type="datetime1">
              <a:rPr lang="en-US" altLang="en-US" sz="1200" smtClean="0"/>
              <a:pPr>
                <a:spcBef>
                  <a:spcPct val="0"/>
                </a:spcBef>
                <a:buClrTx/>
                <a:buSzTx/>
                <a:buFontTx/>
                <a:buNone/>
              </a:pPr>
              <a:t>11/22/23</a:t>
            </a:fld>
            <a:endParaRPr lang="en-US" altLang="en-US" sz="1200"/>
          </a:p>
        </p:txBody>
      </p:sp>
      <p:sp>
        <p:nvSpPr>
          <p:cNvPr id="15362" name="Rectangle 18">
            <a:extLst>
              <a:ext uri="{FF2B5EF4-FFF2-40B4-BE49-F238E27FC236}">
                <a16:creationId xmlns:a16="http://schemas.microsoft.com/office/drawing/2014/main" id="{B71A79E9-A15F-269F-576D-7CBBE7D5E76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5730780-B5D0-2B42-9206-9F7C0E5EEF59}" type="slidenum">
              <a:rPr lang="en-US" altLang="en-US" sz="1200">
                <a:latin typeface="Arial Black" panose="020B0604020202020204" pitchFamily="34" charset="0"/>
              </a:rPr>
              <a:pPr>
                <a:spcBef>
                  <a:spcPct val="0"/>
                </a:spcBef>
                <a:buClrTx/>
                <a:buSzTx/>
                <a:buFontTx/>
                <a:buNone/>
              </a:pPr>
              <a:t>1</a:t>
            </a:fld>
            <a:endParaRPr lang="en-US" altLang="en-US" sz="1200">
              <a:latin typeface="Arial Black" panose="020B0604020202020204" pitchFamily="34" charset="0"/>
            </a:endParaRPr>
          </a:p>
        </p:txBody>
      </p:sp>
      <p:sp>
        <p:nvSpPr>
          <p:cNvPr id="15363" name="Rectangle 2">
            <a:extLst>
              <a:ext uri="{FF2B5EF4-FFF2-40B4-BE49-F238E27FC236}">
                <a16:creationId xmlns:a16="http://schemas.microsoft.com/office/drawing/2014/main" id="{39EB22C4-B413-A9AB-A6D4-EDA2C0540FBB}"/>
              </a:ext>
            </a:extLst>
          </p:cNvPr>
          <p:cNvSpPr>
            <a:spLocks noGrp="1" noChangeArrowheads="1"/>
          </p:cNvSpPr>
          <p:nvPr>
            <p:ph type="ctrTitle"/>
          </p:nvPr>
        </p:nvSpPr>
        <p:spPr/>
        <p:txBody>
          <a:bodyPr/>
          <a:lstStyle/>
          <a:p>
            <a:pPr eaLnBrk="1" hangingPunct="1"/>
            <a:r>
              <a:rPr lang="en-US" altLang="en-US" dirty="0"/>
              <a:t>Design Patterns</a:t>
            </a:r>
          </a:p>
        </p:txBody>
      </p:sp>
      <p:sp>
        <p:nvSpPr>
          <p:cNvPr id="15364" name="TextBox 4">
            <a:extLst>
              <a:ext uri="{FF2B5EF4-FFF2-40B4-BE49-F238E27FC236}">
                <a16:creationId xmlns:a16="http://schemas.microsoft.com/office/drawing/2014/main" id="{92ADFB61-7049-F6C9-A85B-D75527D36068}"/>
              </a:ext>
            </a:extLst>
          </p:cNvPr>
          <p:cNvSpPr txBox="1">
            <a:spLocks noChangeArrowheads="1"/>
          </p:cNvSpPr>
          <p:nvPr/>
        </p:nvSpPr>
        <p:spPr bwMode="auto">
          <a:xfrm>
            <a:off x="533400" y="4800600"/>
            <a:ext cx="7620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2800" dirty="0"/>
              <a:t> Observer Patterns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0E5BBC96-9209-0448-B937-98A44B5F7A58}"/>
              </a:ext>
            </a:extLst>
          </p:cNvPr>
          <p:cNvSpPr>
            <a:spLocks noGrp="1"/>
          </p:cNvSpPr>
          <p:nvPr>
            <p:ph type="title"/>
          </p:nvPr>
        </p:nvSpPr>
        <p:spPr/>
        <p:txBody>
          <a:bodyPr/>
          <a:lstStyle/>
          <a:p>
            <a:r>
              <a:rPr lang="en-US" altLang="en-US"/>
              <a:t>Weather Monitoring Application</a:t>
            </a:r>
          </a:p>
        </p:txBody>
      </p:sp>
      <p:sp>
        <p:nvSpPr>
          <p:cNvPr id="17410" name="Content Placeholder 2">
            <a:extLst>
              <a:ext uri="{FF2B5EF4-FFF2-40B4-BE49-F238E27FC236}">
                <a16:creationId xmlns:a16="http://schemas.microsoft.com/office/drawing/2014/main" id="{AB29152E-64A6-C953-157F-57958C72ED52}"/>
              </a:ext>
            </a:extLst>
          </p:cNvPr>
          <p:cNvSpPr>
            <a:spLocks noGrp="1"/>
          </p:cNvSpPr>
          <p:nvPr>
            <p:ph idx="1"/>
          </p:nvPr>
        </p:nvSpPr>
        <p:spPr>
          <a:xfrm>
            <a:off x="381000" y="1143000"/>
            <a:ext cx="8229600" cy="5257800"/>
          </a:xfrm>
        </p:spPr>
        <p:txBody>
          <a:bodyPr/>
          <a:lstStyle/>
          <a:p>
            <a:r>
              <a:rPr lang="en-US" altLang="en-US"/>
              <a:t>Weather Station which monitors humidity, temperature, and pressure.</a:t>
            </a:r>
          </a:p>
          <a:p>
            <a:endParaRPr lang="en-US" altLang="en-US"/>
          </a:p>
          <a:p>
            <a:r>
              <a:rPr lang="en-US" altLang="en-US"/>
              <a:t>There are three different displays for showing the information from the Weather Station</a:t>
            </a:r>
          </a:p>
          <a:p>
            <a:pPr lvl="1"/>
            <a:r>
              <a:rPr lang="en-US" altLang="en-US"/>
              <a:t>Current Conditions</a:t>
            </a:r>
          </a:p>
          <a:p>
            <a:pPr lvl="1"/>
            <a:r>
              <a:rPr lang="en-US" altLang="en-US"/>
              <a:t>Weather Stats</a:t>
            </a:r>
          </a:p>
          <a:p>
            <a:pPr lvl="1"/>
            <a:r>
              <a:rPr lang="en-US" altLang="en-US"/>
              <a:t>Forecast</a:t>
            </a:r>
          </a:p>
          <a:p>
            <a:pPr lvl="1"/>
            <a:endParaRPr lang="en-US" altLang="en-US"/>
          </a:p>
          <a:p>
            <a:r>
              <a:rPr lang="en-US" altLang="en-US"/>
              <a:t>Goal: </a:t>
            </a:r>
          </a:p>
          <a:p>
            <a:pPr lvl="1"/>
            <a:r>
              <a:rPr lang="en-US" altLang="en-US"/>
              <a:t>Changes in the Weather Station must update all three displays.</a:t>
            </a:r>
          </a:p>
          <a:p>
            <a:pPr lvl="1"/>
            <a:r>
              <a:rPr lang="en-US" altLang="en-US" i="1"/>
              <a:t>In addition, need capability to add additional displays in the future.</a:t>
            </a:r>
          </a:p>
        </p:txBody>
      </p:sp>
      <p:sp>
        <p:nvSpPr>
          <p:cNvPr id="17411" name="Slide Number Placeholder 3">
            <a:extLst>
              <a:ext uri="{FF2B5EF4-FFF2-40B4-BE49-F238E27FC236}">
                <a16:creationId xmlns:a16="http://schemas.microsoft.com/office/drawing/2014/main" id="{0EE545D0-3CCD-51A8-7F62-8F8540C1A17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F533010-CF11-284A-8888-29A68D4843FC}" type="slidenum">
              <a:rPr lang="en-US" altLang="en-US" sz="1000">
                <a:latin typeface="Arial Black" panose="020B0604020202020204" pitchFamily="34" charset="0"/>
              </a:rPr>
              <a:pPr>
                <a:spcBef>
                  <a:spcPct val="0"/>
                </a:spcBef>
                <a:buClrTx/>
                <a:buSzTx/>
                <a:buFontTx/>
                <a:buNone/>
              </a:pPr>
              <a:t>2</a:t>
            </a:fld>
            <a:endParaRPr lang="en-US" altLang="en-US" sz="1000">
              <a:latin typeface="Arial Black" panose="020B0604020202020204" pitchFamily="34" charset="0"/>
            </a:endParaRPr>
          </a:p>
        </p:txBody>
      </p:sp>
      <p:sp>
        <p:nvSpPr>
          <p:cNvPr id="17412" name="Date Placeholder 4">
            <a:extLst>
              <a:ext uri="{FF2B5EF4-FFF2-40B4-BE49-F238E27FC236}">
                <a16:creationId xmlns:a16="http://schemas.microsoft.com/office/drawing/2014/main" id="{DBE8B695-C259-F417-BD51-CC1B28CF237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88251C0-411C-0B46-ABB5-DF72C0C8DB1B}"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AF0352D8-393B-387F-B762-53EEC87A1DD2}"/>
              </a:ext>
            </a:extLst>
          </p:cNvPr>
          <p:cNvSpPr>
            <a:spLocks noGrp="1"/>
          </p:cNvSpPr>
          <p:nvPr>
            <p:ph type="title"/>
          </p:nvPr>
        </p:nvSpPr>
        <p:spPr/>
        <p:txBody>
          <a:bodyPr/>
          <a:lstStyle/>
          <a:p>
            <a:r>
              <a:rPr lang="en-US" altLang="en-US"/>
              <a:t>Observer Pattern</a:t>
            </a:r>
          </a:p>
        </p:txBody>
      </p:sp>
      <p:sp>
        <p:nvSpPr>
          <p:cNvPr id="18434" name="Content Placeholder 2">
            <a:extLst>
              <a:ext uri="{FF2B5EF4-FFF2-40B4-BE49-F238E27FC236}">
                <a16:creationId xmlns:a16="http://schemas.microsoft.com/office/drawing/2014/main" id="{62514EBA-5E1B-768F-AFCA-6DFF581A1C3F}"/>
              </a:ext>
            </a:extLst>
          </p:cNvPr>
          <p:cNvSpPr>
            <a:spLocks noGrp="1"/>
          </p:cNvSpPr>
          <p:nvPr>
            <p:ph idx="1"/>
          </p:nvPr>
        </p:nvSpPr>
        <p:spPr/>
        <p:txBody>
          <a:bodyPr/>
          <a:lstStyle/>
          <a:p>
            <a:r>
              <a:rPr lang="en-US" altLang="en-US"/>
              <a:t>GoF Intent: “Defines a one-to-many dependency between objects so that when one object </a:t>
            </a:r>
            <a:r>
              <a:rPr lang="en-US" altLang="en-US" i="1"/>
              <a:t>changes state</a:t>
            </a:r>
            <a:r>
              <a:rPr lang="en-US" altLang="en-US"/>
              <a:t>, all of its dependents are notified and updated automatically.”</a:t>
            </a:r>
          </a:p>
          <a:p>
            <a:endParaRPr lang="en-US" altLang="en-US"/>
          </a:p>
          <a:p>
            <a:r>
              <a:rPr lang="en-US" altLang="en-US"/>
              <a:t>pgs 38-56 provide a good background on the pattern.</a:t>
            </a:r>
          </a:p>
        </p:txBody>
      </p:sp>
      <p:sp>
        <p:nvSpPr>
          <p:cNvPr id="18435" name="Slide Number Placeholder 3">
            <a:extLst>
              <a:ext uri="{FF2B5EF4-FFF2-40B4-BE49-F238E27FC236}">
                <a16:creationId xmlns:a16="http://schemas.microsoft.com/office/drawing/2014/main" id="{D9057D53-62F8-D5B6-D593-469C4189890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AFA0CD3-8BA9-AA4C-8C6A-7EE1E506CCA8}" type="slidenum">
              <a:rPr lang="en-US" altLang="en-US" sz="1000">
                <a:latin typeface="Arial Black" panose="020B0604020202020204" pitchFamily="34" charset="0"/>
              </a:rPr>
              <a:pPr>
                <a:spcBef>
                  <a:spcPct val="0"/>
                </a:spcBef>
                <a:buClrTx/>
                <a:buSzTx/>
                <a:buFontTx/>
                <a:buNone/>
              </a:pPr>
              <a:t>3</a:t>
            </a:fld>
            <a:endParaRPr lang="en-US" altLang="en-US" sz="1000">
              <a:latin typeface="Arial Black" panose="020B0604020202020204" pitchFamily="34" charset="0"/>
            </a:endParaRPr>
          </a:p>
        </p:txBody>
      </p:sp>
      <p:sp>
        <p:nvSpPr>
          <p:cNvPr id="18436" name="Date Placeholder 4">
            <a:extLst>
              <a:ext uri="{FF2B5EF4-FFF2-40B4-BE49-F238E27FC236}">
                <a16:creationId xmlns:a16="http://schemas.microsoft.com/office/drawing/2014/main" id="{DD3D274F-21CD-825C-6909-35535C16515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93580F2-6746-7247-B16C-C00515744408}"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8B68419B-EEFA-BA90-CC6E-F2B4258F096A}"/>
              </a:ext>
            </a:extLst>
          </p:cNvPr>
          <p:cNvSpPr>
            <a:spLocks noGrp="1"/>
          </p:cNvSpPr>
          <p:nvPr>
            <p:ph type="title"/>
          </p:nvPr>
        </p:nvSpPr>
        <p:spPr/>
        <p:txBody>
          <a:bodyPr/>
          <a:lstStyle/>
          <a:p>
            <a:endParaRPr lang="en-US" altLang="en-US"/>
          </a:p>
        </p:txBody>
      </p:sp>
      <p:pic>
        <p:nvPicPr>
          <p:cNvPr id="19458" name="Content Placeholder 1">
            <a:extLst>
              <a:ext uri="{FF2B5EF4-FFF2-40B4-BE49-F238E27FC236}">
                <a16:creationId xmlns:a16="http://schemas.microsoft.com/office/drawing/2014/main" id="{44D12E27-0FC5-FB6A-3E04-E23303756BF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301750" y="1371600"/>
            <a:ext cx="6540500" cy="4495800"/>
          </a:xfrm>
        </p:spPr>
      </p:pic>
      <p:sp>
        <p:nvSpPr>
          <p:cNvPr id="19459" name="Slide Number Placeholder 3">
            <a:extLst>
              <a:ext uri="{FF2B5EF4-FFF2-40B4-BE49-F238E27FC236}">
                <a16:creationId xmlns:a16="http://schemas.microsoft.com/office/drawing/2014/main" id="{CFD9FF4F-312F-F503-B7E0-EFCF512D446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48DC34C-80DB-FA4B-AF0B-3BEAC744C7BF}" type="slidenum">
              <a:rPr lang="en-US" altLang="en-US" sz="1000">
                <a:latin typeface="Arial Black" panose="020B0604020202020204" pitchFamily="34" charset="0"/>
              </a:rPr>
              <a:pPr>
                <a:spcBef>
                  <a:spcPct val="0"/>
                </a:spcBef>
                <a:buClrTx/>
                <a:buSzTx/>
                <a:buFontTx/>
                <a:buNone/>
              </a:pPr>
              <a:t>4</a:t>
            </a:fld>
            <a:endParaRPr lang="en-US" altLang="en-US" sz="1000">
              <a:latin typeface="Arial Black" panose="020B0604020202020204" pitchFamily="34" charset="0"/>
            </a:endParaRPr>
          </a:p>
        </p:txBody>
      </p:sp>
      <p:sp>
        <p:nvSpPr>
          <p:cNvPr id="19460" name="Date Placeholder 4">
            <a:extLst>
              <a:ext uri="{FF2B5EF4-FFF2-40B4-BE49-F238E27FC236}">
                <a16:creationId xmlns:a16="http://schemas.microsoft.com/office/drawing/2014/main" id="{AE779E2A-8C42-BF89-C0E6-B600AF04B27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636CF96-ACBE-BA40-B0AA-AD2AE94D65D0}"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a:extLst>
              <a:ext uri="{FF2B5EF4-FFF2-40B4-BE49-F238E27FC236}">
                <a16:creationId xmlns:a16="http://schemas.microsoft.com/office/drawing/2014/main" id="{76190DCE-AFE0-2D52-7495-E28D8D74FF3C}"/>
              </a:ext>
            </a:extLst>
          </p:cNvPr>
          <p:cNvSpPr>
            <a:spLocks noGrp="1"/>
          </p:cNvSpPr>
          <p:nvPr>
            <p:ph type="title"/>
          </p:nvPr>
        </p:nvSpPr>
        <p:spPr/>
        <p:txBody>
          <a:bodyPr/>
          <a:lstStyle/>
          <a:p>
            <a:endParaRPr lang="en-LK" altLang="en-LK"/>
          </a:p>
        </p:txBody>
      </p:sp>
      <p:pic>
        <p:nvPicPr>
          <p:cNvPr id="105474" name="Content Placeholder 5">
            <a:extLst>
              <a:ext uri="{FF2B5EF4-FFF2-40B4-BE49-F238E27FC236}">
                <a16:creationId xmlns:a16="http://schemas.microsoft.com/office/drawing/2014/main" id="{280618B8-5D04-BFC0-3BF2-59EA8B3785D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162175" y="1371600"/>
            <a:ext cx="4819650" cy="4495800"/>
          </a:xfrm>
        </p:spPr>
      </p:pic>
      <p:sp>
        <p:nvSpPr>
          <p:cNvPr id="105475" name="Slide Number Placeholder 3">
            <a:extLst>
              <a:ext uri="{FF2B5EF4-FFF2-40B4-BE49-F238E27FC236}">
                <a16:creationId xmlns:a16="http://schemas.microsoft.com/office/drawing/2014/main" id="{2F20B934-5982-1004-E823-7F650C5738E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C02B98-2791-3A44-910C-2CB755AFC6B6}" type="slidenum">
              <a:rPr lang="en-US" altLang="en-US">
                <a:latin typeface="Arial Black" panose="020B0604020202020204" pitchFamily="34" charset="0"/>
              </a:rPr>
              <a:pPr/>
              <a:t>5</a:t>
            </a:fld>
            <a:endParaRPr lang="en-US" altLang="en-US">
              <a:latin typeface="Arial Black" panose="020B0604020202020204" pitchFamily="34" charset="0"/>
            </a:endParaRPr>
          </a:p>
        </p:txBody>
      </p:sp>
      <p:sp>
        <p:nvSpPr>
          <p:cNvPr id="105476" name="Date Placeholder 4">
            <a:extLst>
              <a:ext uri="{FF2B5EF4-FFF2-40B4-BE49-F238E27FC236}">
                <a16:creationId xmlns:a16="http://schemas.microsoft.com/office/drawing/2014/main" id="{C41D04B2-F823-6EE4-1095-5A38E5AA8CF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076716-26EE-DF4D-8D40-F2E77FF92EF1}" type="datetime1">
              <a:rPr lang="en-US" altLang="en-LK" smtClean="0"/>
              <a:pPr/>
              <a:t>11/22/23</a:t>
            </a:fld>
            <a:endParaRPr lang="en-US" altLang="en-LK"/>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D335D66-CC2C-EAEA-6809-91CEB42B1FFE}"/>
              </a:ext>
            </a:extLst>
          </p:cNvPr>
          <p:cNvSpPr>
            <a:spLocks noGrp="1"/>
          </p:cNvSpPr>
          <p:nvPr>
            <p:ph type="title"/>
          </p:nvPr>
        </p:nvSpPr>
        <p:spPr/>
        <p:txBody>
          <a:bodyPr/>
          <a:lstStyle/>
          <a:p>
            <a:r>
              <a:rPr lang="en-US" altLang="en-US"/>
              <a:t>Definitions</a:t>
            </a:r>
          </a:p>
        </p:txBody>
      </p:sp>
      <p:sp>
        <p:nvSpPr>
          <p:cNvPr id="20482" name="Content Placeholder 2">
            <a:extLst>
              <a:ext uri="{FF2B5EF4-FFF2-40B4-BE49-F238E27FC236}">
                <a16:creationId xmlns:a16="http://schemas.microsoft.com/office/drawing/2014/main" id="{D1FFCD38-45FC-47ED-D0C4-47D720408E93}"/>
              </a:ext>
            </a:extLst>
          </p:cNvPr>
          <p:cNvSpPr>
            <a:spLocks noGrp="1"/>
          </p:cNvSpPr>
          <p:nvPr>
            <p:ph idx="1"/>
          </p:nvPr>
        </p:nvSpPr>
        <p:spPr/>
        <p:txBody>
          <a:bodyPr/>
          <a:lstStyle/>
          <a:p>
            <a:r>
              <a:rPr lang="en-US" altLang="en-US"/>
              <a:t>Subject </a:t>
            </a:r>
          </a:p>
          <a:p>
            <a:pPr lvl="1"/>
            <a:r>
              <a:rPr lang="en-US" altLang="en-US"/>
              <a:t>Sends a notification message to one or many observers when there is a change in state.</a:t>
            </a:r>
          </a:p>
          <a:p>
            <a:pPr lvl="1"/>
            <a:r>
              <a:rPr lang="en-US" altLang="en-US"/>
              <a:t>Along with the message, provides information on the state that has changed.</a:t>
            </a:r>
          </a:p>
          <a:p>
            <a:endParaRPr lang="en-US" altLang="en-US"/>
          </a:p>
          <a:p>
            <a:r>
              <a:rPr lang="en-US" altLang="en-US"/>
              <a:t>Observers – The objects that want to be notified about changes in the Subject’s state</a:t>
            </a:r>
          </a:p>
        </p:txBody>
      </p:sp>
      <p:sp>
        <p:nvSpPr>
          <p:cNvPr id="20483" name="Slide Number Placeholder 3">
            <a:extLst>
              <a:ext uri="{FF2B5EF4-FFF2-40B4-BE49-F238E27FC236}">
                <a16:creationId xmlns:a16="http://schemas.microsoft.com/office/drawing/2014/main" id="{528B194E-6E00-2D6A-1A3A-F647C23AE34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58E5929-BF20-6E4C-9A84-E96A6EC68CE5}" type="slidenum">
              <a:rPr lang="en-US" altLang="en-US" sz="1000">
                <a:latin typeface="Arial Black" panose="020B0604020202020204" pitchFamily="34" charset="0"/>
              </a:rPr>
              <a:pPr>
                <a:spcBef>
                  <a:spcPct val="0"/>
                </a:spcBef>
                <a:buClrTx/>
                <a:buSzTx/>
                <a:buFontTx/>
                <a:buNone/>
              </a:pPr>
              <a:t>6</a:t>
            </a:fld>
            <a:endParaRPr lang="en-US" altLang="en-US" sz="1000">
              <a:latin typeface="Arial Black" panose="020B0604020202020204" pitchFamily="34" charset="0"/>
            </a:endParaRPr>
          </a:p>
        </p:txBody>
      </p:sp>
      <p:sp>
        <p:nvSpPr>
          <p:cNvPr id="20484" name="Date Placeholder 4">
            <a:extLst>
              <a:ext uri="{FF2B5EF4-FFF2-40B4-BE49-F238E27FC236}">
                <a16:creationId xmlns:a16="http://schemas.microsoft.com/office/drawing/2014/main" id="{7947769F-617E-ED74-7DA4-5D5A072D489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CB3FB87-C436-9747-8862-B0CF8AA69C19}"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20400A56-C81A-2981-A429-4099EDD4CE7E}"/>
              </a:ext>
            </a:extLst>
          </p:cNvPr>
          <p:cNvSpPr>
            <a:spLocks noGrp="1"/>
          </p:cNvSpPr>
          <p:nvPr>
            <p:ph type="title"/>
          </p:nvPr>
        </p:nvSpPr>
        <p:spPr/>
        <p:txBody>
          <a:bodyPr/>
          <a:lstStyle/>
          <a:p>
            <a:r>
              <a:rPr lang="en-US" altLang="en-US"/>
              <a:t>Interfaces</a:t>
            </a:r>
          </a:p>
        </p:txBody>
      </p:sp>
      <p:sp>
        <p:nvSpPr>
          <p:cNvPr id="21506" name="Slide Number Placeholder 3">
            <a:extLst>
              <a:ext uri="{FF2B5EF4-FFF2-40B4-BE49-F238E27FC236}">
                <a16:creationId xmlns:a16="http://schemas.microsoft.com/office/drawing/2014/main" id="{0319E366-AC18-9597-6231-74642D5B15B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9F24864-B5B1-7344-9E2B-2BEE50A49CC3}" type="slidenum">
              <a:rPr lang="en-US" altLang="en-US" sz="1000">
                <a:latin typeface="Arial Black" panose="020B0604020202020204" pitchFamily="34" charset="0"/>
              </a:rPr>
              <a:pPr>
                <a:spcBef>
                  <a:spcPct val="0"/>
                </a:spcBef>
                <a:buClrTx/>
                <a:buSzTx/>
                <a:buFontTx/>
                <a:buNone/>
              </a:pPr>
              <a:t>7</a:t>
            </a:fld>
            <a:endParaRPr lang="en-US" altLang="en-US" sz="1000">
              <a:latin typeface="Arial Black" panose="020B0604020202020204" pitchFamily="34" charset="0"/>
            </a:endParaRPr>
          </a:p>
        </p:txBody>
      </p:sp>
      <p:sp>
        <p:nvSpPr>
          <p:cNvPr id="21507" name="Date Placeholder 4">
            <a:extLst>
              <a:ext uri="{FF2B5EF4-FFF2-40B4-BE49-F238E27FC236}">
                <a16:creationId xmlns:a16="http://schemas.microsoft.com/office/drawing/2014/main" id="{075D43CA-73D8-1CEE-08C4-AFAD24F0A59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2A05D1F-C7D3-5E4C-8DB6-669E477D1DCC}" type="datetime1">
              <a:rPr lang="en-US" altLang="en-US" sz="1200" smtClean="0"/>
              <a:pPr>
                <a:spcBef>
                  <a:spcPct val="0"/>
                </a:spcBef>
                <a:buClrTx/>
                <a:buSzTx/>
                <a:buFontTx/>
                <a:buNone/>
              </a:pPr>
              <a:t>11/22/23</a:t>
            </a:fld>
            <a:endParaRPr lang="en-US" altLang="en-US" sz="1200"/>
          </a:p>
        </p:txBody>
      </p:sp>
      <p:pic>
        <p:nvPicPr>
          <p:cNvPr id="21508" name="Picture 2">
            <a:extLst>
              <a:ext uri="{FF2B5EF4-FFF2-40B4-BE49-F238E27FC236}">
                <a16:creationId xmlns:a16="http://schemas.microsoft.com/office/drawing/2014/main" id="{A6993726-9112-1A50-2EF9-070A744E03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295400"/>
            <a:ext cx="4572000" cy="2238375"/>
          </a:xfrm>
          <a:noFill/>
        </p:spPr>
      </p:pic>
      <p:pic>
        <p:nvPicPr>
          <p:cNvPr id="21509" name="Picture 3">
            <a:extLst>
              <a:ext uri="{FF2B5EF4-FFF2-40B4-BE49-F238E27FC236}">
                <a16:creationId xmlns:a16="http://schemas.microsoft.com/office/drawing/2014/main" id="{D296C632-F61A-BB0A-67B3-0030C19812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191000"/>
            <a:ext cx="4648200" cy="165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Box 8">
            <a:extLst>
              <a:ext uri="{FF2B5EF4-FFF2-40B4-BE49-F238E27FC236}">
                <a16:creationId xmlns:a16="http://schemas.microsoft.com/office/drawing/2014/main" id="{9FFEA3B5-19CA-2E9F-5D2D-66A8ECAA8523}"/>
              </a:ext>
            </a:extLst>
          </p:cNvPr>
          <p:cNvSpPr txBox="1">
            <a:spLocks noChangeArrowheads="1"/>
          </p:cNvSpPr>
          <p:nvPr/>
        </p:nvSpPr>
        <p:spPr bwMode="auto">
          <a:xfrm>
            <a:off x="6172200" y="1600200"/>
            <a:ext cx="22860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Contains signatures for registering, removing, and notifying observers.</a:t>
            </a:r>
          </a:p>
        </p:txBody>
      </p:sp>
      <p:sp>
        <p:nvSpPr>
          <p:cNvPr id="21511" name="TextBox 11">
            <a:extLst>
              <a:ext uri="{FF2B5EF4-FFF2-40B4-BE49-F238E27FC236}">
                <a16:creationId xmlns:a16="http://schemas.microsoft.com/office/drawing/2014/main" id="{6FC020A2-EF12-FBE3-8BFA-FD7A4EBF4CE6}"/>
              </a:ext>
            </a:extLst>
          </p:cNvPr>
          <p:cNvSpPr txBox="1">
            <a:spLocks noChangeArrowheads="1"/>
          </p:cNvSpPr>
          <p:nvPr/>
        </p:nvSpPr>
        <p:spPr bwMode="auto">
          <a:xfrm>
            <a:off x="6172200" y="4343400"/>
            <a:ext cx="2286000" cy="1477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Contains Update method so that information can be sent from Subject to Observer.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C55FC6F3-ED93-129B-7C2F-AA15CBCF42E5}"/>
              </a:ext>
            </a:extLst>
          </p:cNvPr>
          <p:cNvSpPr>
            <a:spLocks noGrp="1"/>
          </p:cNvSpPr>
          <p:nvPr>
            <p:ph type="title"/>
          </p:nvPr>
        </p:nvSpPr>
        <p:spPr/>
        <p:txBody>
          <a:bodyPr/>
          <a:lstStyle/>
          <a:p>
            <a:r>
              <a:rPr lang="en-US" altLang="en-US"/>
              <a:t>WeatherData (Subject)</a:t>
            </a:r>
          </a:p>
        </p:txBody>
      </p:sp>
      <p:sp>
        <p:nvSpPr>
          <p:cNvPr id="22530" name="Slide Number Placeholder 3">
            <a:extLst>
              <a:ext uri="{FF2B5EF4-FFF2-40B4-BE49-F238E27FC236}">
                <a16:creationId xmlns:a16="http://schemas.microsoft.com/office/drawing/2014/main" id="{F8C09BFD-2634-D582-7656-70AD7B20F5A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02D738A-1685-734E-A750-66C395D3FDE6}" type="slidenum">
              <a:rPr lang="en-US" altLang="en-US" sz="1000">
                <a:latin typeface="Arial Black" panose="020B0604020202020204" pitchFamily="34" charset="0"/>
              </a:rPr>
              <a:pPr>
                <a:spcBef>
                  <a:spcPct val="0"/>
                </a:spcBef>
                <a:buClrTx/>
                <a:buSzTx/>
                <a:buFontTx/>
                <a:buNone/>
              </a:pPr>
              <a:t>8</a:t>
            </a:fld>
            <a:endParaRPr lang="en-US" altLang="en-US" sz="1000">
              <a:latin typeface="Arial Black" panose="020B0604020202020204" pitchFamily="34" charset="0"/>
            </a:endParaRPr>
          </a:p>
        </p:txBody>
      </p:sp>
      <p:pic>
        <p:nvPicPr>
          <p:cNvPr id="22531" name="Picture 2">
            <a:extLst>
              <a:ext uri="{FF2B5EF4-FFF2-40B4-BE49-F238E27FC236}">
                <a16:creationId xmlns:a16="http://schemas.microsoft.com/office/drawing/2014/main" id="{B33C849A-F394-71E0-5800-51396829064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533400" y="1295400"/>
            <a:ext cx="5280025" cy="3733800"/>
          </a:xfrm>
          <a:noFill/>
        </p:spPr>
      </p:pic>
      <p:cxnSp>
        <p:nvCxnSpPr>
          <p:cNvPr id="22532" name="Straight Arrow Connector 11">
            <a:extLst>
              <a:ext uri="{FF2B5EF4-FFF2-40B4-BE49-F238E27FC236}">
                <a16:creationId xmlns:a16="http://schemas.microsoft.com/office/drawing/2014/main" id="{DED4D7EB-F3D2-9680-E3F8-51ED48372428}"/>
              </a:ext>
            </a:extLst>
          </p:cNvPr>
          <p:cNvCxnSpPr>
            <a:cxnSpLocks noChangeShapeType="1"/>
          </p:cNvCxnSpPr>
          <p:nvPr/>
        </p:nvCxnSpPr>
        <p:spPr bwMode="auto">
          <a:xfrm>
            <a:off x="228600" y="1447800"/>
            <a:ext cx="4572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33" name="TextBox 10">
            <a:extLst>
              <a:ext uri="{FF2B5EF4-FFF2-40B4-BE49-F238E27FC236}">
                <a16:creationId xmlns:a16="http://schemas.microsoft.com/office/drawing/2014/main" id="{8D3C54E9-6808-9818-893F-DA9D424F0E8F}"/>
              </a:ext>
            </a:extLst>
          </p:cNvPr>
          <p:cNvSpPr txBox="1">
            <a:spLocks noChangeArrowheads="1"/>
          </p:cNvSpPr>
          <p:nvPr/>
        </p:nvSpPr>
        <p:spPr bwMode="auto">
          <a:xfrm>
            <a:off x="6096000" y="1752600"/>
            <a:ext cx="2209800" cy="1477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The fields for humidity, pressure, and temperature represent the state of the Subject.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BBDF804C-1C39-B445-18F3-045EE7866255}"/>
              </a:ext>
            </a:extLst>
          </p:cNvPr>
          <p:cNvSpPr>
            <a:spLocks noGrp="1"/>
          </p:cNvSpPr>
          <p:nvPr>
            <p:ph type="title"/>
          </p:nvPr>
        </p:nvSpPr>
        <p:spPr/>
        <p:txBody>
          <a:bodyPr/>
          <a:lstStyle/>
          <a:p>
            <a:r>
              <a:rPr lang="en-US" altLang="en-US"/>
              <a:t>WeatherData (Subject; Pt 1)</a:t>
            </a:r>
          </a:p>
        </p:txBody>
      </p:sp>
      <p:sp>
        <p:nvSpPr>
          <p:cNvPr id="24578" name="Content Placeholder 2">
            <a:extLst>
              <a:ext uri="{FF2B5EF4-FFF2-40B4-BE49-F238E27FC236}">
                <a16:creationId xmlns:a16="http://schemas.microsoft.com/office/drawing/2014/main" id="{37643F0B-A8D4-4600-C65E-AA2943907902}"/>
              </a:ext>
            </a:extLst>
          </p:cNvPr>
          <p:cNvSpPr>
            <a:spLocks noGrp="1"/>
          </p:cNvSpPr>
          <p:nvPr>
            <p:ph idx="1"/>
          </p:nvPr>
        </p:nvSpPr>
        <p:spPr>
          <a:xfrm>
            <a:off x="152400" y="1143000"/>
            <a:ext cx="8763000" cy="54864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class WeatherData : ISubject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//Fields that represent State</a:t>
            </a:r>
          </a:p>
          <a:p>
            <a:pPr>
              <a:buFont typeface="Wingdings" pitchFamily="2" charset="2"/>
              <a:buNone/>
            </a:pPr>
            <a:r>
              <a:rPr lang="nb-NO" altLang="en-US" sz="1800">
                <a:latin typeface="Courier New" panose="02070309020205020404" pitchFamily="49" charset="0"/>
                <a:cs typeface="Courier New" panose="02070309020205020404" pitchFamily="49" charset="0"/>
              </a:rPr>
              <a:t>	private float temperature;</a:t>
            </a:r>
          </a:p>
          <a:p>
            <a:pPr>
              <a:buFont typeface="Wingdings" pitchFamily="2" charset="2"/>
              <a:buNone/>
            </a:pPr>
            <a:r>
              <a:rPr lang="nb-NO" altLang="en-US" sz="1800">
                <a:latin typeface="Courier New" panose="02070309020205020404" pitchFamily="49" charset="0"/>
                <a:cs typeface="Courier New" panose="02070309020205020404" pitchFamily="49" charset="0"/>
              </a:rPr>
              <a:t>	private float humidity;</a:t>
            </a:r>
          </a:p>
          <a:p>
            <a:pPr>
              <a:buFont typeface="Wingdings" pitchFamily="2" charset="2"/>
              <a:buNone/>
            </a:pPr>
            <a:r>
              <a:rPr lang="nb-NO" altLang="en-US" sz="1800">
                <a:latin typeface="Courier New" panose="02070309020205020404" pitchFamily="49" charset="0"/>
                <a:cs typeface="Courier New" panose="02070309020205020404" pitchFamily="49" charset="0"/>
              </a:rPr>
              <a:t>	private float pressure;</a:t>
            </a:r>
            <a:endParaRPr lang="en-US" altLang="en-US" sz="1800">
              <a:latin typeface="Courier New" panose="02070309020205020404" pitchFamily="49" charset="0"/>
              <a:cs typeface="Courier New" panose="02070309020205020404" pitchFamily="49" charset="0"/>
            </a:endParaRP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void SetMeasurements(float temperature, </a:t>
            </a:r>
          </a:p>
          <a:p>
            <a:pPr>
              <a:buFont typeface="Wingdings" pitchFamily="2" charset="2"/>
              <a:buNone/>
            </a:pPr>
            <a:r>
              <a:rPr lang="en-US" altLang="en-US" sz="1800">
                <a:latin typeface="Courier New" panose="02070309020205020404" pitchFamily="49" charset="0"/>
                <a:cs typeface="Courier New" panose="02070309020205020404" pitchFamily="49" charset="0"/>
              </a:rPr>
              <a:t>                     float humidity, float pressure)  {</a:t>
            </a:r>
          </a:p>
          <a:p>
            <a:pPr>
              <a:buFont typeface="Wingdings" pitchFamily="2" charset="2"/>
              <a:buNone/>
            </a:pPr>
            <a:r>
              <a:rPr lang="en-US" altLang="en-US" sz="1800">
                <a:latin typeface="Courier New" panose="02070309020205020404" pitchFamily="49" charset="0"/>
                <a:cs typeface="Courier New" panose="02070309020205020404" pitchFamily="49" charset="0"/>
              </a:rPr>
              <a:t>		//Not Shown: set field variables based on parameters</a:t>
            </a:r>
          </a:p>
          <a:p>
            <a:pPr>
              <a:buFont typeface="Wingdings" pitchFamily="2" charset="2"/>
              <a:buNone/>
            </a:pPr>
            <a:r>
              <a:rPr lang="en-US" altLang="en-US" sz="1800">
                <a:latin typeface="Courier New" panose="02070309020205020404" pitchFamily="49" charset="0"/>
                <a:cs typeface="Courier New" panose="02070309020205020404" pitchFamily="49" charset="0"/>
              </a:rPr>
              <a:t>		MeasurementsChanged();</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void MeasurementsChanged() {</a:t>
            </a:r>
          </a:p>
          <a:p>
            <a:pPr>
              <a:buFont typeface="Wingdings" pitchFamily="2" charset="2"/>
              <a:buNone/>
            </a:pPr>
            <a:r>
              <a:rPr lang="en-US" altLang="en-US" sz="1800">
                <a:latin typeface="Courier New" panose="02070309020205020404" pitchFamily="49" charset="0"/>
                <a:cs typeface="Courier New" panose="02070309020205020404" pitchFamily="49" charset="0"/>
              </a:rPr>
              <a:t>		NotifyObserver();</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24579" name="Slide Number Placeholder 3">
            <a:extLst>
              <a:ext uri="{FF2B5EF4-FFF2-40B4-BE49-F238E27FC236}">
                <a16:creationId xmlns:a16="http://schemas.microsoft.com/office/drawing/2014/main" id="{71B10565-067B-2E66-682F-98734CF6DE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905B831-FAAB-6B4C-9CCE-7012202C2B57}" type="slidenum">
              <a:rPr lang="en-US" altLang="en-US" sz="1000">
                <a:latin typeface="Arial Black" panose="020B0604020202020204" pitchFamily="34" charset="0"/>
              </a:rPr>
              <a:pPr>
                <a:spcBef>
                  <a:spcPct val="0"/>
                </a:spcBef>
                <a:buClrTx/>
                <a:buSzTx/>
                <a:buFontTx/>
                <a:buNone/>
              </a:pPr>
              <a:t>9</a:t>
            </a:fld>
            <a:endParaRPr lang="en-US" altLang="en-US" sz="1000">
              <a:latin typeface="Arial Black" panose="020B0604020202020204" pitchFamily="34" charset="0"/>
            </a:endParaRPr>
          </a:p>
        </p:txBody>
      </p:sp>
      <p:sp>
        <p:nvSpPr>
          <p:cNvPr id="24580" name="TextBox 4">
            <a:extLst>
              <a:ext uri="{FF2B5EF4-FFF2-40B4-BE49-F238E27FC236}">
                <a16:creationId xmlns:a16="http://schemas.microsoft.com/office/drawing/2014/main" id="{5605E054-5D0B-C3A1-58DC-F35972C96349}"/>
              </a:ext>
            </a:extLst>
          </p:cNvPr>
          <p:cNvSpPr txBox="1">
            <a:spLocks noChangeArrowheads="1"/>
          </p:cNvSpPr>
          <p:nvPr/>
        </p:nvSpPr>
        <p:spPr bwMode="auto">
          <a:xfrm>
            <a:off x="5943600" y="5562600"/>
            <a:ext cx="28956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Observers are notified since state has changed.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8101BBF2-A6EC-2EE3-D56A-8E9CB62AE824}"/>
              </a:ext>
            </a:extLst>
          </p:cNvPr>
          <p:cNvSpPr>
            <a:spLocks noGrp="1"/>
          </p:cNvSpPr>
          <p:nvPr>
            <p:ph type="title"/>
          </p:nvPr>
        </p:nvSpPr>
        <p:spPr/>
        <p:txBody>
          <a:bodyPr/>
          <a:lstStyle/>
          <a:p>
            <a:r>
              <a:rPr lang="en-US" altLang="en-US"/>
              <a:t>WeatherData (Subject; Pt2)</a:t>
            </a:r>
          </a:p>
        </p:txBody>
      </p:sp>
      <p:sp>
        <p:nvSpPr>
          <p:cNvPr id="25602" name="Content Placeholder 2">
            <a:extLst>
              <a:ext uri="{FF2B5EF4-FFF2-40B4-BE49-F238E27FC236}">
                <a16:creationId xmlns:a16="http://schemas.microsoft.com/office/drawing/2014/main" id="{FEC57EB2-5D57-A744-F535-88535271F736}"/>
              </a:ext>
            </a:extLst>
          </p:cNvPr>
          <p:cNvSpPr>
            <a:spLocks noGrp="1"/>
          </p:cNvSpPr>
          <p:nvPr>
            <p:ph idx="1"/>
          </p:nvPr>
        </p:nvSpPr>
        <p:spPr>
          <a:xfrm>
            <a:off x="381000" y="1219200"/>
            <a:ext cx="7620000" cy="5257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WeatherData() {</a:t>
            </a:r>
          </a:p>
          <a:p>
            <a:pPr>
              <a:buFont typeface="Wingdings" pitchFamily="2" charset="2"/>
              <a:buNone/>
            </a:pPr>
            <a:r>
              <a:rPr lang="en-US" altLang="en-US" sz="1600">
                <a:latin typeface="Courier New" panose="02070309020205020404" pitchFamily="49" charset="0"/>
                <a:cs typeface="Courier New" panose="02070309020205020404" pitchFamily="49" charset="0"/>
              </a:rPr>
              <a:t>	observers = new ArrayList();</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public void RegisterObserver(IObserver o) {</a:t>
            </a:r>
          </a:p>
          <a:p>
            <a:pPr>
              <a:buFont typeface="Wingdings" pitchFamily="2" charset="2"/>
              <a:buNone/>
            </a:pPr>
            <a:r>
              <a:rPr lang="en-US" altLang="en-US" sz="1600">
                <a:latin typeface="Courier New" panose="02070309020205020404" pitchFamily="49" charset="0"/>
                <a:cs typeface="Courier New" panose="02070309020205020404" pitchFamily="49" charset="0"/>
              </a:rPr>
              <a:t>	observers.Add(o);</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public void RemoveObserver(IObserver o) {</a:t>
            </a:r>
          </a:p>
          <a:p>
            <a:pPr>
              <a:buFont typeface="Wingdings" pitchFamily="2" charset="2"/>
              <a:buNone/>
            </a:pPr>
            <a:r>
              <a:rPr lang="en-US" altLang="en-US" sz="1600">
                <a:latin typeface="Courier New" panose="02070309020205020404" pitchFamily="49" charset="0"/>
                <a:cs typeface="Courier New" panose="02070309020205020404" pitchFamily="49" charset="0"/>
              </a:rPr>
              <a:t>	int i = observers.IndexOf(o);</a:t>
            </a:r>
          </a:p>
          <a:p>
            <a:pPr>
              <a:buFont typeface="Wingdings" pitchFamily="2" charset="2"/>
              <a:buNone/>
            </a:pPr>
            <a:r>
              <a:rPr lang="en-US" altLang="en-US" sz="1600">
                <a:latin typeface="Courier New" panose="02070309020205020404" pitchFamily="49" charset="0"/>
                <a:cs typeface="Courier New" panose="02070309020205020404" pitchFamily="49" charset="0"/>
              </a:rPr>
              <a:t>	if(i &gt;= 0) observers.Remove(o);</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public void NotifyObserver() {</a:t>
            </a:r>
          </a:p>
          <a:p>
            <a:pPr>
              <a:buFont typeface="Wingdings" pitchFamily="2" charset="2"/>
              <a:buNone/>
            </a:pPr>
            <a:r>
              <a:rPr lang="en-US" altLang="en-US" sz="1600">
                <a:latin typeface="Courier New" panose="02070309020205020404" pitchFamily="49" charset="0"/>
                <a:cs typeface="Courier New" panose="02070309020205020404" pitchFamily="49" charset="0"/>
              </a:rPr>
              <a:t>	foreach(IObserver observer in observers) </a:t>
            </a:r>
            <a:r>
              <a:rPr lang="en-US" altLang="en-US" sz="1600" b="1">
                <a:solidFill>
                  <a:srgbClr val="FF0000"/>
                </a:solidFill>
                <a:latin typeface="Courier New" panose="02070309020205020404" pitchFamily="49" charset="0"/>
                <a:cs typeface="Courier New" panose="02070309020205020404" pitchFamily="49" charset="0"/>
              </a:rPr>
              <a:t>	observer.Update(temperature,humidity,pressure);</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25603" name="Slide Number Placeholder 3">
            <a:extLst>
              <a:ext uri="{FF2B5EF4-FFF2-40B4-BE49-F238E27FC236}">
                <a16:creationId xmlns:a16="http://schemas.microsoft.com/office/drawing/2014/main" id="{35BA0AE0-4B31-CF10-3D3E-4F47FCC5F1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85659C9-DA7D-F84D-A96F-0CE7612DE519}" type="slidenum">
              <a:rPr lang="en-US" altLang="en-US" sz="1000">
                <a:latin typeface="Arial Black" panose="020B0604020202020204" pitchFamily="34" charset="0"/>
              </a:rPr>
              <a:pPr>
                <a:spcBef>
                  <a:spcPct val="0"/>
                </a:spcBef>
                <a:buClrTx/>
                <a:buSzTx/>
                <a:buFontTx/>
                <a:buNone/>
              </a:pPr>
              <a:t>10</a:t>
            </a:fld>
            <a:endParaRPr lang="en-US" altLang="en-US" sz="1000">
              <a:latin typeface="Arial Black" panose="020B0604020202020204" pitchFamily="34" charset="0"/>
            </a:endParaRPr>
          </a:p>
        </p:txBody>
      </p:sp>
      <p:cxnSp>
        <p:nvCxnSpPr>
          <p:cNvPr id="25604" name="Straight Arrow Connector 6">
            <a:extLst>
              <a:ext uri="{FF2B5EF4-FFF2-40B4-BE49-F238E27FC236}">
                <a16:creationId xmlns:a16="http://schemas.microsoft.com/office/drawing/2014/main" id="{925D0B95-07ED-AAC4-35A0-5486140509BF}"/>
              </a:ext>
            </a:extLst>
          </p:cNvPr>
          <p:cNvCxnSpPr>
            <a:cxnSpLocks noChangeShapeType="1"/>
          </p:cNvCxnSpPr>
          <p:nvPr/>
        </p:nvCxnSpPr>
        <p:spPr bwMode="auto">
          <a:xfrm rot="5400000">
            <a:off x="6667500" y="4533900"/>
            <a:ext cx="914400" cy="685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25605" name="TextBox 7">
            <a:extLst>
              <a:ext uri="{FF2B5EF4-FFF2-40B4-BE49-F238E27FC236}">
                <a16:creationId xmlns:a16="http://schemas.microsoft.com/office/drawing/2014/main" id="{729E2730-2F57-24FD-2CEF-B0DB6C3474DB}"/>
              </a:ext>
            </a:extLst>
          </p:cNvPr>
          <p:cNvSpPr txBox="1">
            <a:spLocks noChangeArrowheads="1"/>
          </p:cNvSpPr>
          <p:nvPr/>
        </p:nvSpPr>
        <p:spPr bwMode="auto">
          <a:xfrm>
            <a:off x="6858000" y="3200400"/>
            <a:ext cx="1828800" cy="1200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Here is how the Subject sends information to all Observers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A7B30EB2-5247-1CEF-1475-415041964492}"/>
              </a:ext>
            </a:extLst>
          </p:cNvPr>
          <p:cNvSpPr>
            <a:spLocks noGrp="1"/>
          </p:cNvSpPr>
          <p:nvPr>
            <p:ph type="title"/>
          </p:nvPr>
        </p:nvSpPr>
        <p:spPr/>
        <p:txBody>
          <a:bodyPr/>
          <a:lstStyle/>
          <a:p>
            <a:r>
              <a:rPr lang="en-US" altLang="en-US"/>
              <a:t>Current Conditions Display (Observer)</a:t>
            </a:r>
          </a:p>
        </p:txBody>
      </p:sp>
      <p:sp>
        <p:nvSpPr>
          <p:cNvPr id="26626" name="Slide Number Placeholder 3">
            <a:extLst>
              <a:ext uri="{FF2B5EF4-FFF2-40B4-BE49-F238E27FC236}">
                <a16:creationId xmlns:a16="http://schemas.microsoft.com/office/drawing/2014/main" id="{5EE3F4DD-2A7D-066B-5EB4-52FEFF8E063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D24B1D6-2CE6-C942-8FD6-C95CB89C5944}" type="slidenum">
              <a:rPr lang="en-US" altLang="en-US" sz="1000">
                <a:latin typeface="Arial Black" panose="020B0604020202020204" pitchFamily="34" charset="0"/>
              </a:rPr>
              <a:pPr>
                <a:spcBef>
                  <a:spcPct val="0"/>
                </a:spcBef>
                <a:buClrTx/>
                <a:buSzTx/>
                <a:buFontTx/>
                <a:buNone/>
              </a:pPr>
              <a:t>11</a:t>
            </a:fld>
            <a:endParaRPr lang="en-US" altLang="en-US" sz="1000">
              <a:latin typeface="Arial Black" panose="020B0604020202020204" pitchFamily="34" charset="0"/>
            </a:endParaRPr>
          </a:p>
        </p:txBody>
      </p:sp>
      <p:pic>
        <p:nvPicPr>
          <p:cNvPr id="26627" name="Picture 2">
            <a:extLst>
              <a:ext uri="{FF2B5EF4-FFF2-40B4-BE49-F238E27FC236}">
                <a16:creationId xmlns:a16="http://schemas.microsoft.com/office/drawing/2014/main" id="{D55F6507-D3A0-6F80-2D68-66AEF71F837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143000"/>
            <a:ext cx="5588000" cy="3048000"/>
          </a:xfrm>
          <a:noFill/>
        </p:spPr>
      </p:pic>
      <p:sp>
        <p:nvSpPr>
          <p:cNvPr id="26628" name="TextBox 6">
            <a:extLst>
              <a:ext uri="{FF2B5EF4-FFF2-40B4-BE49-F238E27FC236}">
                <a16:creationId xmlns:a16="http://schemas.microsoft.com/office/drawing/2014/main" id="{410B7140-EAB3-DC9A-396D-C14F45B57068}"/>
              </a:ext>
            </a:extLst>
          </p:cNvPr>
          <p:cNvSpPr txBox="1">
            <a:spLocks noChangeArrowheads="1"/>
          </p:cNvSpPr>
          <p:nvPr/>
        </p:nvSpPr>
        <p:spPr bwMode="auto">
          <a:xfrm>
            <a:off x="457200" y="4191000"/>
            <a:ext cx="8382000" cy="2032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Note that the individual Observer is composed of the Subject.</a:t>
            </a:r>
          </a:p>
          <a:p>
            <a:pPr>
              <a:spcBef>
                <a:spcPct val="0"/>
              </a:spcBef>
              <a:buClrTx/>
              <a:buSzTx/>
              <a:buFontTx/>
              <a:buNone/>
            </a:pPr>
            <a:endParaRPr lang="en-US" altLang="en-US" sz="1800"/>
          </a:p>
          <a:p>
            <a:pPr>
              <a:spcBef>
                <a:spcPct val="0"/>
              </a:spcBef>
              <a:buClrTx/>
              <a:buSzTx/>
              <a:buFontTx/>
              <a:buNone/>
            </a:pPr>
            <a:r>
              <a:rPr lang="en-US" altLang="en-US" sz="1800"/>
              <a:t>So the Subjects has  a reference to all Observers…and each Observer has a reference to a Subject.</a:t>
            </a:r>
          </a:p>
          <a:p>
            <a:pPr>
              <a:spcBef>
                <a:spcPct val="0"/>
              </a:spcBef>
              <a:buClrTx/>
              <a:buSzTx/>
              <a:buFontTx/>
              <a:buNone/>
            </a:pPr>
            <a:endParaRPr lang="en-US" altLang="en-US" sz="1800"/>
          </a:p>
          <a:p>
            <a:pPr>
              <a:spcBef>
                <a:spcPct val="0"/>
              </a:spcBef>
              <a:buClrTx/>
              <a:buSzTx/>
              <a:buFontTx/>
              <a:buNone/>
            </a:pPr>
            <a:r>
              <a:rPr lang="en-US" altLang="en-US" sz="1800" b="1" u="sng">
                <a:solidFill>
                  <a:srgbClr val="FF0000"/>
                </a:solidFill>
              </a:rPr>
              <a:t>Questions: </a:t>
            </a:r>
          </a:p>
          <a:p>
            <a:pPr>
              <a:spcBef>
                <a:spcPct val="0"/>
              </a:spcBef>
              <a:buClrTx/>
              <a:buSzTx/>
              <a:buFontTx/>
              <a:buNone/>
            </a:pPr>
            <a:r>
              <a:rPr lang="en-US" altLang="en-US" sz="1800"/>
              <a:t>What method on this Observer is called by the Subject when data is changed?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26D53F80-6474-CBEF-89E4-B3523C5B16C1}"/>
              </a:ext>
            </a:extLst>
          </p:cNvPr>
          <p:cNvSpPr>
            <a:spLocks noGrp="1"/>
          </p:cNvSpPr>
          <p:nvPr>
            <p:ph type="title"/>
          </p:nvPr>
        </p:nvSpPr>
        <p:spPr>
          <a:xfrm>
            <a:off x="304800" y="533400"/>
            <a:ext cx="8229600" cy="762000"/>
          </a:xfrm>
        </p:spPr>
        <p:txBody>
          <a:bodyPr/>
          <a:lstStyle/>
          <a:p>
            <a:r>
              <a:rPr lang="en-US" altLang="en-US"/>
              <a:t>CurrentConditionsDisplay (Observer)</a:t>
            </a:r>
          </a:p>
        </p:txBody>
      </p:sp>
      <p:sp>
        <p:nvSpPr>
          <p:cNvPr id="27650" name="Content Placeholder 2">
            <a:extLst>
              <a:ext uri="{FF2B5EF4-FFF2-40B4-BE49-F238E27FC236}">
                <a16:creationId xmlns:a16="http://schemas.microsoft.com/office/drawing/2014/main" id="{0C503D5C-E2D8-B9B0-A634-8B011135D8BD}"/>
              </a:ext>
            </a:extLst>
          </p:cNvPr>
          <p:cNvSpPr>
            <a:spLocks noGrp="1"/>
          </p:cNvSpPr>
          <p:nvPr>
            <p:ph idx="1"/>
          </p:nvPr>
        </p:nvSpPr>
        <p:spPr>
          <a:xfrm>
            <a:off x="228600" y="1371600"/>
            <a:ext cx="8534400" cy="50292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CurrentConditionsDisplay : IObserver, IDisplayElement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private ISubject weatherData;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CurrentConditionsDisplay(</a:t>
            </a:r>
            <a:r>
              <a:rPr lang="en-US" altLang="en-US" sz="1600" b="1">
                <a:solidFill>
                  <a:srgbClr val="FF0000"/>
                </a:solidFill>
                <a:latin typeface="Courier New" panose="02070309020205020404" pitchFamily="49" charset="0"/>
                <a:cs typeface="Courier New" panose="02070309020205020404" pitchFamily="49" charset="0"/>
              </a:rPr>
              <a:t>ISubject weatherData</a:t>
            </a:r>
            <a:r>
              <a:rPr lang="en-US" altLang="en-US" sz="1600">
                <a:latin typeface="Courier New" panose="02070309020205020404" pitchFamily="49" charset="0"/>
                <a:cs typeface="Courier New" panose="02070309020205020404" pitchFamily="49" charset="0"/>
              </a:rPr>
              <a:t>)</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this.weatherData = weatherData;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weatherData.RegisterObserver(this);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Update(float temperature, float humidity, float 		          pressure)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//Store information so that it can be displayed</a:t>
            </a:r>
          </a:p>
          <a:p>
            <a:pPr>
              <a:buFont typeface="Wingdings" pitchFamily="2" charset="2"/>
              <a:buNone/>
            </a:pPr>
            <a:r>
              <a:rPr lang="en-US" altLang="en-US" sz="1600">
                <a:latin typeface="Courier New" panose="02070309020205020404" pitchFamily="49" charset="0"/>
                <a:cs typeface="Courier New" panose="02070309020205020404" pitchFamily="49" charset="0"/>
              </a:rPr>
              <a:t>			//This class contains its own version of the 3</a:t>
            </a:r>
          </a:p>
          <a:p>
            <a:pPr>
              <a:buFont typeface="Wingdings" pitchFamily="2" charset="2"/>
              <a:buNone/>
            </a:pPr>
            <a:r>
              <a:rPr lang="en-US" altLang="en-US" sz="1600">
                <a:latin typeface="Courier New" panose="02070309020205020404" pitchFamily="49" charset="0"/>
                <a:cs typeface="Courier New" panose="02070309020205020404" pitchFamily="49" charset="0"/>
              </a:rPr>
              <a:t>			//state variables.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27651" name="Slide Number Placeholder 3">
            <a:extLst>
              <a:ext uri="{FF2B5EF4-FFF2-40B4-BE49-F238E27FC236}">
                <a16:creationId xmlns:a16="http://schemas.microsoft.com/office/drawing/2014/main" id="{13905315-A464-F999-F66E-3D9C9937BF7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00FBD42-9281-1B4C-94E2-21809CABC07E}" type="slidenum">
              <a:rPr lang="en-US" altLang="en-US" sz="1000">
                <a:latin typeface="Arial Black" panose="020B0604020202020204" pitchFamily="34" charset="0"/>
              </a:rPr>
              <a:pPr>
                <a:spcBef>
                  <a:spcPct val="0"/>
                </a:spcBef>
                <a:buClrTx/>
                <a:buSzTx/>
                <a:buFontTx/>
                <a:buNone/>
              </a:pPr>
              <a:t>12</a:t>
            </a:fld>
            <a:endParaRPr lang="en-US" altLang="en-US" sz="1000">
              <a:latin typeface="Arial Black" panose="020B0604020202020204" pitchFamily="34" charset="0"/>
            </a:endParaRPr>
          </a:p>
        </p:txBody>
      </p:sp>
      <p:sp>
        <p:nvSpPr>
          <p:cNvPr id="27652" name="Date Placeholder 4">
            <a:extLst>
              <a:ext uri="{FF2B5EF4-FFF2-40B4-BE49-F238E27FC236}">
                <a16:creationId xmlns:a16="http://schemas.microsoft.com/office/drawing/2014/main" id="{885B55E9-9536-63B5-546D-C4E262BD4424}"/>
              </a:ext>
            </a:extLst>
          </p:cNvPr>
          <p:cNvSpPr>
            <a:spLocks noGrp="1"/>
          </p:cNvSpPr>
          <p:nvPr>
            <p:ph type="dt" sz="quarter" idx="12"/>
          </p:nvPr>
        </p:nvSpPr>
        <p:spPr>
          <a:xfrm>
            <a:off x="457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255C936-6005-8C43-80AC-A25EC4FB526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3A4D6FEA-F772-FF4B-1735-D6DE8B53218B}"/>
              </a:ext>
            </a:extLst>
          </p:cNvPr>
          <p:cNvSpPr>
            <a:spLocks noGrp="1"/>
          </p:cNvSpPr>
          <p:nvPr>
            <p:ph type="title"/>
          </p:nvPr>
        </p:nvSpPr>
        <p:spPr/>
        <p:txBody>
          <a:bodyPr/>
          <a:lstStyle/>
          <a:p>
            <a:r>
              <a:rPr lang="en-US" altLang="en-US"/>
              <a:t>WeatherStation</a:t>
            </a:r>
          </a:p>
        </p:txBody>
      </p:sp>
      <p:sp>
        <p:nvSpPr>
          <p:cNvPr id="28674" name="Content Placeholder 2">
            <a:extLst>
              <a:ext uri="{FF2B5EF4-FFF2-40B4-BE49-F238E27FC236}">
                <a16:creationId xmlns:a16="http://schemas.microsoft.com/office/drawing/2014/main" id="{83688F83-16F9-C7F7-6EED-7CC0A3912170}"/>
              </a:ext>
            </a:extLst>
          </p:cNvPr>
          <p:cNvSpPr>
            <a:spLocks noGrp="1"/>
          </p:cNvSpPr>
          <p:nvPr>
            <p:ph idx="1"/>
          </p:nvPr>
        </p:nvSpPr>
        <p:spPr>
          <a:xfrm>
            <a:off x="457200" y="1371600"/>
            <a:ext cx="8458200" cy="4495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//Create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WeatherData weatherdata = new WeatherData();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//Create Observer</a:t>
            </a:r>
          </a:p>
          <a:p>
            <a:pPr>
              <a:buFont typeface="Wingdings" pitchFamily="2" charset="2"/>
              <a:buNone/>
            </a:pPr>
            <a:r>
              <a:rPr lang="en-US" altLang="en-US" sz="1600">
                <a:latin typeface="Courier New" panose="02070309020205020404" pitchFamily="49" charset="0"/>
                <a:cs typeface="Courier New" panose="02070309020205020404" pitchFamily="49" charset="0"/>
              </a:rPr>
              <a:t>CurrentConditionsDisplay currentDisplay = new CurrentConditionsDisplay(weatherdata);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//Create Observer</a:t>
            </a:r>
          </a:p>
          <a:p>
            <a:pPr>
              <a:buFont typeface="Wingdings" pitchFamily="2" charset="2"/>
              <a:buNone/>
            </a:pPr>
            <a:r>
              <a:rPr lang="en-US" altLang="en-US" sz="1600">
                <a:latin typeface="Courier New" panose="02070309020205020404" pitchFamily="49" charset="0"/>
                <a:cs typeface="Courier New" panose="02070309020205020404" pitchFamily="49" charset="0"/>
              </a:rPr>
              <a:t>StatisticsDisplay statDisplay = new StatisticsDisplay(weatherdata);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weatherdata.SetMeasurements(80, 65, 30.4f);</a:t>
            </a:r>
          </a:p>
          <a:p>
            <a:pPr>
              <a:buFont typeface="Wingdings" pitchFamily="2" charset="2"/>
              <a:buNone/>
            </a:pPr>
            <a:r>
              <a:rPr lang="en-US" altLang="en-US" sz="1600">
                <a:latin typeface="Courier New" panose="02070309020205020404" pitchFamily="49" charset="0"/>
                <a:cs typeface="Courier New" panose="02070309020205020404" pitchFamily="49" charset="0"/>
              </a:rPr>
              <a:t>weatherdata.SetMeasurements(82, 70, 29.2f);</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p:txBody>
      </p:sp>
      <p:sp>
        <p:nvSpPr>
          <p:cNvPr id="28675" name="Slide Number Placeholder 3">
            <a:extLst>
              <a:ext uri="{FF2B5EF4-FFF2-40B4-BE49-F238E27FC236}">
                <a16:creationId xmlns:a16="http://schemas.microsoft.com/office/drawing/2014/main" id="{68842652-DCCD-C283-B9DF-8EF4D1EEA58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D17C3BF-84F6-644F-A5FC-83FEE1FC9899}" type="slidenum">
              <a:rPr lang="en-US" altLang="en-US" sz="1000">
                <a:latin typeface="Arial Black" panose="020B0604020202020204" pitchFamily="34" charset="0"/>
              </a:rPr>
              <a:pPr>
                <a:spcBef>
                  <a:spcPct val="0"/>
                </a:spcBef>
                <a:buClrTx/>
                <a:buSzTx/>
                <a:buFontTx/>
                <a:buNone/>
              </a:pPr>
              <a:t>13</a:t>
            </a:fld>
            <a:endParaRPr lang="en-US" altLang="en-US" sz="1000">
              <a:latin typeface="Arial Black" panose="020B0604020202020204" pitchFamily="34" charset="0"/>
            </a:endParaRPr>
          </a:p>
        </p:txBody>
      </p:sp>
      <p:sp>
        <p:nvSpPr>
          <p:cNvPr id="28676" name="Date Placeholder 4">
            <a:extLst>
              <a:ext uri="{FF2B5EF4-FFF2-40B4-BE49-F238E27FC236}">
                <a16:creationId xmlns:a16="http://schemas.microsoft.com/office/drawing/2014/main" id="{CD20987B-3A89-0D04-1405-CFE29076288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E3480B4-E4B6-1C41-87D7-BC68AB173D6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821BB631-711C-26A8-13BC-F70D5C7400DC}"/>
              </a:ext>
            </a:extLst>
          </p:cNvPr>
          <p:cNvSpPr>
            <a:spLocks noGrp="1"/>
          </p:cNvSpPr>
          <p:nvPr>
            <p:ph type="title"/>
          </p:nvPr>
        </p:nvSpPr>
        <p:spPr/>
        <p:txBody>
          <a:bodyPr/>
          <a:lstStyle/>
          <a:p>
            <a:r>
              <a:rPr lang="en-US" altLang="en-US"/>
              <a:t>Lab - Push</a:t>
            </a:r>
          </a:p>
        </p:txBody>
      </p:sp>
      <p:sp>
        <p:nvSpPr>
          <p:cNvPr id="29698" name="Content Placeholder 2">
            <a:extLst>
              <a:ext uri="{FF2B5EF4-FFF2-40B4-BE49-F238E27FC236}">
                <a16:creationId xmlns:a16="http://schemas.microsoft.com/office/drawing/2014/main" id="{F9A840FA-C2D3-ABE7-5E23-E1AA1D412F24}"/>
              </a:ext>
            </a:extLst>
          </p:cNvPr>
          <p:cNvSpPr>
            <a:spLocks noGrp="1"/>
          </p:cNvSpPr>
          <p:nvPr>
            <p:ph idx="1"/>
          </p:nvPr>
        </p:nvSpPr>
        <p:spPr>
          <a:xfrm>
            <a:off x="381000" y="990600"/>
            <a:ext cx="8610600" cy="55626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public void NotifyObserver() {</a:t>
            </a:r>
          </a:p>
          <a:p>
            <a:pPr>
              <a:buFont typeface="Wingdings" pitchFamily="2" charset="2"/>
              <a:buNone/>
            </a:pPr>
            <a:r>
              <a:rPr lang="en-US" altLang="en-US" sz="1800">
                <a:latin typeface="Courier New" panose="02070309020205020404" pitchFamily="49" charset="0"/>
                <a:cs typeface="Courier New" panose="02070309020205020404" pitchFamily="49" charset="0"/>
              </a:rPr>
              <a:t>	  foreach(IObserver observer in observers) 	    </a:t>
            </a: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observer.Update(temperature,humidity,pressure);</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2000">
                <a:cs typeface="Courier New" panose="02070309020205020404" pitchFamily="49" charset="0"/>
              </a:rPr>
              <a:t>This is called a “Push” model because the Subject is “pushing” information to the Observer(s).</a:t>
            </a:r>
          </a:p>
          <a:p>
            <a:pPr>
              <a:buFont typeface="Wingdings" pitchFamily="2" charset="2"/>
              <a:buNone/>
            </a:pPr>
            <a:endParaRPr lang="en-US" altLang="en-US" sz="2000">
              <a:cs typeface="Courier New" panose="02070309020205020404" pitchFamily="49" charset="0"/>
            </a:endParaRPr>
          </a:p>
          <a:p>
            <a:r>
              <a:rPr lang="en-US" altLang="en-US" sz="2000">
                <a:cs typeface="Courier New" panose="02070309020205020404" pitchFamily="49" charset="0"/>
              </a:rPr>
              <a:t>Question 1:  What happens if we need to add a 4</a:t>
            </a:r>
            <a:r>
              <a:rPr lang="en-US" altLang="en-US" sz="2000" baseline="30000">
                <a:cs typeface="Courier New" panose="02070309020205020404" pitchFamily="49" charset="0"/>
              </a:rPr>
              <a:t>th</a:t>
            </a:r>
            <a:r>
              <a:rPr lang="en-US" altLang="en-US" sz="2000">
                <a:cs typeface="Courier New" panose="02070309020205020404" pitchFamily="49" charset="0"/>
              </a:rPr>
              <a:t> state variable?  Is there another alternative to sending all of these state variables?</a:t>
            </a:r>
          </a:p>
          <a:p>
            <a:endParaRPr lang="en-US" altLang="en-US" sz="2000">
              <a:cs typeface="Courier New" panose="02070309020205020404" pitchFamily="49" charset="0"/>
            </a:endParaRPr>
          </a:p>
          <a:p>
            <a:r>
              <a:rPr lang="en-US" altLang="en-US" sz="2000">
                <a:cs typeface="Courier New" panose="02070309020205020404" pitchFamily="49" charset="0"/>
              </a:rPr>
              <a:t>Question 2:  In general, should we push state by reference or by value?</a:t>
            </a:r>
          </a:p>
          <a:p>
            <a:endParaRPr lang="en-US" altLang="en-US" sz="2000">
              <a:cs typeface="Courier New" panose="02070309020205020404" pitchFamily="49" charset="0"/>
            </a:endParaRPr>
          </a:p>
          <a:p>
            <a:r>
              <a:rPr lang="en-US" altLang="en-US" sz="2000">
                <a:cs typeface="Courier New" panose="02070309020205020404" pitchFamily="49" charset="0"/>
              </a:rPr>
              <a:t>Question 3: The three state variables in this example are rather simple (three strings).  Let’s say they are actually more complex objects  that take up a lot of memory.   The Subject only changes one state variable. What problem may we have?  How can we resolve it?</a:t>
            </a:r>
          </a:p>
          <a:p>
            <a:pPr>
              <a:buFont typeface="Wingdings" pitchFamily="2" charset="2"/>
              <a:buNone/>
            </a:pPr>
            <a:endParaRPr lang="en-US" altLang="en-US" sz="2000">
              <a:cs typeface="Courier New" panose="02070309020205020404" pitchFamily="49" charset="0"/>
            </a:endParaRP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p:txBody>
      </p:sp>
      <p:sp>
        <p:nvSpPr>
          <p:cNvPr id="29699" name="Slide Number Placeholder 3">
            <a:extLst>
              <a:ext uri="{FF2B5EF4-FFF2-40B4-BE49-F238E27FC236}">
                <a16:creationId xmlns:a16="http://schemas.microsoft.com/office/drawing/2014/main" id="{422769A4-1980-635C-FB48-593BF0B92777}"/>
              </a:ext>
            </a:extLst>
          </p:cNvPr>
          <p:cNvSpPr>
            <a:spLocks noGrp="1"/>
          </p:cNvSpPr>
          <p:nvPr>
            <p:ph type="sldNum" sz="quarter" idx="11"/>
          </p:nvPr>
        </p:nvSpPr>
        <p:spPr>
          <a:xfrm>
            <a:off x="6477000" y="64008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FDAC9FF-6DBE-4F44-97B9-513FCCE1A36A}" type="slidenum">
              <a:rPr lang="en-US" altLang="en-US" sz="1000">
                <a:latin typeface="Arial Black" panose="020B0604020202020204" pitchFamily="34" charset="0"/>
              </a:rPr>
              <a:pPr>
                <a:spcBef>
                  <a:spcPct val="0"/>
                </a:spcBef>
                <a:buClrTx/>
                <a:buSzTx/>
                <a:buFontTx/>
                <a:buNone/>
              </a:pPr>
              <a:t>14</a:t>
            </a:fld>
            <a:endParaRPr lang="en-US" altLang="en-US" sz="1000">
              <a:latin typeface="Arial Black"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6D385DAD-4DF4-CE32-96EA-D8F6897062AF}"/>
              </a:ext>
            </a:extLst>
          </p:cNvPr>
          <p:cNvSpPr>
            <a:spLocks noGrp="1"/>
          </p:cNvSpPr>
          <p:nvPr>
            <p:ph type="title"/>
          </p:nvPr>
        </p:nvSpPr>
        <p:spPr/>
        <p:txBody>
          <a:bodyPr/>
          <a:lstStyle/>
          <a:p>
            <a:r>
              <a:rPr lang="en-US" altLang="en-US"/>
              <a:t>Lab - Pull</a:t>
            </a:r>
          </a:p>
        </p:txBody>
      </p:sp>
      <p:sp>
        <p:nvSpPr>
          <p:cNvPr id="31746" name="Content Placeholder 2">
            <a:extLst>
              <a:ext uri="{FF2B5EF4-FFF2-40B4-BE49-F238E27FC236}">
                <a16:creationId xmlns:a16="http://schemas.microsoft.com/office/drawing/2014/main" id="{D3C545FB-1FF0-608A-FEF0-6B9C9AA818AD}"/>
              </a:ext>
            </a:extLst>
          </p:cNvPr>
          <p:cNvSpPr>
            <a:spLocks noGrp="1"/>
          </p:cNvSpPr>
          <p:nvPr>
            <p:ph idx="1"/>
          </p:nvPr>
        </p:nvSpPr>
        <p:spPr>
          <a:xfrm>
            <a:off x="228600" y="1066800"/>
            <a:ext cx="8458200" cy="5791200"/>
          </a:xfrm>
        </p:spPr>
        <p:txBody>
          <a:bodyPr/>
          <a:lstStyle/>
          <a:p>
            <a:pPr>
              <a:buFont typeface="Wingdings" pitchFamily="2" charset="2"/>
              <a:buNone/>
            </a:pPr>
            <a:r>
              <a:rPr lang="en-US" altLang="en-US" sz="2000"/>
              <a:t>An alternative to the “Push” model is the “Pull” model.  The Observer pulls the information that is needed from the Subject. We can make a simple change to the IObserver interface:</a:t>
            </a:r>
          </a:p>
          <a:p>
            <a:pPr>
              <a:buFont typeface="Wingdings" pitchFamily="2" charset="2"/>
              <a:buNone/>
            </a:pPr>
            <a:endParaRPr lang="en-US" altLang="en-US"/>
          </a:p>
          <a:p>
            <a:pPr>
              <a:buFont typeface="Wingdings" pitchFamily="2" charset="2"/>
              <a:buNone/>
            </a:pPr>
            <a:r>
              <a:rPr lang="en-US" altLang="en-US" sz="2000">
                <a:latin typeface="Courier New" panose="02070309020205020404" pitchFamily="49" charset="0"/>
                <a:cs typeface="Courier New" panose="02070309020205020404" pitchFamily="49" charset="0"/>
              </a:rPr>
              <a:t>	public interface IObserver {</a:t>
            </a:r>
          </a:p>
          <a:p>
            <a:pPr>
              <a:buFont typeface="Wingdings" pitchFamily="2" charset="2"/>
              <a:buNone/>
            </a:pPr>
            <a:r>
              <a:rPr lang="en-US" altLang="en-US" sz="2000">
                <a:latin typeface="Courier New" panose="02070309020205020404" pitchFamily="49" charset="0"/>
                <a:cs typeface="Courier New" panose="02070309020205020404" pitchFamily="49" charset="0"/>
              </a:rPr>
              <a:t>		void Update(ISubject subject);</a:t>
            </a:r>
          </a:p>
          <a:p>
            <a:pPr>
              <a:buFont typeface="Wingdings" pitchFamily="2" charset="2"/>
              <a:buNone/>
            </a:pPr>
            <a:r>
              <a:rPr lang="en-US" altLang="en-US" sz="2000">
                <a:latin typeface="Courier New" panose="02070309020205020404" pitchFamily="49" charset="0"/>
                <a:cs typeface="Courier New" panose="02070309020205020404" pitchFamily="49" charset="0"/>
              </a:rPr>
              <a:t>   }</a:t>
            </a:r>
          </a:p>
          <a:p>
            <a:pPr>
              <a:buFont typeface="Wingdings" pitchFamily="2" charset="2"/>
              <a:buNone/>
            </a:pPr>
            <a:endParaRPr lang="en-US" altLang="en-US" sz="2000">
              <a:latin typeface="Courier New" panose="02070309020205020404" pitchFamily="49" charset="0"/>
              <a:cs typeface="Courier New" panose="02070309020205020404" pitchFamily="49" charset="0"/>
            </a:endParaRPr>
          </a:p>
          <a:p>
            <a:r>
              <a:rPr lang="en-US" altLang="en-US" sz="2000">
                <a:cs typeface="Courier New" panose="02070309020205020404" pitchFamily="49" charset="0"/>
              </a:rPr>
              <a:t>Question 1:  A specific Observer using this interface would need to query the Subject to get specific information about that Subject.  Can we use the ISubject interface?</a:t>
            </a:r>
          </a:p>
          <a:p>
            <a:endParaRPr lang="en-US" altLang="en-US" sz="2000">
              <a:cs typeface="Courier New" panose="02070309020205020404" pitchFamily="49" charset="0"/>
            </a:endParaRPr>
          </a:p>
          <a:p>
            <a:endParaRPr lang="en-US" altLang="en-US" sz="2000">
              <a:latin typeface="Courier New" panose="02070309020205020404" pitchFamily="49" charset="0"/>
              <a:cs typeface="Courier New" panose="02070309020205020404" pitchFamily="49" charset="0"/>
            </a:endParaRPr>
          </a:p>
          <a:p>
            <a:pPr>
              <a:buFont typeface="Wingdings" pitchFamily="2" charset="2"/>
              <a:buNone/>
            </a:pPr>
            <a:endParaRPr lang="en-US" altLang="en-US"/>
          </a:p>
        </p:txBody>
      </p:sp>
      <p:sp>
        <p:nvSpPr>
          <p:cNvPr id="31747" name="Slide Number Placeholder 3">
            <a:extLst>
              <a:ext uri="{FF2B5EF4-FFF2-40B4-BE49-F238E27FC236}">
                <a16:creationId xmlns:a16="http://schemas.microsoft.com/office/drawing/2014/main" id="{BF48B12D-36EF-FF4B-6B28-D72169191AC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41B9EA2-C224-A240-A900-5ECA81C9E166}" type="slidenum">
              <a:rPr lang="en-US" altLang="en-US" sz="1000">
                <a:latin typeface="Arial Black" panose="020B0604020202020204" pitchFamily="34" charset="0"/>
              </a:rPr>
              <a:pPr>
                <a:spcBef>
                  <a:spcPct val="0"/>
                </a:spcBef>
                <a:buClrTx/>
                <a:buSzTx/>
                <a:buFontTx/>
                <a:buNone/>
              </a:pPr>
              <a:t>15</a:t>
            </a:fld>
            <a:endParaRPr lang="en-US" altLang="en-US" sz="1000">
              <a:latin typeface="Arial Black"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15DCD542-A053-0F61-C2C5-78852B03445B}"/>
              </a:ext>
            </a:extLst>
          </p:cNvPr>
          <p:cNvSpPr>
            <a:spLocks noGrp="1"/>
          </p:cNvSpPr>
          <p:nvPr>
            <p:ph type="title"/>
          </p:nvPr>
        </p:nvSpPr>
        <p:spPr/>
        <p:txBody>
          <a:bodyPr/>
          <a:lstStyle/>
          <a:p>
            <a:r>
              <a:rPr lang="en-US" altLang="en-US"/>
              <a:t>Lab – Refactor WeatherData</a:t>
            </a:r>
          </a:p>
        </p:txBody>
      </p:sp>
      <p:sp>
        <p:nvSpPr>
          <p:cNvPr id="33794" name="Content Placeholder 2">
            <a:extLst>
              <a:ext uri="{FF2B5EF4-FFF2-40B4-BE49-F238E27FC236}">
                <a16:creationId xmlns:a16="http://schemas.microsoft.com/office/drawing/2014/main" id="{05D1DCBD-69E9-AED3-ACE7-2C59A597DE99}"/>
              </a:ext>
            </a:extLst>
          </p:cNvPr>
          <p:cNvSpPr>
            <a:spLocks noGrp="1"/>
          </p:cNvSpPr>
          <p:nvPr>
            <p:ph idx="1"/>
          </p:nvPr>
        </p:nvSpPr>
        <p:spPr>
          <a:xfrm>
            <a:off x="152400" y="1371600"/>
            <a:ext cx="8534400" cy="4876800"/>
          </a:xfrm>
        </p:spPr>
        <p:txBody>
          <a:bodyPr/>
          <a:lstStyle/>
          <a:p>
            <a:pPr>
              <a:buFont typeface="Wingdings" pitchFamily="2" charset="2"/>
              <a:buNone/>
            </a:pPr>
            <a:r>
              <a:rPr lang="en-US" altLang="en-US"/>
              <a:t>When class resumes, we will be going through a major refactoring of the WeatherData example in the book.  Please consider these question in preparation for this exercise:</a:t>
            </a:r>
          </a:p>
          <a:p>
            <a:pPr>
              <a:buFont typeface="Wingdings" pitchFamily="2" charset="2"/>
              <a:buNone/>
            </a:pPr>
            <a:endParaRPr lang="en-US" altLang="en-US"/>
          </a:p>
          <a:p>
            <a:r>
              <a:rPr lang="en-US" altLang="en-US"/>
              <a:t>Look at WeatherData example on pg58. Which pieces of information is really specific to Weather?  Which part is specific to the whole Subject/Observer relationship?</a:t>
            </a:r>
          </a:p>
          <a:p>
            <a:endParaRPr lang="en-US" altLang="en-US"/>
          </a:p>
          <a:p>
            <a:r>
              <a:rPr lang="en-US" altLang="en-US"/>
              <a:t>Look at CurrentConditionsDisplay on pg 59. Which pieces is specific to Weather?  To the Subject/Observer relationship?</a:t>
            </a:r>
          </a:p>
        </p:txBody>
      </p:sp>
      <p:sp>
        <p:nvSpPr>
          <p:cNvPr id="33795" name="Slide Number Placeholder 3">
            <a:extLst>
              <a:ext uri="{FF2B5EF4-FFF2-40B4-BE49-F238E27FC236}">
                <a16:creationId xmlns:a16="http://schemas.microsoft.com/office/drawing/2014/main" id="{E9A64E61-25A6-9B7A-8DF0-0D5487D0D3C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A728F7E-B861-8743-8D62-6DA855A232F7}" type="slidenum">
              <a:rPr lang="en-US" altLang="en-US" sz="1000">
                <a:latin typeface="Arial Black" panose="020B0604020202020204" pitchFamily="34" charset="0"/>
              </a:rPr>
              <a:pPr>
                <a:spcBef>
                  <a:spcPct val="0"/>
                </a:spcBef>
                <a:buClrTx/>
                <a:buSzTx/>
                <a:buFontTx/>
                <a:buNone/>
              </a:pPr>
              <a:t>16</a:t>
            </a:fld>
            <a:endParaRPr lang="en-US" altLang="en-US" sz="1000">
              <a:latin typeface="Arial Black" panose="020B0604020202020204" pitchFamily="34" charset="0"/>
            </a:endParaRPr>
          </a:p>
        </p:txBody>
      </p:sp>
      <p:sp>
        <p:nvSpPr>
          <p:cNvPr id="33796" name="Date Placeholder 4">
            <a:extLst>
              <a:ext uri="{FF2B5EF4-FFF2-40B4-BE49-F238E27FC236}">
                <a16:creationId xmlns:a16="http://schemas.microsoft.com/office/drawing/2014/main" id="{49492A6B-0A01-751B-AABB-75282925C99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0E92955-8277-F248-B36B-BEAA27DBC9A9}"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7840320A-E4EF-2FDB-7BA9-2A40583CD5EE}"/>
              </a:ext>
            </a:extLst>
          </p:cNvPr>
          <p:cNvSpPr>
            <a:spLocks noGrp="1"/>
          </p:cNvSpPr>
          <p:nvPr>
            <p:ph type="title"/>
          </p:nvPr>
        </p:nvSpPr>
        <p:spPr/>
        <p:txBody>
          <a:bodyPr/>
          <a:lstStyle/>
          <a:p>
            <a:r>
              <a:rPr lang="en-US" altLang="en-US"/>
              <a:t>Refactoring WeatherData </a:t>
            </a:r>
          </a:p>
        </p:txBody>
      </p:sp>
      <p:sp>
        <p:nvSpPr>
          <p:cNvPr id="34818" name="Content Placeholder 2">
            <a:extLst>
              <a:ext uri="{FF2B5EF4-FFF2-40B4-BE49-F238E27FC236}">
                <a16:creationId xmlns:a16="http://schemas.microsoft.com/office/drawing/2014/main" id="{80114156-7E5A-13A5-FC48-F4E36EFC1D7B}"/>
              </a:ext>
            </a:extLst>
          </p:cNvPr>
          <p:cNvSpPr>
            <a:spLocks noGrp="1"/>
          </p:cNvSpPr>
          <p:nvPr>
            <p:ph idx="1"/>
          </p:nvPr>
        </p:nvSpPr>
        <p:spPr>
          <a:xfrm>
            <a:off x="228600" y="1295400"/>
            <a:ext cx="8229600" cy="4495800"/>
          </a:xfrm>
        </p:spPr>
        <p:txBody>
          <a:bodyPr/>
          <a:lstStyle/>
          <a:p>
            <a:r>
              <a:rPr lang="en-US" altLang="en-US"/>
              <a:t>We want to create an infrastructure so that we can reuse Subject and Observer functionality.</a:t>
            </a:r>
          </a:p>
          <a:p>
            <a:endParaRPr lang="en-US" altLang="en-US"/>
          </a:p>
          <a:p>
            <a:r>
              <a:rPr lang="en-US" altLang="en-US"/>
              <a:t>Also, according to the Single Responsibility Principle, the class WeatherData is doing too much!</a:t>
            </a:r>
          </a:p>
          <a:p>
            <a:pPr>
              <a:buFont typeface="Wingdings" pitchFamily="2" charset="2"/>
              <a:buNone/>
            </a:pPr>
            <a:endParaRPr lang="en-US" altLang="en-US"/>
          </a:p>
          <a:p>
            <a:r>
              <a:rPr lang="en-US" altLang="en-US"/>
              <a:t>What two general options can we consider to break this object up?</a:t>
            </a:r>
          </a:p>
          <a:p>
            <a:endParaRPr lang="en-US" altLang="en-US"/>
          </a:p>
          <a:p>
            <a:endParaRPr lang="en-US" altLang="en-US"/>
          </a:p>
        </p:txBody>
      </p:sp>
      <p:sp>
        <p:nvSpPr>
          <p:cNvPr id="34819" name="Slide Number Placeholder 3">
            <a:extLst>
              <a:ext uri="{FF2B5EF4-FFF2-40B4-BE49-F238E27FC236}">
                <a16:creationId xmlns:a16="http://schemas.microsoft.com/office/drawing/2014/main" id="{E425D81E-2E98-E9FD-6968-9224163F7E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711B446-B40E-0E49-A675-5E0E594EC053}" type="slidenum">
              <a:rPr lang="en-US" altLang="en-US" sz="1000">
                <a:latin typeface="Arial Black" panose="020B0604020202020204" pitchFamily="34" charset="0"/>
              </a:rPr>
              <a:pPr>
                <a:spcBef>
                  <a:spcPct val="0"/>
                </a:spcBef>
                <a:buClrTx/>
                <a:buSzTx/>
                <a:buFontTx/>
                <a:buNone/>
              </a:pPr>
              <a:t>17</a:t>
            </a:fld>
            <a:endParaRPr lang="en-US" altLang="en-US" sz="1000">
              <a:latin typeface="Arial Black" panose="020B0604020202020204" pitchFamily="34" charset="0"/>
            </a:endParaRPr>
          </a:p>
        </p:txBody>
      </p:sp>
      <p:sp>
        <p:nvSpPr>
          <p:cNvPr id="34820" name="Date Placeholder 4">
            <a:extLst>
              <a:ext uri="{FF2B5EF4-FFF2-40B4-BE49-F238E27FC236}">
                <a16:creationId xmlns:a16="http://schemas.microsoft.com/office/drawing/2014/main" id="{5741564F-3D8E-7133-C688-75710FCA4A2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4C8DD9A-FE56-5447-AED0-90BF830EDC02}"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96B870DF-CE06-AC4D-1415-5459006B0527}"/>
              </a:ext>
            </a:extLst>
          </p:cNvPr>
          <p:cNvSpPr>
            <a:spLocks noGrp="1"/>
          </p:cNvSpPr>
          <p:nvPr>
            <p:ph type="title"/>
          </p:nvPr>
        </p:nvSpPr>
        <p:spPr>
          <a:xfrm>
            <a:off x="381000" y="457200"/>
            <a:ext cx="8229600" cy="762000"/>
          </a:xfrm>
        </p:spPr>
        <p:txBody>
          <a:bodyPr/>
          <a:lstStyle/>
          <a:p>
            <a:r>
              <a:rPr lang="en-US" altLang="en-US"/>
              <a:t>Subject</a:t>
            </a:r>
          </a:p>
        </p:txBody>
      </p:sp>
      <p:sp>
        <p:nvSpPr>
          <p:cNvPr id="35842" name="Content Placeholder 2">
            <a:extLst>
              <a:ext uri="{FF2B5EF4-FFF2-40B4-BE49-F238E27FC236}">
                <a16:creationId xmlns:a16="http://schemas.microsoft.com/office/drawing/2014/main" id="{367698A2-FA1D-8C62-02A3-2622E7DFA4A4}"/>
              </a:ext>
            </a:extLst>
          </p:cNvPr>
          <p:cNvSpPr>
            <a:spLocks noGrp="1"/>
          </p:cNvSpPr>
          <p:nvPr>
            <p:ph idx="1"/>
          </p:nvPr>
        </p:nvSpPr>
        <p:spPr>
          <a:xfrm>
            <a:off x="304800" y="1219200"/>
            <a:ext cx="8610600" cy="4876800"/>
          </a:xfrm>
        </p:spPr>
        <p:txBody>
          <a:bodyPr/>
          <a:lstStyle/>
          <a:p>
            <a:r>
              <a:rPr lang="en-US" altLang="en-US"/>
              <a:t>Let’s create an abstract class called “Subject” with some default implementation.  (We will also create a class “Observer” that also has some default implementation).</a:t>
            </a:r>
          </a:p>
          <a:p>
            <a:endParaRPr lang="en-US" altLang="en-US"/>
          </a:p>
          <a:p>
            <a:r>
              <a:rPr lang="en-US" altLang="en-US"/>
              <a:t>Looking at the WeatherData (pg58), which methods in WeatherData should be moved to Subject?</a:t>
            </a:r>
          </a:p>
          <a:p>
            <a:endParaRPr lang="en-US" altLang="en-US"/>
          </a:p>
          <a:p>
            <a:r>
              <a:rPr lang="en-US" altLang="en-US"/>
              <a:t>Which fields should be moved to Subject?</a:t>
            </a:r>
          </a:p>
          <a:p>
            <a:endParaRPr lang="en-US" altLang="en-US"/>
          </a:p>
          <a:p>
            <a:r>
              <a:rPr lang="en-US" altLang="en-US"/>
              <a:t>What should the constructor of Subject initialize?</a:t>
            </a:r>
          </a:p>
        </p:txBody>
      </p:sp>
      <p:sp>
        <p:nvSpPr>
          <p:cNvPr id="35843" name="Slide Number Placeholder 3">
            <a:extLst>
              <a:ext uri="{FF2B5EF4-FFF2-40B4-BE49-F238E27FC236}">
                <a16:creationId xmlns:a16="http://schemas.microsoft.com/office/drawing/2014/main" id="{8A63B1EC-4605-7DDA-65E4-33EBDDB1D9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8021D67-ADBD-3A45-852E-D85E02BB1215}" type="slidenum">
              <a:rPr lang="en-US" altLang="en-US" sz="1000">
                <a:latin typeface="Arial Black" panose="020B0604020202020204" pitchFamily="34" charset="0"/>
              </a:rPr>
              <a:pPr>
                <a:spcBef>
                  <a:spcPct val="0"/>
                </a:spcBef>
                <a:buClrTx/>
                <a:buSzTx/>
                <a:buFontTx/>
                <a:buNone/>
              </a:pPr>
              <a:t>18</a:t>
            </a:fld>
            <a:endParaRPr lang="en-US" altLang="en-US" sz="1000">
              <a:latin typeface="Arial Black" panose="020B0604020202020204" pitchFamily="34" charset="0"/>
            </a:endParaRPr>
          </a:p>
        </p:txBody>
      </p:sp>
      <p:sp>
        <p:nvSpPr>
          <p:cNvPr id="35844" name="Date Placeholder 4">
            <a:extLst>
              <a:ext uri="{FF2B5EF4-FFF2-40B4-BE49-F238E27FC236}">
                <a16:creationId xmlns:a16="http://schemas.microsoft.com/office/drawing/2014/main" id="{1CA56EF8-E753-534E-F8EE-2F731EBE61D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AC80345-CC24-4F48-AE02-45C9FFB31A26}"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C342E410-D4F1-8EBD-5B7E-7787561BCD5E}"/>
              </a:ext>
            </a:extLst>
          </p:cNvPr>
          <p:cNvSpPr>
            <a:spLocks noGrp="1"/>
          </p:cNvSpPr>
          <p:nvPr>
            <p:ph type="title"/>
          </p:nvPr>
        </p:nvSpPr>
        <p:spPr/>
        <p:txBody>
          <a:bodyPr/>
          <a:lstStyle/>
          <a:p>
            <a:r>
              <a:rPr lang="en-US" altLang="en-US"/>
              <a:t>Subject</a:t>
            </a:r>
          </a:p>
        </p:txBody>
      </p:sp>
      <p:sp>
        <p:nvSpPr>
          <p:cNvPr id="37890" name="Content Placeholder 2">
            <a:extLst>
              <a:ext uri="{FF2B5EF4-FFF2-40B4-BE49-F238E27FC236}">
                <a16:creationId xmlns:a16="http://schemas.microsoft.com/office/drawing/2014/main" id="{275C0368-022A-92ED-CCD1-79929F07FDFB}"/>
              </a:ext>
            </a:extLst>
          </p:cNvPr>
          <p:cNvSpPr>
            <a:spLocks noGrp="1"/>
          </p:cNvSpPr>
          <p:nvPr>
            <p:ph idx="1"/>
          </p:nvPr>
        </p:nvSpPr>
        <p:spPr>
          <a:xfrm>
            <a:off x="457200" y="1143000"/>
            <a:ext cx="8229600" cy="5105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 public abstract class Subject {</a:t>
            </a:r>
          </a:p>
          <a:p>
            <a:pPr>
              <a:buFont typeface="Wingdings" pitchFamily="2" charset="2"/>
              <a:buNone/>
            </a:pPr>
            <a:r>
              <a:rPr lang="en-US" altLang="en-US" sz="1600">
                <a:latin typeface="Courier New" panose="02070309020205020404" pitchFamily="49" charset="0"/>
                <a:cs typeface="Courier New" panose="02070309020205020404" pitchFamily="49" charset="0"/>
              </a:rPr>
              <a:t> 		private List&lt;Observer&gt; observers;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Subject() {</a:t>
            </a:r>
          </a:p>
          <a:p>
            <a:pPr>
              <a:buFont typeface="Wingdings" pitchFamily="2" charset="2"/>
              <a:buNone/>
            </a:pPr>
            <a:r>
              <a:rPr lang="en-US" altLang="en-US" sz="1600">
                <a:latin typeface="Courier New" panose="02070309020205020404" pitchFamily="49" charset="0"/>
                <a:cs typeface="Courier New" panose="02070309020205020404" pitchFamily="49" charset="0"/>
              </a:rPr>
              <a:t> 			observers = new List&lt;Observer&gt;();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RegisterObserver(Observer o) { ..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RemoveObserver(Observer o)  { ..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NotifyObserver()</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foreach (Observer observer in observers)</a:t>
            </a:r>
          </a:p>
          <a:p>
            <a:pPr>
              <a:buFont typeface="Wingdings" pitchFamily="2" charset="2"/>
              <a:buNone/>
            </a:pPr>
            <a:r>
              <a:rPr lang="en-US" altLang="en-US" sz="1600">
                <a:latin typeface="Courier New" panose="02070309020205020404" pitchFamily="49" charset="0"/>
                <a:cs typeface="Courier New" panose="02070309020205020404" pitchFamily="49" charset="0"/>
              </a:rPr>
              <a:t>                observer.Update(temperature, humidity, pressure);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p:txBody>
      </p:sp>
      <p:sp>
        <p:nvSpPr>
          <p:cNvPr id="37891" name="Slide Number Placeholder 3">
            <a:extLst>
              <a:ext uri="{FF2B5EF4-FFF2-40B4-BE49-F238E27FC236}">
                <a16:creationId xmlns:a16="http://schemas.microsoft.com/office/drawing/2014/main" id="{B5929FCB-41F9-61B8-E086-3C92D2CE39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FA60298-0FDE-3941-AFC0-2CA902295B78}" type="slidenum">
              <a:rPr lang="en-US" altLang="en-US" sz="1000">
                <a:latin typeface="Arial Black" panose="020B0604020202020204" pitchFamily="34" charset="0"/>
              </a:rPr>
              <a:pPr>
                <a:spcBef>
                  <a:spcPct val="0"/>
                </a:spcBef>
                <a:buClrTx/>
                <a:buSzTx/>
                <a:buFontTx/>
                <a:buNone/>
              </a:pPr>
              <a:t>19</a:t>
            </a:fld>
            <a:endParaRPr lang="en-US" altLang="en-US" sz="1000">
              <a:latin typeface="Arial Black" panose="020B0604020202020204" pitchFamily="34" charset="0"/>
            </a:endParaRPr>
          </a:p>
        </p:txBody>
      </p:sp>
      <p:sp>
        <p:nvSpPr>
          <p:cNvPr id="37892" name="Date Placeholder 4">
            <a:extLst>
              <a:ext uri="{FF2B5EF4-FFF2-40B4-BE49-F238E27FC236}">
                <a16:creationId xmlns:a16="http://schemas.microsoft.com/office/drawing/2014/main" id="{661839FE-35BD-B5F2-BF8F-A68BADFD295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B0145F3-4AA1-9641-B464-3FDE6624432A}" type="datetime1">
              <a:rPr lang="en-US" altLang="en-US" sz="1200" smtClean="0"/>
              <a:pPr>
                <a:spcBef>
                  <a:spcPct val="0"/>
                </a:spcBef>
                <a:buClrTx/>
                <a:buSzTx/>
                <a:buFontTx/>
                <a:buNone/>
              </a:pPr>
              <a:t>11/22/23</a:t>
            </a:fld>
            <a:endParaRPr lang="en-US" altLang="en-US" sz="1200"/>
          </a:p>
        </p:txBody>
      </p:sp>
      <p:sp>
        <p:nvSpPr>
          <p:cNvPr id="37893" name="TextBox 5">
            <a:extLst>
              <a:ext uri="{FF2B5EF4-FFF2-40B4-BE49-F238E27FC236}">
                <a16:creationId xmlns:a16="http://schemas.microsoft.com/office/drawing/2014/main" id="{EDFF25E4-9036-B54E-4EB3-8EDF9AA89233}"/>
              </a:ext>
            </a:extLst>
          </p:cNvPr>
          <p:cNvSpPr txBox="1">
            <a:spLocks noChangeArrowheads="1"/>
          </p:cNvSpPr>
          <p:nvPr/>
        </p:nvSpPr>
        <p:spPr bwMode="auto">
          <a:xfrm>
            <a:off x="2514600" y="5943600"/>
            <a:ext cx="541020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What is wrong with NotifyObserver??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8283876C-5C9D-213B-CF88-B685939EBC91}"/>
              </a:ext>
            </a:extLst>
          </p:cNvPr>
          <p:cNvSpPr>
            <a:spLocks noGrp="1"/>
          </p:cNvSpPr>
          <p:nvPr>
            <p:ph type="title"/>
          </p:nvPr>
        </p:nvSpPr>
        <p:spPr/>
        <p:txBody>
          <a:bodyPr/>
          <a:lstStyle/>
          <a:p>
            <a:r>
              <a:rPr lang="en-US" altLang="en-US"/>
              <a:t>Subject</a:t>
            </a:r>
          </a:p>
        </p:txBody>
      </p:sp>
      <p:sp>
        <p:nvSpPr>
          <p:cNvPr id="39938" name="Content Placeholder 2">
            <a:extLst>
              <a:ext uri="{FF2B5EF4-FFF2-40B4-BE49-F238E27FC236}">
                <a16:creationId xmlns:a16="http://schemas.microsoft.com/office/drawing/2014/main" id="{0F415F2B-CD1E-74B9-2735-75E4035A5DBF}"/>
              </a:ext>
            </a:extLst>
          </p:cNvPr>
          <p:cNvSpPr>
            <a:spLocks noGrp="1"/>
          </p:cNvSpPr>
          <p:nvPr>
            <p:ph idx="1"/>
          </p:nvPr>
        </p:nvSpPr>
        <p:spPr>
          <a:xfrm>
            <a:off x="457200" y="1143000"/>
            <a:ext cx="8229600" cy="5105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 public abstract class Subject  {</a:t>
            </a:r>
          </a:p>
          <a:p>
            <a:pPr>
              <a:buFont typeface="Wingdings" pitchFamily="2" charset="2"/>
              <a:buNone/>
            </a:pPr>
            <a:r>
              <a:rPr lang="en-US" altLang="en-US" sz="1600">
                <a:latin typeface="Courier New" panose="02070309020205020404" pitchFamily="49" charset="0"/>
                <a:cs typeface="Courier New" panose="02070309020205020404" pitchFamily="49" charset="0"/>
              </a:rPr>
              <a:t>        private List&lt;Observer&gt; observers;</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Subject() {</a:t>
            </a:r>
          </a:p>
          <a:p>
            <a:pPr>
              <a:buFont typeface="Wingdings" pitchFamily="2" charset="2"/>
              <a:buNone/>
            </a:pPr>
            <a:r>
              <a:rPr lang="en-US" altLang="en-US" sz="1600">
                <a:latin typeface="Courier New" panose="02070309020205020404" pitchFamily="49" charset="0"/>
                <a:cs typeface="Courier New" panose="02070309020205020404" pitchFamily="49" charset="0"/>
              </a:rPr>
              <a:t>            observers = new List&lt;Observer&gt;();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RegisterObserver(Observer o) {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RemoveObserver(Observer o)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NotifyObserver()</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foreach (Observer observer in observers)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observer.Update(this);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p:txBody>
      </p:sp>
      <p:sp>
        <p:nvSpPr>
          <p:cNvPr id="39939" name="Slide Number Placeholder 3">
            <a:extLst>
              <a:ext uri="{FF2B5EF4-FFF2-40B4-BE49-F238E27FC236}">
                <a16:creationId xmlns:a16="http://schemas.microsoft.com/office/drawing/2014/main" id="{D9C7B248-AB63-25DB-2D94-D2611B7C623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6617BB3-4B3F-3F47-90B6-F23BC2F73FCA}" type="slidenum">
              <a:rPr lang="en-US" altLang="en-US" sz="1000">
                <a:latin typeface="Arial Black" panose="020B0604020202020204" pitchFamily="34" charset="0"/>
              </a:rPr>
              <a:pPr>
                <a:spcBef>
                  <a:spcPct val="0"/>
                </a:spcBef>
                <a:buClrTx/>
                <a:buSzTx/>
                <a:buFontTx/>
                <a:buNone/>
              </a:pPr>
              <a:t>20</a:t>
            </a:fld>
            <a:endParaRPr lang="en-US" altLang="en-US" sz="1000">
              <a:latin typeface="Arial Black" panose="020B0604020202020204" pitchFamily="34" charset="0"/>
            </a:endParaRPr>
          </a:p>
        </p:txBody>
      </p:sp>
      <p:sp>
        <p:nvSpPr>
          <p:cNvPr id="39940" name="Date Placeholder 4">
            <a:extLst>
              <a:ext uri="{FF2B5EF4-FFF2-40B4-BE49-F238E27FC236}">
                <a16:creationId xmlns:a16="http://schemas.microsoft.com/office/drawing/2014/main" id="{5566BBAB-689B-082E-AF57-C46EEB76F03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A4E613C-C564-0640-A180-F5FCD33A4AC2}"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AE654852-3BC0-6539-F399-B29AC99A2120}"/>
              </a:ext>
            </a:extLst>
          </p:cNvPr>
          <p:cNvSpPr>
            <a:spLocks noGrp="1"/>
          </p:cNvSpPr>
          <p:nvPr>
            <p:ph type="title"/>
          </p:nvPr>
        </p:nvSpPr>
        <p:spPr/>
        <p:txBody>
          <a:bodyPr/>
          <a:lstStyle/>
          <a:p>
            <a:r>
              <a:rPr lang="en-US" altLang="en-US"/>
              <a:t>Observer</a:t>
            </a:r>
          </a:p>
        </p:txBody>
      </p:sp>
      <p:sp>
        <p:nvSpPr>
          <p:cNvPr id="41986" name="Content Placeholder 2">
            <a:extLst>
              <a:ext uri="{FF2B5EF4-FFF2-40B4-BE49-F238E27FC236}">
                <a16:creationId xmlns:a16="http://schemas.microsoft.com/office/drawing/2014/main" id="{D6DFD3C8-C5D0-C864-6E56-41DA4582E49F}"/>
              </a:ext>
            </a:extLst>
          </p:cNvPr>
          <p:cNvSpPr>
            <a:spLocks noGrp="1"/>
          </p:cNvSpPr>
          <p:nvPr>
            <p:ph idx="1"/>
          </p:nvPr>
        </p:nvSpPr>
        <p:spPr/>
        <p:txBody>
          <a:bodyPr/>
          <a:lstStyle/>
          <a:p>
            <a:r>
              <a:rPr lang="en-US" altLang="en-US"/>
              <a:t>Looking at CurrentConditionsDisplay (pg59),  we should abstract out the registering of the Observer to a Subject.</a:t>
            </a:r>
          </a:p>
          <a:p>
            <a:pPr>
              <a:buFont typeface="Wingdings" pitchFamily="2" charset="2"/>
              <a:buNone/>
            </a:pPr>
            <a:endParaRPr lang="en-US" altLang="en-US"/>
          </a:p>
          <a:p>
            <a:pPr lvl="1"/>
            <a:r>
              <a:rPr lang="en-US" altLang="en-US"/>
              <a:t>What kind of argument do we need to pass in the Observer constructor?</a:t>
            </a:r>
          </a:p>
          <a:p>
            <a:pPr lvl="1"/>
            <a:r>
              <a:rPr lang="en-US" altLang="en-US"/>
              <a:t>Within the Observer constructor, what method should we call on the Subject?  </a:t>
            </a:r>
          </a:p>
          <a:p>
            <a:pPr lvl="1"/>
            <a:r>
              <a:rPr lang="en-US" altLang="en-US"/>
              <a:t>How can we enforce that the inherited classes use this constructor??</a:t>
            </a:r>
          </a:p>
          <a:p>
            <a:endParaRPr lang="en-US" altLang="en-US"/>
          </a:p>
          <a:p>
            <a:r>
              <a:rPr lang="en-US" altLang="en-US"/>
              <a:t>What method should Observer provide?</a:t>
            </a:r>
          </a:p>
          <a:p>
            <a:endParaRPr lang="en-US" altLang="en-US"/>
          </a:p>
        </p:txBody>
      </p:sp>
      <p:sp>
        <p:nvSpPr>
          <p:cNvPr id="41987" name="Slide Number Placeholder 3">
            <a:extLst>
              <a:ext uri="{FF2B5EF4-FFF2-40B4-BE49-F238E27FC236}">
                <a16:creationId xmlns:a16="http://schemas.microsoft.com/office/drawing/2014/main" id="{2EFA3D90-BCB1-0ACA-0AB4-40785E30826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07A421E-72E7-384A-ADFA-885B9E18D3F4}" type="slidenum">
              <a:rPr lang="en-US" altLang="en-US" sz="1000">
                <a:latin typeface="Arial Black" panose="020B0604020202020204" pitchFamily="34" charset="0"/>
              </a:rPr>
              <a:pPr>
                <a:spcBef>
                  <a:spcPct val="0"/>
                </a:spcBef>
                <a:buClrTx/>
                <a:buSzTx/>
                <a:buFontTx/>
                <a:buNone/>
              </a:pPr>
              <a:t>21</a:t>
            </a:fld>
            <a:endParaRPr lang="en-US" altLang="en-US" sz="1000">
              <a:latin typeface="Arial Black" panose="020B0604020202020204" pitchFamily="34" charset="0"/>
            </a:endParaRPr>
          </a:p>
        </p:txBody>
      </p:sp>
      <p:sp>
        <p:nvSpPr>
          <p:cNvPr id="41988" name="Date Placeholder 4">
            <a:extLst>
              <a:ext uri="{FF2B5EF4-FFF2-40B4-BE49-F238E27FC236}">
                <a16:creationId xmlns:a16="http://schemas.microsoft.com/office/drawing/2014/main" id="{3106E177-B165-EDC0-3825-DA089531DC6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640DFF1-7368-684D-B7FB-F4C8BAE865D9}"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A771E236-A5ED-F96B-3FA7-6A234669C3A9}"/>
              </a:ext>
            </a:extLst>
          </p:cNvPr>
          <p:cNvSpPr>
            <a:spLocks noGrp="1"/>
          </p:cNvSpPr>
          <p:nvPr>
            <p:ph type="title"/>
          </p:nvPr>
        </p:nvSpPr>
        <p:spPr/>
        <p:txBody>
          <a:bodyPr/>
          <a:lstStyle/>
          <a:p>
            <a:r>
              <a:rPr lang="en-US" altLang="en-US"/>
              <a:t>Observer</a:t>
            </a:r>
          </a:p>
        </p:txBody>
      </p:sp>
      <p:sp>
        <p:nvSpPr>
          <p:cNvPr id="43010" name="Content Placeholder 2">
            <a:extLst>
              <a:ext uri="{FF2B5EF4-FFF2-40B4-BE49-F238E27FC236}">
                <a16:creationId xmlns:a16="http://schemas.microsoft.com/office/drawing/2014/main" id="{97B1C296-82B5-46E4-1867-1F5E1384861D}"/>
              </a:ext>
            </a:extLst>
          </p:cNvPr>
          <p:cNvSpPr>
            <a:spLocks noGrp="1"/>
          </p:cNvSpPr>
          <p:nvPr>
            <p:ph idx="1"/>
          </p:nvPr>
        </p:nvSpPr>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 public abstract class Observer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Observer(Subject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subject.RegisterObserver(this);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private Observer()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abstract void Update(Subject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43011" name="Slide Number Placeholder 3">
            <a:extLst>
              <a:ext uri="{FF2B5EF4-FFF2-40B4-BE49-F238E27FC236}">
                <a16:creationId xmlns:a16="http://schemas.microsoft.com/office/drawing/2014/main" id="{99869F8F-CF0F-0348-541D-E15D2964AFD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40C6890-8887-EC4E-8717-82E3802734FD}" type="slidenum">
              <a:rPr lang="en-US" altLang="en-US" sz="1000">
                <a:latin typeface="Arial Black" panose="020B0604020202020204" pitchFamily="34" charset="0"/>
              </a:rPr>
              <a:pPr>
                <a:spcBef>
                  <a:spcPct val="0"/>
                </a:spcBef>
                <a:buClrTx/>
                <a:buSzTx/>
                <a:buFontTx/>
                <a:buNone/>
              </a:pPr>
              <a:t>22</a:t>
            </a:fld>
            <a:endParaRPr lang="en-US" altLang="en-US" sz="1000">
              <a:latin typeface="Arial Black" panose="020B0604020202020204" pitchFamily="34" charset="0"/>
            </a:endParaRPr>
          </a:p>
        </p:txBody>
      </p:sp>
      <p:sp>
        <p:nvSpPr>
          <p:cNvPr id="43012" name="Date Placeholder 4">
            <a:extLst>
              <a:ext uri="{FF2B5EF4-FFF2-40B4-BE49-F238E27FC236}">
                <a16:creationId xmlns:a16="http://schemas.microsoft.com/office/drawing/2014/main" id="{89073302-1B07-14B2-F7E5-83B71240BE1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06B62FA-BC38-AD4E-B2AD-A7DD505969C0}"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18DF2994-1116-3CA4-ACE8-03313DCA3615}"/>
              </a:ext>
            </a:extLst>
          </p:cNvPr>
          <p:cNvSpPr>
            <a:spLocks noGrp="1"/>
          </p:cNvSpPr>
          <p:nvPr>
            <p:ph type="title"/>
          </p:nvPr>
        </p:nvSpPr>
        <p:spPr/>
        <p:txBody>
          <a:bodyPr/>
          <a:lstStyle/>
          <a:p>
            <a:r>
              <a:rPr lang="en-US" altLang="en-US"/>
              <a:t>So far…</a:t>
            </a:r>
          </a:p>
        </p:txBody>
      </p:sp>
      <p:sp>
        <p:nvSpPr>
          <p:cNvPr id="44034" name="Slide Number Placeholder 3">
            <a:extLst>
              <a:ext uri="{FF2B5EF4-FFF2-40B4-BE49-F238E27FC236}">
                <a16:creationId xmlns:a16="http://schemas.microsoft.com/office/drawing/2014/main" id="{5E2EB187-F5F9-13F7-82A1-B9AE9A43580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8BC7C49-4D8C-DA4E-86B1-8862094E19BE}" type="slidenum">
              <a:rPr lang="en-US" altLang="en-US" sz="1000">
                <a:latin typeface="Arial Black" panose="020B0604020202020204" pitchFamily="34" charset="0"/>
              </a:rPr>
              <a:pPr>
                <a:spcBef>
                  <a:spcPct val="0"/>
                </a:spcBef>
                <a:buClrTx/>
                <a:buSzTx/>
                <a:buFontTx/>
                <a:buNone/>
              </a:pPr>
              <a:t>23</a:t>
            </a:fld>
            <a:endParaRPr lang="en-US" altLang="en-US" sz="1000">
              <a:latin typeface="Arial Black" panose="020B0604020202020204" pitchFamily="34" charset="0"/>
            </a:endParaRPr>
          </a:p>
        </p:txBody>
      </p:sp>
      <p:sp>
        <p:nvSpPr>
          <p:cNvPr id="44035" name="Date Placeholder 4">
            <a:extLst>
              <a:ext uri="{FF2B5EF4-FFF2-40B4-BE49-F238E27FC236}">
                <a16:creationId xmlns:a16="http://schemas.microsoft.com/office/drawing/2014/main" id="{5FC7F14D-060C-3023-5F0E-6E800925674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D3EAEF8-DC1B-F44A-845D-3939094BCEBF}" type="datetime1">
              <a:rPr lang="en-US" altLang="en-US" sz="1200" smtClean="0"/>
              <a:pPr>
                <a:spcBef>
                  <a:spcPct val="0"/>
                </a:spcBef>
                <a:buClrTx/>
                <a:buSzTx/>
                <a:buFontTx/>
                <a:buNone/>
              </a:pPr>
              <a:t>11/22/23</a:t>
            </a:fld>
            <a:endParaRPr lang="en-US" altLang="en-US" sz="1200"/>
          </a:p>
        </p:txBody>
      </p:sp>
      <p:pic>
        <p:nvPicPr>
          <p:cNvPr id="44036" name="Picture 2">
            <a:extLst>
              <a:ext uri="{FF2B5EF4-FFF2-40B4-BE49-F238E27FC236}">
                <a16:creationId xmlns:a16="http://schemas.microsoft.com/office/drawing/2014/main" id="{8EB14A5A-BD8C-5872-1F3A-DC27CFE43C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1288" y="1524000"/>
            <a:ext cx="8774112" cy="1752600"/>
          </a:xfrm>
          <a:noFill/>
        </p:spPr>
      </p:pic>
      <p:cxnSp>
        <p:nvCxnSpPr>
          <p:cNvPr id="44037" name="Straight Arrow Connector 6">
            <a:extLst>
              <a:ext uri="{FF2B5EF4-FFF2-40B4-BE49-F238E27FC236}">
                <a16:creationId xmlns:a16="http://schemas.microsoft.com/office/drawing/2014/main" id="{9EE39314-BF15-780C-EF3A-13AF20D53D86}"/>
              </a:ext>
            </a:extLst>
          </p:cNvPr>
          <p:cNvCxnSpPr>
            <a:cxnSpLocks noChangeShapeType="1"/>
          </p:cNvCxnSpPr>
          <p:nvPr/>
        </p:nvCxnSpPr>
        <p:spPr bwMode="auto">
          <a:xfrm rot="5400000" flipH="1" flipV="1">
            <a:off x="1" y="4038600"/>
            <a:ext cx="1524000"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4038" name="TextBox 11">
            <a:extLst>
              <a:ext uri="{FF2B5EF4-FFF2-40B4-BE49-F238E27FC236}">
                <a16:creationId xmlns:a16="http://schemas.microsoft.com/office/drawing/2014/main" id="{B4D1CDF7-42F4-CE0B-37F3-6D9956A8FD96}"/>
              </a:ext>
            </a:extLst>
          </p:cNvPr>
          <p:cNvSpPr txBox="1">
            <a:spLocks noChangeArrowheads="1"/>
          </p:cNvSpPr>
          <p:nvPr/>
        </p:nvSpPr>
        <p:spPr bwMode="auto">
          <a:xfrm>
            <a:off x="609600" y="4953000"/>
            <a:ext cx="40386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NotifyObserver will loop through each Observer and call Update() and pass a reference of itself</a:t>
            </a:r>
          </a:p>
        </p:txBody>
      </p:sp>
      <p:cxnSp>
        <p:nvCxnSpPr>
          <p:cNvPr id="44039" name="Straight Arrow Connector 13">
            <a:extLst>
              <a:ext uri="{FF2B5EF4-FFF2-40B4-BE49-F238E27FC236}">
                <a16:creationId xmlns:a16="http://schemas.microsoft.com/office/drawing/2014/main" id="{A329E9E6-1F70-EB3F-7E78-A3956A9D3379}"/>
              </a:ext>
            </a:extLst>
          </p:cNvPr>
          <p:cNvCxnSpPr>
            <a:cxnSpLocks noChangeShapeType="1"/>
          </p:cNvCxnSpPr>
          <p:nvPr/>
        </p:nvCxnSpPr>
        <p:spPr bwMode="auto">
          <a:xfrm rot="5400000" flipH="1" flipV="1">
            <a:off x="6705601" y="3962400"/>
            <a:ext cx="1219200"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44040" name="TextBox 14">
            <a:extLst>
              <a:ext uri="{FF2B5EF4-FFF2-40B4-BE49-F238E27FC236}">
                <a16:creationId xmlns:a16="http://schemas.microsoft.com/office/drawing/2014/main" id="{330D9A61-33F8-A1EB-7C5B-F61B99C0692C}"/>
              </a:ext>
            </a:extLst>
          </p:cNvPr>
          <p:cNvSpPr txBox="1">
            <a:spLocks noChangeArrowheads="1"/>
          </p:cNvSpPr>
          <p:nvPr/>
        </p:nvSpPr>
        <p:spPr bwMode="auto">
          <a:xfrm>
            <a:off x="6553200" y="4648200"/>
            <a:ext cx="2438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Observer registers itself with the Subject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A90E8EBD-0984-7829-A606-345D39067235}"/>
              </a:ext>
            </a:extLst>
          </p:cNvPr>
          <p:cNvSpPr>
            <a:spLocks noGrp="1"/>
          </p:cNvSpPr>
          <p:nvPr>
            <p:ph type="title"/>
          </p:nvPr>
        </p:nvSpPr>
        <p:spPr/>
        <p:txBody>
          <a:bodyPr/>
          <a:lstStyle/>
          <a:p>
            <a:r>
              <a:rPr lang="en-US" altLang="en-US"/>
              <a:t>Concrete Subject</a:t>
            </a:r>
          </a:p>
        </p:txBody>
      </p:sp>
      <p:sp>
        <p:nvSpPr>
          <p:cNvPr id="45058" name="Content Placeholder 2">
            <a:extLst>
              <a:ext uri="{FF2B5EF4-FFF2-40B4-BE49-F238E27FC236}">
                <a16:creationId xmlns:a16="http://schemas.microsoft.com/office/drawing/2014/main" id="{82E0CF70-BE27-98FE-9ADF-4C85FA9F0666}"/>
              </a:ext>
            </a:extLst>
          </p:cNvPr>
          <p:cNvSpPr>
            <a:spLocks noGrp="1"/>
          </p:cNvSpPr>
          <p:nvPr>
            <p:ph idx="1"/>
          </p:nvPr>
        </p:nvSpPr>
        <p:spPr>
          <a:xfrm>
            <a:off x="457200" y="1295400"/>
            <a:ext cx="8229600" cy="4495800"/>
          </a:xfrm>
        </p:spPr>
        <p:txBody>
          <a:bodyPr/>
          <a:lstStyle/>
          <a:p>
            <a:r>
              <a:rPr lang="en-US" altLang="en-US"/>
              <a:t>What class should WeatherData inherit from?</a:t>
            </a:r>
          </a:p>
          <a:p>
            <a:endParaRPr lang="en-US" altLang="en-US"/>
          </a:p>
          <a:p>
            <a:r>
              <a:rPr lang="en-US" altLang="en-US"/>
              <a:t>How will the Observer get information from our Concrete Subject??  </a:t>
            </a:r>
          </a:p>
          <a:p>
            <a:pPr lvl="1"/>
            <a:r>
              <a:rPr lang="en-US" altLang="en-US"/>
              <a:t>Remember: We are using Pull model.  Hint on previous Pull slide..</a:t>
            </a:r>
          </a:p>
          <a:p>
            <a:pPr lvl="1"/>
            <a:endParaRPr lang="en-US" altLang="en-US"/>
          </a:p>
          <a:p>
            <a:r>
              <a:rPr lang="en-US" altLang="en-US"/>
              <a:t>How will WeatherData tell the Observers that there is an update?</a:t>
            </a:r>
          </a:p>
        </p:txBody>
      </p:sp>
      <p:sp>
        <p:nvSpPr>
          <p:cNvPr id="45059" name="Slide Number Placeholder 3">
            <a:extLst>
              <a:ext uri="{FF2B5EF4-FFF2-40B4-BE49-F238E27FC236}">
                <a16:creationId xmlns:a16="http://schemas.microsoft.com/office/drawing/2014/main" id="{7ADDE9C9-9E94-9D10-94E5-D3E93D5FFD3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95B37CD-171E-FB48-BBF0-53E4E715D5D8}" type="slidenum">
              <a:rPr lang="en-US" altLang="en-US" sz="1000">
                <a:latin typeface="Arial Black" panose="020B0604020202020204" pitchFamily="34" charset="0"/>
              </a:rPr>
              <a:pPr>
                <a:spcBef>
                  <a:spcPct val="0"/>
                </a:spcBef>
                <a:buClrTx/>
                <a:buSzTx/>
                <a:buFontTx/>
                <a:buNone/>
              </a:pPr>
              <a:t>24</a:t>
            </a:fld>
            <a:endParaRPr lang="en-US" altLang="en-US" sz="1000">
              <a:latin typeface="Arial Black" panose="020B0604020202020204" pitchFamily="34" charset="0"/>
            </a:endParaRPr>
          </a:p>
        </p:txBody>
      </p:sp>
      <p:sp>
        <p:nvSpPr>
          <p:cNvPr id="45060" name="Date Placeholder 4">
            <a:extLst>
              <a:ext uri="{FF2B5EF4-FFF2-40B4-BE49-F238E27FC236}">
                <a16:creationId xmlns:a16="http://schemas.microsoft.com/office/drawing/2014/main" id="{9A8BB6F1-BFE6-0ECA-9DD0-3C398C8486F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94B8140-ABC3-E645-95D5-B1587495770B}"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05ECBAA6-488A-D774-C271-3AAD16EB0A15}"/>
              </a:ext>
            </a:extLst>
          </p:cNvPr>
          <p:cNvSpPr>
            <a:spLocks noGrp="1"/>
          </p:cNvSpPr>
          <p:nvPr>
            <p:ph type="title"/>
          </p:nvPr>
        </p:nvSpPr>
        <p:spPr/>
        <p:txBody>
          <a:bodyPr/>
          <a:lstStyle/>
          <a:p>
            <a:r>
              <a:rPr lang="en-US" altLang="en-US"/>
              <a:t>ConcreteSubject</a:t>
            </a:r>
          </a:p>
        </p:txBody>
      </p:sp>
      <p:sp>
        <p:nvSpPr>
          <p:cNvPr id="46082" name="Content Placeholder 2">
            <a:extLst>
              <a:ext uri="{FF2B5EF4-FFF2-40B4-BE49-F238E27FC236}">
                <a16:creationId xmlns:a16="http://schemas.microsoft.com/office/drawing/2014/main" id="{98C5B9CA-4D37-27F5-EDC8-20ADCF8F0135}"/>
              </a:ext>
            </a:extLst>
          </p:cNvPr>
          <p:cNvSpPr>
            <a:spLocks noGrp="1"/>
          </p:cNvSpPr>
          <p:nvPr>
            <p:ph idx="1"/>
          </p:nvPr>
        </p:nvSpPr>
        <p:spPr>
          <a:xfrm>
            <a:off x="228600" y="1371600"/>
            <a:ext cx="8458200" cy="4724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WeatherData : Subject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//Not Shown: the three fields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float getTemp() { return this.temperature;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float getHumidity() { return this.humidity; }</a:t>
            </a:r>
          </a:p>
          <a:p>
            <a:pPr>
              <a:buFont typeface="Wingdings" pitchFamily="2" charset="2"/>
              <a:buNone/>
            </a:pPr>
            <a:r>
              <a:rPr lang="en-US" altLang="en-US" sz="1600">
                <a:latin typeface="Courier New" panose="02070309020205020404" pitchFamily="49" charset="0"/>
                <a:cs typeface="Courier New" panose="02070309020205020404" pitchFamily="49" charset="0"/>
              </a:rPr>
              <a:t>        public float getPressure() { return this.pressure; }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SetMeasurements(…) {</a:t>
            </a:r>
          </a:p>
          <a:p>
            <a:pPr>
              <a:buFont typeface="Wingdings" pitchFamily="2" charset="2"/>
              <a:buNone/>
            </a:pPr>
            <a:r>
              <a:rPr lang="en-US" altLang="en-US" sz="1600">
                <a:latin typeface="Courier New" panose="02070309020205020404" pitchFamily="49" charset="0"/>
                <a:cs typeface="Courier New" panose="02070309020205020404" pitchFamily="49" charset="0"/>
              </a:rPr>
              <a:t>			//Set data here</a:t>
            </a:r>
          </a:p>
          <a:p>
            <a:pPr>
              <a:buFont typeface="Wingdings" pitchFamily="2" charset="2"/>
              <a:buNone/>
            </a:pPr>
            <a:r>
              <a:rPr lang="en-US" altLang="en-US" sz="1600">
                <a:latin typeface="Courier New" panose="02070309020205020404" pitchFamily="49" charset="0"/>
                <a:cs typeface="Courier New" panose="02070309020205020404" pitchFamily="49" charset="0"/>
              </a:rPr>
              <a:t>			measurementsChanged(); //which calls NotifyObservers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46083" name="Slide Number Placeholder 3">
            <a:extLst>
              <a:ext uri="{FF2B5EF4-FFF2-40B4-BE49-F238E27FC236}">
                <a16:creationId xmlns:a16="http://schemas.microsoft.com/office/drawing/2014/main" id="{4B8E8015-19B2-19C0-E6DB-47E82CC527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6F39E88-1D05-734D-94B1-6239380F0D97}" type="slidenum">
              <a:rPr lang="en-US" altLang="en-US" sz="1000">
                <a:latin typeface="Arial Black" panose="020B0604020202020204" pitchFamily="34" charset="0"/>
              </a:rPr>
              <a:pPr>
                <a:spcBef>
                  <a:spcPct val="0"/>
                </a:spcBef>
                <a:buClrTx/>
                <a:buSzTx/>
                <a:buFontTx/>
                <a:buNone/>
              </a:pPr>
              <a:t>25</a:t>
            </a:fld>
            <a:endParaRPr lang="en-US" altLang="en-US" sz="1000">
              <a:latin typeface="Arial Black" panose="020B0604020202020204" pitchFamily="34" charset="0"/>
            </a:endParaRPr>
          </a:p>
        </p:txBody>
      </p:sp>
      <p:sp>
        <p:nvSpPr>
          <p:cNvPr id="46084" name="Date Placeholder 4">
            <a:extLst>
              <a:ext uri="{FF2B5EF4-FFF2-40B4-BE49-F238E27FC236}">
                <a16:creationId xmlns:a16="http://schemas.microsoft.com/office/drawing/2014/main" id="{A05F9926-DD36-4375-CC8D-938E9C6013C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0E94E1A-D502-404B-80C7-4D418EED390E}"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B15853EB-4084-B3FE-DFC1-47222329DD11}"/>
              </a:ext>
            </a:extLst>
          </p:cNvPr>
          <p:cNvSpPr>
            <a:spLocks noGrp="1"/>
          </p:cNvSpPr>
          <p:nvPr>
            <p:ph type="title"/>
          </p:nvPr>
        </p:nvSpPr>
        <p:spPr/>
        <p:txBody>
          <a:bodyPr/>
          <a:lstStyle/>
          <a:p>
            <a:r>
              <a:rPr lang="en-US" altLang="en-US"/>
              <a:t>Concrete Observer</a:t>
            </a:r>
          </a:p>
        </p:txBody>
      </p:sp>
      <p:sp>
        <p:nvSpPr>
          <p:cNvPr id="47106" name="Content Placeholder 2">
            <a:extLst>
              <a:ext uri="{FF2B5EF4-FFF2-40B4-BE49-F238E27FC236}">
                <a16:creationId xmlns:a16="http://schemas.microsoft.com/office/drawing/2014/main" id="{F4998833-59B9-81B4-45C3-AC1043315626}"/>
              </a:ext>
            </a:extLst>
          </p:cNvPr>
          <p:cNvSpPr>
            <a:spLocks noGrp="1"/>
          </p:cNvSpPr>
          <p:nvPr>
            <p:ph idx="1"/>
          </p:nvPr>
        </p:nvSpPr>
        <p:spPr/>
        <p:txBody>
          <a:bodyPr/>
          <a:lstStyle/>
          <a:p>
            <a:r>
              <a:rPr lang="en-US" altLang="en-US"/>
              <a:t>What data needs to be passed in the Constructor?</a:t>
            </a:r>
          </a:p>
          <a:p>
            <a:pPr>
              <a:buFont typeface="Wingdings" pitchFamily="2" charset="2"/>
              <a:buNone/>
            </a:pPr>
            <a:endParaRPr lang="en-US" altLang="en-US"/>
          </a:p>
          <a:p>
            <a:r>
              <a:rPr lang="en-US" altLang="en-US"/>
              <a:t>How will Update get access to the specific properties for the Subject??</a:t>
            </a:r>
          </a:p>
        </p:txBody>
      </p:sp>
      <p:sp>
        <p:nvSpPr>
          <p:cNvPr id="47107" name="Slide Number Placeholder 3">
            <a:extLst>
              <a:ext uri="{FF2B5EF4-FFF2-40B4-BE49-F238E27FC236}">
                <a16:creationId xmlns:a16="http://schemas.microsoft.com/office/drawing/2014/main" id="{423E8F4A-D884-D06E-11D2-C00B4EF29A0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760E16C-E132-644A-BE2B-E2FF010B3B9D}" type="slidenum">
              <a:rPr lang="en-US" altLang="en-US" sz="1000">
                <a:latin typeface="Arial Black" panose="020B0604020202020204" pitchFamily="34" charset="0"/>
              </a:rPr>
              <a:pPr>
                <a:spcBef>
                  <a:spcPct val="0"/>
                </a:spcBef>
                <a:buClrTx/>
                <a:buSzTx/>
                <a:buFontTx/>
                <a:buNone/>
              </a:pPr>
              <a:t>26</a:t>
            </a:fld>
            <a:endParaRPr lang="en-US" altLang="en-US" sz="1000">
              <a:latin typeface="Arial Black" panose="020B0604020202020204" pitchFamily="34" charset="0"/>
            </a:endParaRPr>
          </a:p>
        </p:txBody>
      </p:sp>
      <p:sp>
        <p:nvSpPr>
          <p:cNvPr id="47108" name="Date Placeholder 4">
            <a:extLst>
              <a:ext uri="{FF2B5EF4-FFF2-40B4-BE49-F238E27FC236}">
                <a16:creationId xmlns:a16="http://schemas.microsoft.com/office/drawing/2014/main" id="{4B20A5DD-5930-8F99-63F9-D924F1AB5A60}"/>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54D049F-6678-F942-9A5F-32A877476604}"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0DB9428B-7316-6641-2CC6-EE6E15EE37A7}"/>
              </a:ext>
            </a:extLst>
          </p:cNvPr>
          <p:cNvSpPr>
            <a:spLocks noGrp="1"/>
          </p:cNvSpPr>
          <p:nvPr>
            <p:ph type="title"/>
          </p:nvPr>
        </p:nvSpPr>
        <p:spPr/>
        <p:txBody>
          <a:bodyPr/>
          <a:lstStyle/>
          <a:p>
            <a:r>
              <a:rPr lang="en-US" altLang="en-US"/>
              <a:t>ConcreteObserver</a:t>
            </a:r>
          </a:p>
        </p:txBody>
      </p:sp>
      <p:sp>
        <p:nvSpPr>
          <p:cNvPr id="48130" name="Content Placeholder 2">
            <a:extLst>
              <a:ext uri="{FF2B5EF4-FFF2-40B4-BE49-F238E27FC236}">
                <a16:creationId xmlns:a16="http://schemas.microsoft.com/office/drawing/2014/main" id="{66994FED-94B6-6D20-A753-5496DE5448CC}"/>
              </a:ext>
            </a:extLst>
          </p:cNvPr>
          <p:cNvSpPr>
            <a:spLocks noGrp="1"/>
          </p:cNvSpPr>
          <p:nvPr>
            <p:ph idx="1"/>
          </p:nvPr>
        </p:nvSpPr>
        <p:spPr>
          <a:xfrm>
            <a:off x="228600" y="1219200"/>
            <a:ext cx="8610600" cy="50292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 public class CurrentConditionsDisplay : Observer, IDisplayElement {</a:t>
            </a:r>
          </a:p>
          <a:p>
            <a:pPr>
              <a:buFont typeface="Wingdings" pitchFamily="2" charset="2"/>
              <a:buNone/>
            </a:pPr>
            <a:r>
              <a:rPr lang="en-US" altLang="en-US" sz="1600">
                <a:latin typeface="Courier New" panose="02070309020205020404" pitchFamily="49" charset="0"/>
                <a:cs typeface="Courier New" panose="02070309020205020404" pitchFamily="49" charset="0"/>
              </a:rPr>
              <a:t>    private WeatherData weather;</a:t>
            </a:r>
          </a:p>
          <a:p>
            <a:pPr>
              <a:buFont typeface="Wingdings" pitchFamily="2" charset="2"/>
              <a:buNone/>
            </a:pPr>
            <a:r>
              <a:rPr lang="en-US" altLang="en-US" sz="1600">
                <a:latin typeface="Courier New" panose="02070309020205020404" pitchFamily="49" charset="0"/>
                <a:cs typeface="Courier New" panose="02070309020205020404" pitchFamily="49" charset="0"/>
              </a:rPr>
              <a:t>	 //Fields Not shown</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CurrentConditionsDisplay(WeatherData wd) : base(wd) {</a:t>
            </a:r>
          </a:p>
          <a:p>
            <a:pPr>
              <a:buFont typeface="Wingdings" pitchFamily="2" charset="2"/>
              <a:buNone/>
            </a:pPr>
            <a:r>
              <a:rPr lang="en-US" altLang="en-US" sz="1600">
                <a:latin typeface="Courier New" panose="02070309020205020404" pitchFamily="49" charset="0"/>
                <a:cs typeface="Courier New" panose="02070309020205020404" pitchFamily="49" charset="0"/>
              </a:rPr>
              <a:t>            this.weather = wd;</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override void Update(Subject subject) {</a:t>
            </a:r>
          </a:p>
          <a:p>
            <a:pPr>
              <a:buFont typeface="Wingdings" pitchFamily="2" charset="2"/>
              <a:buNone/>
            </a:pPr>
            <a:r>
              <a:rPr lang="en-US" altLang="en-US" sz="1600">
                <a:latin typeface="Courier New" panose="02070309020205020404" pitchFamily="49" charset="0"/>
                <a:cs typeface="Courier New" panose="02070309020205020404" pitchFamily="49" charset="0"/>
              </a:rPr>
              <a:t>            if (</a:t>
            </a:r>
            <a:r>
              <a:rPr lang="en-US" altLang="en-US" sz="1600" b="1">
                <a:solidFill>
                  <a:srgbClr val="FF0000"/>
                </a:solidFill>
                <a:latin typeface="Courier New" panose="02070309020205020404" pitchFamily="49" charset="0"/>
                <a:cs typeface="Courier New" panose="02070309020205020404" pitchFamily="49" charset="0"/>
              </a:rPr>
              <a:t>subject == this.weather</a:t>
            </a:r>
            <a:r>
              <a:rPr lang="en-US" altLang="en-US" sz="1600">
                <a:latin typeface="Courier New" panose="02070309020205020404" pitchFamily="49" charset="0"/>
                <a:cs typeface="Courier New" panose="02070309020205020404" pitchFamily="49" charset="0"/>
              </a:rPr>
              <a:t>)</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this.temperature = this.weather.getTemp();</a:t>
            </a:r>
          </a:p>
          <a:p>
            <a:pPr>
              <a:buFont typeface="Wingdings" pitchFamily="2" charset="2"/>
              <a:buNone/>
            </a:pPr>
            <a:r>
              <a:rPr lang="en-US" altLang="en-US" sz="1600">
                <a:latin typeface="Courier New" panose="02070309020205020404" pitchFamily="49" charset="0"/>
                <a:cs typeface="Courier New" panose="02070309020205020404" pitchFamily="49" charset="0"/>
              </a:rPr>
              <a:t>                this.humidity = this.weather.getHumidity();</a:t>
            </a:r>
          </a:p>
          <a:p>
            <a:pPr>
              <a:buFont typeface="Wingdings" pitchFamily="2" charset="2"/>
              <a:buNone/>
            </a:pPr>
            <a:r>
              <a:rPr lang="en-US" altLang="en-US" sz="1600">
                <a:latin typeface="Courier New" panose="02070309020205020404" pitchFamily="49" charset="0"/>
                <a:cs typeface="Courier New" panose="02070309020205020404" pitchFamily="49" charset="0"/>
              </a:rPr>
              <a:t>                this.pressure = this.weather.getPressure();</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p:txBody>
      </p:sp>
      <p:sp>
        <p:nvSpPr>
          <p:cNvPr id="48131" name="Slide Number Placeholder 3">
            <a:extLst>
              <a:ext uri="{FF2B5EF4-FFF2-40B4-BE49-F238E27FC236}">
                <a16:creationId xmlns:a16="http://schemas.microsoft.com/office/drawing/2014/main" id="{758ACC77-023C-F605-3B84-56A257F893C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F439072-1C11-4849-917F-4C9A0E686968}" type="slidenum">
              <a:rPr lang="en-US" altLang="en-US" sz="1000">
                <a:latin typeface="Arial Black" panose="020B0604020202020204" pitchFamily="34" charset="0"/>
              </a:rPr>
              <a:pPr>
                <a:spcBef>
                  <a:spcPct val="0"/>
                </a:spcBef>
                <a:buClrTx/>
                <a:buSzTx/>
                <a:buFontTx/>
                <a:buNone/>
              </a:pPr>
              <a:t>27</a:t>
            </a:fld>
            <a:endParaRPr lang="en-US" altLang="en-US" sz="1000">
              <a:latin typeface="Arial Black" panose="020B0604020202020204" pitchFamily="34" charset="0"/>
            </a:endParaRPr>
          </a:p>
        </p:txBody>
      </p:sp>
      <p:sp>
        <p:nvSpPr>
          <p:cNvPr id="48132" name="Date Placeholder 4">
            <a:extLst>
              <a:ext uri="{FF2B5EF4-FFF2-40B4-BE49-F238E27FC236}">
                <a16:creationId xmlns:a16="http://schemas.microsoft.com/office/drawing/2014/main" id="{F4ED3BC1-9E11-66C4-22F4-DB3107FF8D6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7243EE5-37C6-9D44-9E8C-B1494496EAC4}"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1B77A997-7EC6-D9EC-F308-3B9F6E44A05F}"/>
              </a:ext>
            </a:extLst>
          </p:cNvPr>
          <p:cNvSpPr>
            <a:spLocks noGrp="1"/>
          </p:cNvSpPr>
          <p:nvPr>
            <p:ph type="title"/>
          </p:nvPr>
        </p:nvSpPr>
        <p:spPr/>
        <p:txBody>
          <a:bodyPr/>
          <a:lstStyle/>
          <a:p>
            <a:r>
              <a:rPr lang="en-US" altLang="en-US"/>
              <a:t>Client Code</a:t>
            </a:r>
          </a:p>
        </p:txBody>
      </p:sp>
      <p:sp>
        <p:nvSpPr>
          <p:cNvPr id="49154" name="Content Placeholder 2">
            <a:extLst>
              <a:ext uri="{FF2B5EF4-FFF2-40B4-BE49-F238E27FC236}">
                <a16:creationId xmlns:a16="http://schemas.microsoft.com/office/drawing/2014/main" id="{76CCFDC4-1F39-6FDC-0CB4-9F317C67FED0}"/>
              </a:ext>
            </a:extLst>
          </p:cNvPr>
          <p:cNvSpPr>
            <a:spLocks noGrp="1"/>
          </p:cNvSpPr>
          <p:nvPr>
            <p:ph idx="1"/>
          </p:nvPr>
        </p:nvSpPr>
        <p:spPr>
          <a:xfrm>
            <a:off x="457200" y="1371600"/>
            <a:ext cx="8229600" cy="28194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//Create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WeatherData weatherdata = new WeatherData();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//Create Observers (with reference to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CurrentConditionsDisplay currentDisplay = new    CurrentConditionsDisplay(weatherdata);</a:t>
            </a:r>
          </a:p>
          <a:p>
            <a:pPr>
              <a:buFont typeface="Wingdings" pitchFamily="2" charset="2"/>
              <a:buNone/>
            </a:pPr>
            <a:r>
              <a:rPr lang="en-US" altLang="en-US" sz="1600">
                <a:latin typeface="Courier New" panose="02070309020205020404" pitchFamily="49" charset="0"/>
                <a:cs typeface="Courier New" panose="02070309020205020404" pitchFamily="49" charset="0"/>
              </a:rPr>
              <a:t>ForcastDisplay forcastDisplay = new ForcastDisplay(weatherdata);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//Tell Subject to change state</a:t>
            </a:r>
          </a:p>
          <a:p>
            <a:pPr>
              <a:buFont typeface="Wingdings" pitchFamily="2" charset="2"/>
              <a:buNone/>
            </a:pPr>
            <a:r>
              <a:rPr lang="en-US" altLang="en-US" sz="1600">
                <a:latin typeface="Courier New" panose="02070309020205020404" pitchFamily="49" charset="0"/>
                <a:cs typeface="Courier New" panose="02070309020205020404" pitchFamily="49" charset="0"/>
              </a:rPr>
              <a:t>weatherdata.SetMeasurements(80, 65, 30.4f);</a:t>
            </a:r>
          </a:p>
        </p:txBody>
      </p:sp>
      <p:sp>
        <p:nvSpPr>
          <p:cNvPr id="49155" name="Slide Number Placeholder 3">
            <a:extLst>
              <a:ext uri="{FF2B5EF4-FFF2-40B4-BE49-F238E27FC236}">
                <a16:creationId xmlns:a16="http://schemas.microsoft.com/office/drawing/2014/main" id="{C23AA9A0-C040-5BDD-F0B6-569A19567CA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399E4CB-3748-BE42-8B78-0759BE9A0A68}" type="slidenum">
              <a:rPr lang="en-US" altLang="en-US" sz="1000">
                <a:latin typeface="Arial Black" panose="020B0604020202020204" pitchFamily="34" charset="0"/>
              </a:rPr>
              <a:pPr>
                <a:spcBef>
                  <a:spcPct val="0"/>
                </a:spcBef>
                <a:buClrTx/>
                <a:buSzTx/>
                <a:buFontTx/>
                <a:buNone/>
              </a:pPr>
              <a:t>28</a:t>
            </a:fld>
            <a:endParaRPr lang="en-US" altLang="en-US" sz="1000">
              <a:latin typeface="Arial Black" panose="020B0604020202020204" pitchFamily="34" charset="0"/>
            </a:endParaRPr>
          </a:p>
        </p:txBody>
      </p:sp>
      <p:sp>
        <p:nvSpPr>
          <p:cNvPr id="49156" name="Date Placeholder 4">
            <a:extLst>
              <a:ext uri="{FF2B5EF4-FFF2-40B4-BE49-F238E27FC236}">
                <a16:creationId xmlns:a16="http://schemas.microsoft.com/office/drawing/2014/main" id="{2A8E0EFC-294D-54A9-94BC-BF5457F6E8CE}"/>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64DA66E-0F9B-4B4D-A466-BA2CAC2D5015}"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B497D949-1C61-E1CB-8D5A-D066FE239D8B}"/>
              </a:ext>
            </a:extLst>
          </p:cNvPr>
          <p:cNvSpPr>
            <a:spLocks noGrp="1"/>
          </p:cNvSpPr>
          <p:nvPr>
            <p:ph type="title"/>
          </p:nvPr>
        </p:nvSpPr>
        <p:spPr/>
        <p:txBody>
          <a:bodyPr/>
          <a:lstStyle/>
          <a:p>
            <a:r>
              <a:rPr lang="en-US" altLang="en-US"/>
              <a:t>The Big Picture</a:t>
            </a:r>
          </a:p>
        </p:txBody>
      </p:sp>
      <p:sp>
        <p:nvSpPr>
          <p:cNvPr id="50178" name="Slide Number Placeholder 3">
            <a:extLst>
              <a:ext uri="{FF2B5EF4-FFF2-40B4-BE49-F238E27FC236}">
                <a16:creationId xmlns:a16="http://schemas.microsoft.com/office/drawing/2014/main" id="{A656C2ED-F35B-339D-4A15-FE323A6ED0D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A151146-6358-CF42-B35C-CD36A314DA8E}" type="slidenum">
              <a:rPr lang="en-US" altLang="en-US" sz="1000">
                <a:latin typeface="Arial Black" panose="020B0604020202020204" pitchFamily="34" charset="0"/>
              </a:rPr>
              <a:pPr>
                <a:spcBef>
                  <a:spcPct val="0"/>
                </a:spcBef>
                <a:buClrTx/>
                <a:buSzTx/>
                <a:buFontTx/>
                <a:buNone/>
              </a:pPr>
              <a:t>29</a:t>
            </a:fld>
            <a:endParaRPr lang="en-US" altLang="en-US" sz="1000">
              <a:latin typeface="Arial Black" panose="020B0604020202020204" pitchFamily="34" charset="0"/>
            </a:endParaRPr>
          </a:p>
        </p:txBody>
      </p:sp>
      <p:sp>
        <p:nvSpPr>
          <p:cNvPr id="50179" name="Date Placeholder 4">
            <a:extLst>
              <a:ext uri="{FF2B5EF4-FFF2-40B4-BE49-F238E27FC236}">
                <a16:creationId xmlns:a16="http://schemas.microsoft.com/office/drawing/2014/main" id="{1B85307A-323F-05DA-BFC0-5DCE4E939E4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A7FCD4E-A913-6D4C-BF2B-92AA89ED4EAD}" type="datetime1">
              <a:rPr lang="en-US" altLang="en-US" sz="1200" smtClean="0"/>
              <a:pPr>
                <a:spcBef>
                  <a:spcPct val="0"/>
                </a:spcBef>
                <a:buClrTx/>
                <a:buSzTx/>
                <a:buFontTx/>
                <a:buNone/>
              </a:pPr>
              <a:t>11/22/23</a:t>
            </a:fld>
            <a:endParaRPr lang="en-US" altLang="en-US" sz="1200"/>
          </a:p>
        </p:txBody>
      </p:sp>
      <p:pic>
        <p:nvPicPr>
          <p:cNvPr id="50180" name="Picture 6">
            <a:extLst>
              <a:ext uri="{FF2B5EF4-FFF2-40B4-BE49-F238E27FC236}">
                <a16:creationId xmlns:a16="http://schemas.microsoft.com/office/drawing/2014/main" id="{EFAAF123-F87F-EB7C-73F4-EE410498D9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1600200"/>
            <a:ext cx="8596313" cy="3962400"/>
          </a:xfr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35332939-DCFC-6543-E007-15B833D393E5}"/>
              </a:ext>
            </a:extLst>
          </p:cNvPr>
          <p:cNvSpPr>
            <a:spLocks noGrp="1"/>
          </p:cNvSpPr>
          <p:nvPr>
            <p:ph type="title"/>
          </p:nvPr>
        </p:nvSpPr>
        <p:spPr>
          <a:xfrm>
            <a:off x="304800" y="457200"/>
            <a:ext cx="8229600" cy="762000"/>
          </a:xfrm>
        </p:spPr>
        <p:txBody>
          <a:bodyPr/>
          <a:lstStyle/>
          <a:p>
            <a:r>
              <a:rPr lang="en-US" altLang="en-US"/>
              <a:t>In Class Lab</a:t>
            </a:r>
          </a:p>
        </p:txBody>
      </p:sp>
      <p:sp>
        <p:nvSpPr>
          <p:cNvPr id="51202" name="Content Placeholder 2">
            <a:extLst>
              <a:ext uri="{FF2B5EF4-FFF2-40B4-BE49-F238E27FC236}">
                <a16:creationId xmlns:a16="http://schemas.microsoft.com/office/drawing/2014/main" id="{7DFDE2C5-5819-1508-9485-BCBE69E5D944}"/>
              </a:ext>
            </a:extLst>
          </p:cNvPr>
          <p:cNvSpPr>
            <a:spLocks noGrp="1"/>
          </p:cNvSpPr>
          <p:nvPr>
            <p:ph idx="1"/>
          </p:nvPr>
        </p:nvSpPr>
        <p:spPr>
          <a:xfrm>
            <a:off x="304800" y="1143000"/>
            <a:ext cx="8763000" cy="5486400"/>
          </a:xfrm>
        </p:spPr>
        <p:txBody>
          <a:bodyPr/>
          <a:lstStyle/>
          <a:p>
            <a:pPr>
              <a:buFont typeface="Wingdings" pitchFamily="2" charset="2"/>
              <a:buNone/>
            </a:pPr>
            <a:r>
              <a:rPr lang="en-US" altLang="en-US" sz="2000"/>
              <a:t>Our Subject class has one Update function that is called when there is a change in state. But what if we want our Subject to have multiple Update functions?  For example, one Update function could represent a change in state for fields A, B, and C.  Another Update function could represent a change in state for fields X, Y, and Z.</a:t>
            </a:r>
          </a:p>
          <a:p>
            <a:pPr>
              <a:buFont typeface="Wingdings" pitchFamily="2" charset="2"/>
              <a:buNone/>
            </a:pPr>
            <a:endParaRPr lang="en-US" altLang="en-US" sz="2000"/>
          </a:p>
          <a:p>
            <a:pPr>
              <a:buFont typeface="Wingdings" pitchFamily="2" charset="2"/>
              <a:buNone/>
            </a:pPr>
            <a:r>
              <a:rPr lang="en-US" altLang="en-US" sz="2000"/>
              <a:t>Question 1: Will our current implementation of Subject support multiple update events?</a:t>
            </a:r>
          </a:p>
          <a:p>
            <a:pPr>
              <a:buFont typeface="Wingdings" pitchFamily="2" charset="2"/>
              <a:buNone/>
            </a:pPr>
            <a:endParaRPr lang="en-US" altLang="en-US" sz="2000"/>
          </a:p>
          <a:p>
            <a:pPr>
              <a:buFont typeface="Wingdings" pitchFamily="2" charset="2"/>
              <a:buNone/>
            </a:pPr>
            <a:r>
              <a:rPr lang="en-US" altLang="en-US" sz="2000"/>
              <a:t>Question 2: What if we just add another Update() function to Subject?  What is the problem with that?</a:t>
            </a:r>
          </a:p>
          <a:p>
            <a:pPr>
              <a:buFont typeface="Wingdings" pitchFamily="2" charset="2"/>
              <a:buNone/>
            </a:pPr>
            <a:endParaRPr lang="en-US" altLang="en-US" sz="2000"/>
          </a:p>
          <a:p>
            <a:pPr>
              <a:buFont typeface="Wingdings" pitchFamily="2" charset="2"/>
              <a:buNone/>
            </a:pPr>
            <a:r>
              <a:rPr lang="en-US" altLang="en-US" sz="2000"/>
              <a:t>Question 3: Consider this..are our Observers interested in the Subject itself..or in an actual event notifying change?</a:t>
            </a:r>
          </a:p>
          <a:p>
            <a:pPr>
              <a:buFont typeface="Wingdings" pitchFamily="2" charset="2"/>
              <a:buNone/>
            </a:pPr>
            <a:endParaRPr lang="en-US" altLang="en-US" sz="2000"/>
          </a:p>
        </p:txBody>
      </p:sp>
      <p:sp>
        <p:nvSpPr>
          <p:cNvPr id="51203" name="Slide Number Placeholder 3">
            <a:extLst>
              <a:ext uri="{FF2B5EF4-FFF2-40B4-BE49-F238E27FC236}">
                <a16:creationId xmlns:a16="http://schemas.microsoft.com/office/drawing/2014/main" id="{8124629D-B8B8-6DB6-1B53-BE7176D6F7F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386020F-774E-5044-8F18-08BCEBEA2A0E}" type="slidenum">
              <a:rPr lang="en-US" altLang="en-US" sz="1000">
                <a:latin typeface="Arial Black" panose="020B0604020202020204" pitchFamily="34" charset="0"/>
              </a:rPr>
              <a:pPr>
                <a:spcBef>
                  <a:spcPct val="0"/>
                </a:spcBef>
                <a:buClrTx/>
                <a:buSzTx/>
                <a:buFontTx/>
                <a:buNone/>
              </a:pPr>
              <a:t>30</a:t>
            </a:fld>
            <a:endParaRPr lang="en-US" altLang="en-US" sz="1000">
              <a:latin typeface="Arial Black" panose="020B0604020202020204" pitchFamily="34" charset="0"/>
            </a:endParaRPr>
          </a:p>
        </p:txBody>
      </p:sp>
      <p:sp>
        <p:nvSpPr>
          <p:cNvPr id="51204" name="Date Placeholder 4">
            <a:extLst>
              <a:ext uri="{FF2B5EF4-FFF2-40B4-BE49-F238E27FC236}">
                <a16:creationId xmlns:a16="http://schemas.microsoft.com/office/drawing/2014/main" id="{E12DE673-830A-6F28-722D-42778024A6E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7C36D1E-BECF-C441-9F6C-80AC42CBE4D7}"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011E15B7-8FA1-98D2-B74C-03D695A0EBE7}"/>
              </a:ext>
            </a:extLst>
          </p:cNvPr>
          <p:cNvSpPr>
            <a:spLocks noGrp="1"/>
          </p:cNvSpPr>
          <p:nvPr>
            <p:ph type="title"/>
          </p:nvPr>
        </p:nvSpPr>
        <p:spPr/>
        <p:txBody>
          <a:bodyPr/>
          <a:lstStyle/>
          <a:p>
            <a:r>
              <a:rPr lang="en-US" altLang="en-US"/>
              <a:t>Multiple Events</a:t>
            </a:r>
          </a:p>
        </p:txBody>
      </p:sp>
      <p:sp>
        <p:nvSpPr>
          <p:cNvPr id="52226" name="Content Placeholder 2">
            <a:extLst>
              <a:ext uri="{FF2B5EF4-FFF2-40B4-BE49-F238E27FC236}">
                <a16:creationId xmlns:a16="http://schemas.microsoft.com/office/drawing/2014/main" id="{45BAD66C-87A3-F98A-9EC7-424EFF4BF6B7}"/>
              </a:ext>
            </a:extLst>
          </p:cNvPr>
          <p:cNvSpPr>
            <a:spLocks noGrp="1"/>
          </p:cNvSpPr>
          <p:nvPr>
            <p:ph idx="1"/>
          </p:nvPr>
        </p:nvSpPr>
        <p:spPr>
          <a:xfrm>
            <a:off x="381000" y="1143000"/>
            <a:ext cx="8229600" cy="5181600"/>
          </a:xfrm>
        </p:spPr>
        <p:txBody>
          <a:bodyPr/>
          <a:lstStyle/>
          <a:p>
            <a:r>
              <a:rPr lang="en-US" altLang="en-US"/>
              <a:t>Currently, the Observers want to be notified when there is a change in the weather measurements(Temperature, Humidity, Pressure).</a:t>
            </a:r>
          </a:p>
          <a:p>
            <a:endParaRPr lang="en-US" altLang="en-US"/>
          </a:p>
          <a:p>
            <a:r>
              <a:rPr lang="en-US" altLang="en-US"/>
              <a:t>The Subject (WeatherData) now gets the capability to store information about the probability of a disaster occurring.  This is defined by:</a:t>
            </a:r>
          </a:p>
          <a:p>
            <a:pPr lvl="1"/>
            <a:r>
              <a:rPr lang="en-US" altLang="en-US"/>
              <a:t>float HurricaneProbability</a:t>
            </a:r>
          </a:p>
          <a:p>
            <a:pPr lvl="1"/>
            <a:r>
              <a:rPr lang="en-US" altLang="en-US"/>
              <a:t>float TornadoProbability</a:t>
            </a:r>
          </a:p>
          <a:p>
            <a:endParaRPr lang="en-US" altLang="en-US"/>
          </a:p>
          <a:p>
            <a:r>
              <a:rPr lang="en-US" altLang="en-US"/>
              <a:t>The Subject needs two notification events:</a:t>
            </a:r>
          </a:p>
          <a:p>
            <a:pPr lvl="1"/>
            <a:r>
              <a:rPr lang="en-US" altLang="en-US"/>
              <a:t>WeatherMeasureChanged </a:t>
            </a:r>
          </a:p>
          <a:p>
            <a:pPr lvl="1"/>
            <a:r>
              <a:rPr lang="en-US" altLang="en-US"/>
              <a:t>DisasterProbabiltyChanged</a:t>
            </a:r>
          </a:p>
          <a:p>
            <a:pPr lvl="1"/>
            <a:endParaRPr lang="en-US" altLang="en-US"/>
          </a:p>
          <a:p>
            <a:pPr lvl="1"/>
            <a:endParaRPr lang="en-US" altLang="en-US"/>
          </a:p>
          <a:p>
            <a:endParaRPr lang="en-US" altLang="en-US"/>
          </a:p>
        </p:txBody>
      </p:sp>
      <p:sp>
        <p:nvSpPr>
          <p:cNvPr id="52227" name="Slide Number Placeholder 3">
            <a:extLst>
              <a:ext uri="{FF2B5EF4-FFF2-40B4-BE49-F238E27FC236}">
                <a16:creationId xmlns:a16="http://schemas.microsoft.com/office/drawing/2014/main" id="{0F68D121-CDC3-7873-3A59-90AA6E73215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0F1B631-E1CE-7C45-9EC9-127D3974B4DB}" type="slidenum">
              <a:rPr lang="en-US" altLang="en-US" sz="1000">
                <a:latin typeface="Arial Black" panose="020B0604020202020204" pitchFamily="34" charset="0"/>
              </a:rPr>
              <a:pPr>
                <a:spcBef>
                  <a:spcPct val="0"/>
                </a:spcBef>
                <a:buClrTx/>
                <a:buSzTx/>
                <a:buFontTx/>
                <a:buNone/>
              </a:pPr>
              <a:t>31</a:t>
            </a:fld>
            <a:endParaRPr lang="en-US" altLang="en-US" sz="1000">
              <a:latin typeface="Arial Black" panose="020B0604020202020204" pitchFamily="34" charset="0"/>
            </a:endParaRPr>
          </a:p>
        </p:txBody>
      </p:sp>
      <p:sp>
        <p:nvSpPr>
          <p:cNvPr id="52228" name="Date Placeholder 4">
            <a:extLst>
              <a:ext uri="{FF2B5EF4-FFF2-40B4-BE49-F238E27FC236}">
                <a16:creationId xmlns:a16="http://schemas.microsoft.com/office/drawing/2014/main" id="{F7507494-4A10-3B47-9B9A-2A47852D89D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F999FFD-EB9C-E74D-B7AE-458AF7967AA3}"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FA582A58-2B5C-07AB-A6D3-149519A81891}"/>
              </a:ext>
            </a:extLst>
          </p:cNvPr>
          <p:cNvSpPr>
            <a:spLocks noGrp="1"/>
          </p:cNvSpPr>
          <p:nvPr>
            <p:ph type="title"/>
          </p:nvPr>
        </p:nvSpPr>
        <p:spPr/>
        <p:txBody>
          <a:bodyPr/>
          <a:lstStyle/>
          <a:p>
            <a:r>
              <a:rPr lang="en-US" altLang="en-US"/>
              <a:t>Problem</a:t>
            </a:r>
          </a:p>
        </p:txBody>
      </p:sp>
      <p:sp>
        <p:nvSpPr>
          <p:cNvPr id="54274" name="Content Placeholder 2">
            <a:extLst>
              <a:ext uri="{FF2B5EF4-FFF2-40B4-BE49-F238E27FC236}">
                <a16:creationId xmlns:a16="http://schemas.microsoft.com/office/drawing/2014/main" id="{6CD4E5D2-A48B-5B52-F87D-8EB668193702}"/>
              </a:ext>
            </a:extLst>
          </p:cNvPr>
          <p:cNvSpPr>
            <a:spLocks noGrp="1"/>
          </p:cNvSpPr>
          <p:nvPr>
            <p:ph idx="1"/>
          </p:nvPr>
        </p:nvSpPr>
        <p:spPr/>
        <p:txBody>
          <a:bodyPr/>
          <a:lstStyle/>
          <a:p>
            <a:r>
              <a:rPr lang="en-US" altLang="en-US"/>
              <a:t>The Subject (WeatherData) only has one notification event.  We have a one-to-one relationship between Subject and Event.</a:t>
            </a:r>
          </a:p>
          <a:p>
            <a:endParaRPr lang="en-US" altLang="en-US"/>
          </a:p>
          <a:p>
            <a:r>
              <a:rPr lang="en-US" altLang="en-US"/>
              <a:t>We need a one-to-many relationship.  One Subject can have one or more events!</a:t>
            </a:r>
          </a:p>
        </p:txBody>
      </p:sp>
      <p:sp>
        <p:nvSpPr>
          <p:cNvPr id="54275" name="Slide Number Placeholder 3">
            <a:extLst>
              <a:ext uri="{FF2B5EF4-FFF2-40B4-BE49-F238E27FC236}">
                <a16:creationId xmlns:a16="http://schemas.microsoft.com/office/drawing/2014/main" id="{99B49E7F-442C-61BB-918F-E9B5A3ECF9A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2BD8821-6532-CF4D-9E2E-A21EAA46E75F}" type="slidenum">
              <a:rPr lang="en-US" altLang="en-US" sz="1000">
                <a:latin typeface="Arial Black" panose="020B0604020202020204" pitchFamily="34" charset="0"/>
              </a:rPr>
              <a:pPr>
                <a:spcBef>
                  <a:spcPct val="0"/>
                </a:spcBef>
                <a:buClrTx/>
                <a:buSzTx/>
                <a:buFontTx/>
                <a:buNone/>
              </a:pPr>
              <a:t>32</a:t>
            </a:fld>
            <a:endParaRPr lang="en-US" altLang="en-US" sz="1000">
              <a:latin typeface="Arial Black" panose="020B0604020202020204" pitchFamily="34" charset="0"/>
            </a:endParaRPr>
          </a:p>
        </p:txBody>
      </p:sp>
      <p:sp>
        <p:nvSpPr>
          <p:cNvPr id="54276" name="Date Placeholder 4">
            <a:extLst>
              <a:ext uri="{FF2B5EF4-FFF2-40B4-BE49-F238E27FC236}">
                <a16:creationId xmlns:a16="http://schemas.microsoft.com/office/drawing/2014/main" id="{E4B90B75-441A-4357-B9FD-0329C6CBDA7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8CA5E99-0C50-174F-8613-0204092F456D}"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DF2C6BCB-DEC9-D6FF-C500-9052CA8CEDDB}"/>
              </a:ext>
            </a:extLst>
          </p:cNvPr>
          <p:cNvSpPr>
            <a:spLocks noGrp="1"/>
          </p:cNvSpPr>
          <p:nvPr>
            <p:ph type="title"/>
          </p:nvPr>
        </p:nvSpPr>
        <p:spPr/>
        <p:txBody>
          <a:bodyPr/>
          <a:lstStyle/>
          <a:p>
            <a:r>
              <a:rPr lang="en-US" altLang="en-US"/>
              <a:t>Analysis</a:t>
            </a:r>
          </a:p>
        </p:txBody>
      </p:sp>
      <p:sp>
        <p:nvSpPr>
          <p:cNvPr id="55298" name="Content Placeholder 2">
            <a:extLst>
              <a:ext uri="{FF2B5EF4-FFF2-40B4-BE49-F238E27FC236}">
                <a16:creationId xmlns:a16="http://schemas.microsoft.com/office/drawing/2014/main" id="{066424B9-E1EB-1745-68B0-8E95A7DC1E82}"/>
              </a:ext>
            </a:extLst>
          </p:cNvPr>
          <p:cNvSpPr>
            <a:spLocks noGrp="1"/>
          </p:cNvSpPr>
          <p:nvPr>
            <p:ph idx="1"/>
          </p:nvPr>
        </p:nvSpPr>
        <p:spPr>
          <a:xfrm>
            <a:off x="381000" y="1066800"/>
            <a:ext cx="8229600" cy="5410200"/>
          </a:xfrm>
        </p:spPr>
        <p:txBody>
          <a:bodyPr/>
          <a:lstStyle/>
          <a:p>
            <a:pPr>
              <a:buFont typeface="Wingdings" pitchFamily="2" charset="2"/>
              <a:buNone/>
            </a:pPr>
            <a:r>
              <a:rPr lang="en-US" altLang="en-US"/>
              <a:t>Our current Subject has a one-to-many relationship with Observers.</a:t>
            </a:r>
          </a:p>
          <a:p>
            <a:pPr>
              <a:buFont typeface="Wingdings" pitchFamily="2" charset="2"/>
              <a:buNone/>
            </a:pPr>
            <a:endParaRPr lang="en-US" altLang="en-US"/>
          </a:p>
          <a:p>
            <a:pPr>
              <a:buFont typeface="Wingdings" pitchFamily="2" charset="2"/>
              <a:buNone/>
            </a:pPr>
            <a:r>
              <a:rPr lang="en-US" altLang="en-US"/>
              <a:t>Subject  </a:t>
            </a:r>
            <a:r>
              <a:rPr lang="en-US" altLang="en-US">
                <a:sym typeface="Wingdings" pitchFamily="2" charset="2"/>
              </a:rPr>
              <a:t> Observer1</a:t>
            </a:r>
          </a:p>
          <a:p>
            <a:pPr>
              <a:buFont typeface="Wingdings" pitchFamily="2" charset="2"/>
              <a:buNone/>
            </a:pPr>
            <a:r>
              <a:rPr lang="en-US" altLang="en-US">
                <a:sym typeface="Wingdings" pitchFamily="2" charset="2"/>
              </a:rPr>
              <a:t>		    Observer2</a:t>
            </a:r>
          </a:p>
          <a:p>
            <a:pPr>
              <a:buFont typeface="Wingdings" pitchFamily="2" charset="2"/>
              <a:buNone/>
            </a:pPr>
            <a:r>
              <a:rPr lang="en-US" altLang="en-US">
                <a:sym typeface="Wingdings" pitchFamily="2" charset="2"/>
              </a:rPr>
              <a:t>		    Observer3</a:t>
            </a:r>
            <a:endParaRPr lang="en-US" altLang="en-US"/>
          </a:p>
          <a:p>
            <a:pPr>
              <a:buFont typeface="Wingdings" pitchFamily="2" charset="2"/>
              <a:buNone/>
            </a:pPr>
            <a:endParaRPr lang="en-US" altLang="en-US">
              <a:sym typeface="Wingdings" pitchFamily="2" charset="2"/>
            </a:endParaRPr>
          </a:p>
          <a:p>
            <a:pPr>
              <a:buFont typeface="Wingdings" pitchFamily="2" charset="2"/>
              <a:buNone/>
            </a:pPr>
            <a:r>
              <a:rPr lang="en-US" altLang="en-US">
                <a:sym typeface="Wingdings" pitchFamily="2" charset="2"/>
              </a:rPr>
              <a:t>A subject has one event.  So we can think about this as:</a:t>
            </a:r>
          </a:p>
          <a:p>
            <a:pPr>
              <a:buFont typeface="Wingdings" pitchFamily="2" charset="2"/>
              <a:buNone/>
            </a:pPr>
            <a:endParaRPr lang="en-US" altLang="en-US">
              <a:sym typeface="Wingdings" pitchFamily="2" charset="2"/>
            </a:endParaRPr>
          </a:p>
          <a:p>
            <a:pPr>
              <a:buFont typeface="Wingdings" pitchFamily="2" charset="2"/>
              <a:buNone/>
            </a:pPr>
            <a:r>
              <a:rPr lang="en-US" altLang="en-US">
                <a:sym typeface="Wingdings" pitchFamily="2" charset="2"/>
              </a:rPr>
              <a:t>Subject  Event  Observer1</a:t>
            </a:r>
          </a:p>
          <a:p>
            <a:pPr>
              <a:buFont typeface="Wingdings" pitchFamily="2" charset="2"/>
              <a:buNone/>
            </a:pPr>
            <a:r>
              <a:rPr lang="en-US" altLang="en-US">
                <a:sym typeface="Wingdings" pitchFamily="2" charset="2"/>
              </a:rPr>
              <a:t>			       Observer2</a:t>
            </a:r>
          </a:p>
          <a:p>
            <a:pPr>
              <a:buFont typeface="Wingdings" pitchFamily="2" charset="2"/>
              <a:buNone/>
            </a:pPr>
            <a:r>
              <a:rPr lang="en-US" altLang="en-US">
                <a:sym typeface="Wingdings" pitchFamily="2" charset="2"/>
              </a:rPr>
              <a:t>			       Observer3</a:t>
            </a:r>
          </a:p>
          <a:p>
            <a:pPr>
              <a:buFont typeface="Wingdings" pitchFamily="2" charset="2"/>
              <a:buNone/>
            </a:pPr>
            <a:endParaRPr lang="en-US" altLang="en-US">
              <a:sym typeface="Wingdings" pitchFamily="2" charset="2"/>
            </a:endParaRPr>
          </a:p>
        </p:txBody>
      </p:sp>
      <p:sp>
        <p:nvSpPr>
          <p:cNvPr id="55299" name="Slide Number Placeholder 3">
            <a:extLst>
              <a:ext uri="{FF2B5EF4-FFF2-40B4-BE49-F238E27FC236}">
                <a16:creationId xmlns:a16="http://schemas.microsoft.com/office/drawing/2014/main" id="{F809DC24-4826-F64F-3B7A-4DED32F1EA7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2967E6E-5458-884A-A0B3-1C374B73D3F2}" type="slidenum">
              <a:rPr lang="en-US" altLang="en-US" sz="1000">
                <a:latin typeface="Arial Black" panose="020B0604020202020204" pitchFamily="34" charset="0"/>
              </a:rPr>
              <a:pPr>
                <a:spcBef>
                  <a:spcPct val="0"/>
                </a:spcBef>
                <a:buClrTx/>
                <a:buSzTx/>
                <a:buFontTx/>
                <a:buNone/>
              </a:pPr>
              <a:t>33</a:t>
            </a:fld>
            <a:endParaRPr lang="en-US" altLang="en-US" sz="1000">
              <a:latin typeface="Arial Black" panose="020B0604020202020204" pitchFamily="34" charset="0"/>
            </a:endParaRPr>
          </a:p>
        </p:txBody>
      </p:sp>
      <p:sp>
        <p:nvSpPr>
          <p:cNvPr id="55300" name="Date Placeholder 4">
            <a:extLst>
              <a:ext uri="{FF2B5EF4-FFF2-40B4-BE49-F238E27FC236}">
                <a16:creationId xmlns:a16="http://schemas.microsoft.com/office/drawing/2014/main" id="{3F74444A-CD44-356D-45CB-2FB8F38CBE8C}"/>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7F0439A-0DBF-124A-B33C-B92D71A73DD3}"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D997C38-1D18-7C69-5208-5D31C40B0AA8}"/>
              </a:ext>
            </a:extLst>
          </p:cNvPr>
          <p:cNvSpPr>
            <a:spLocks noGrp="1"/>
          </p:cNvSpPr>
          <p:nvPr>
            <p:ph type="title"/>
          </p:nvPr>
        </p:nvSpPr>
        <p:spPr/>
        <p:txBody>
          <a:bodyPr/>
          <a:lstStyle/>
          <a:p>
            <a:r>
              <a:rPr lang="en-US" altLang="en-US"/>
              <a:t>Analysis</a:t>
            </a:r>
          </a:p>
        </p:txBody>
      </p:sp>
      <p:sp>
        <p:nvSpPr>
          <p:cNvPr id="56322" name="Content Placeholder 2">
            <a:extLst>
              <a:ext uri="{FF2B5EF4-FFF2-40B4-BE49-F238E27FC236}">
                <a16:creationId xmlns:a16="http://schemas.microsoft.com/office/drawing/2014/main" id="{72388F3A-EC5C-17D9-B6C0-DD1EE20AD068}"/>
              </a:ext>
            </a:extLst>
          </p:cNvPr>
          <p:cNvSpPr>
            <a:spLocks noGrp="1"/>
          </p:cNvSpPr>
          <p:nvPr>
            <p:ph idx="1"/>
          </p:nvPr>
        </p:nvSpPr>
        <p:spPr>
          <a:xfrm>
            <a:off x="457200" y="1219200"/>
            <a:ext cx="8229600" cy="5410200"/>
          </a:xfrm>
        </p:spPr>
        <p:txBody>
          <a:bodyPr/>
          <a:lstStyle/>
          <a:p>
            <a:pPr>
              <a:buFont typeface="Wingdings" pitchFamily="2" charset="2"/>
              <a:buNone/>
            </a:pPr>
            <a:r>
              <a:rPr lang="en-US" altLang="en-US">
                <a:sym typeface="Wingdings" pitchFamily="2" charset="2"/>
              </a:rPr>
              <a:t>We would like our Subject to contain multiple events.</a:t>
            </a:r>
          </a:p>
          <a:p>
            <a:pPr>
              <a:buFont typeface="Wingdings" pitchFamily="2" charset="2"/>
              <a:buNone/>
            </a:pPr>
            <a:endParaRPr lang="en-US" altLang="en-US">
              <a:sym typeface="Wingdings" pitchFamily="2" charset="2"/>
            </a:endParaRPr>
          </a:p>
          <a:p>
            <a:pPr>
              <a:buFont typeface="Wingdings" pitchFamily="2" charset="2"/>
              <a:buNone/>
            </a:pPr>
            <a:r>
              <a:rPr lang="en-US" altLang="en-US">
                <a:sym typeface="Wingdings" pitchFamily="2" charset="2"/>
              </a:rPr>
              <a:t>Subject  Event1</a:t>
            </a:r>
          </a:p>
          <a:p>
            <a:pPr>
              <a:buFont typeface="Wingdings" pitchFamily="2" charset="2"/>
              <a:buNone/>
            </a:pPr>
            <a:r>
              <a:rPr lang="en-US" altLang="en-US">
                <a:sym typeface="Wingdings" pitchFamily="2" charset="2"/>
              </a:rPr>
              <a:t>		   Event2</a:t>
            </a:r>
          </a:p>
          <a:p>
            <a:pPr>
              <a:buFont typeface="Wingdings" pitchFamily="2" charset="2"/>
              <a:buNone/>
            </a:pPr>
            <a:r>
              <a:rPr lang="en-US" altLang="en-US">
                <a:sym typeface="Wingdings" pitchFamily="2" charset="2"/>
              </a:rPr>
              <a:t>		   Event3</a:t>
            </a:r>
          </a:p>
          <a:p>
            <a:pPr>
              <a:buFont typeface="Wingdings" pitchFamily="2" charset="2"/>
              <a:buNone/>
            </a:pPr>
            <a:endParaRPr lang="en-US" altLang="en-US">
              <a:sym typeface="Wingdings" pitchFamily="2" charset="2"/>
            </a:endParaRPr>
          </a:p>
          <a:p>
            <a:pPr>
              <a:buFont typeface="Wingdings" pitchFamily="2" charset="2"/>
              <a:buNone/>
            </a:pPr>
            <a:r>
              <a:rPr lang="en-US" altLang="en-US">
                <a:sym typeface="Wingdings" pitchFamily="2" charset="2"/>
              </a:rPr>
              <a:t>Therefore, we need a structure like the following:</a:t>
            </a:r>
          </a:p>
          <a:p>
            <a:pPr>
              <a:buFont typeface="Wingdings" pitchFamily="2" charset="2"/>
              <a:buNone/>
            </a:pPr>
            <a:endParaRPr lang="en-US" altLang="en-US">
              <a:sym typeface="Wingdings" pitchFamily="2" charset="2"/>
            </a:endParaRPr>
          </a:p>
          <a:p>
            <a:pPr>
              <a:buFont typeface="Wingdings" pitchFamily="2" charset="2"/>
              <a:buNone/>
            </a:pPr>
            <a:r>
              <a:rPr lang="en-US" altLang="en-US" sz="1600">
                <a:sym typeface="Wingdings" pitchFamily="2" charset="2"/>
              </a:rPr>
              <a:t>Subject         Event1 </a:t>
            </a:r>
          </a:p>
          <a:p>
            <a:pPr>
              <a:buFont typeface="Wingdings" pitchFamily="2" charset="2"/>
              <a:buNone/>
            </a:pPr>
            <a:r>
              <a:rPr lang="en-US" altLang="en-US" sz="1600">
                <a:sym typeface="Wingdings" pitchFamily="2" charset="2"/>
              </a:rPr>
              <a:t>			  Observer1 </a:t>
            </a:r>
          </a:p>
          <a:p>
            <a:pPr>
              <a:buFont typeface="Wingdings" pitchFamily="2" charset="2"/>
              <a:buNone/>
            </a:pPr>
            <a:r>
              <a:rPr lang="en-US" altLang="en-US" sz="1600">
                <a:sym typeface="Wingdings" pitchFamily="2" charset="2"/>
              </a:rPr>
              <a:t>			  Observer2</a:t>
            </a:r>
          </a:p>
          <a:p>
            <a:pPr>
              <a:buFont typeface="Wingdings" pitchFamily="2" charset="2"/>
              <a:buNone/>
            </a:pPr>
            <a:r>
              <a:rPr lang="en-US" altLang="en-US" sz="1600">
                <a:sym typeface="Wingdings" pitchFamily="2" charset="2"/>
              </a:rPr>
              <a:t>		    Event2</a:t>
            </a:r>
          </a:p>
          <a:p>
            <a:pPr>
              <a:buFont typeface="Wingdings" pitchFamily="2" charset="2"/>
              <a:buNone/>
            </a:pPr>
            <a:r>
              <a:rPr lang="en-US" altLang="en-US" sz="1600">
                <a:sym typeface="Wingdings" pitchFamily="2" charset="2"/>
              </a:rPr>
              <a:t>			 Observer1</a:t>
            </a:r>
          </a:p>
          <a:p>
            <a:pPr>
              <a:buFont typeface="Wingdings" pitchFamily="2" charset="2"/>
              <a:buNone/>
            </a:pPr>
            <a:r>
              <a:rPr lang="en-US" altLang="en-US" sz="1600">
                <a:sym typeface="Wingdings" pitchFamily="2" charset="2"/>
              </a:rPr>
              <a:t>			 Observer3</a:t>
            </a:r>
          </a:p>
          <a:p>
            <a:pPr>
              <a:buFont typeface="Wingdings" pitchFamily="2" charset="2"/>
              <a:buNone/>
            </a:pPr>
            <a:r>
              <a:rPr lang="en-US" altLang="en-US">
                <a:sym typeface="Wingdings" pitchFamily="2" charset="2"/>
              </a:rPr>
              <a:t>			</a:t>
            </a:r>
          </a:p>
        </p:txBody>
      </p:sp>
      <p:sp>
        <p:nvSpPr>
          <p:cNvPr id="56323" name="Slide Number Placeholder 3">
            <a:extLst>
              <a:ext uri="{FF2B5EF4-FFF2-40B4-BE49-F238E27FC236}">
                <a16:creationId xmlns:a16="http://schemas.microsoft.com/office/drawing/2014/main" id="{1E9EF190-3D7E-5413-B1F2-6CD83702C2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9D8DA3A-E1CB-E74B-B35C-47E85B7F41F8}" type="slidenum">
              <a:rPr lang="en-US" altLang="en-US" sz="1000">
                <a:latin typeface="Arial Black" panose="020B0604020202020204" pitchFamily="34" charset="0"/>
              </a:rPr>
              <a:pPr>
                <a:spcBef>
                  <a:spcPct val="0"/>
                </a:spcBef>
                <a:buClrTx/>
                <a:buSzTx/>
                <a:buFontTx/>
                <a:buNone/>
              </a:pPr>
              <a:t>34</a:t>
            </a:fld>
            <a:endParaRPr lang="en-US" altLang="en-US" sz="1000">
              <a:latin typeface="Arial Black" panose="020B0604020202020204" pitchFamily="34" charset="0"/>
            </a:endParaRPr>
          </a:p>
        </p:txBody>
      </p:sp>
      <p:sp>
        <p:nvSpPr>
          <p:cNvPr id="56324" name="Date Placeholder 4">
            <a:extLst>
              <a:ext uri="{FF2B5EF4-FFF2-40B4-BE49-F238E27FC236}">
                <a16:creationId xmlns:a16="http://schemas.microsoft.com/office/drawing/2014/main" id="{0D882350-0A6B-676F-B186-FE7FB9E294E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688A90C-FA4B-8240-900B-B6246102C1AA}"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B6C87862-D1C0-124D-1DD7-FEB782A78DA2}"/>
              </a:ext>
            </a:extLst>
          </p:cNvPr>
          <p:cNvSpPr>
            <a:spLocks noGrp="1"/>
          </p:cNvSpPr>
          <p:nvPr>
            <p:ph type="title"/>
          </p:nvPr>
        </p:nvSpPr>
        <p:spPr/>
        <p:txBody>
          <a:bodyPr/>
          <a:lstStyle/>
          <a:p>
            <a:r>
              <a:rPr lang="en-US" altLang="en-US"/>
              <a:t>Subject (Current Implementation)</a:t>
            </a:r>
          </a:p>
        </p:txBody>
      </p:sp>
      <p:sp>
        <p:nvSpPr>
          <p:cNvPr id="57346" name="Slide Number Placeholder 3">
            <a:extLst>
              <a:ext uri="{FF2B5EF4-FFF2-40B4-BE49-F238E27FC236}">
                <a16:creationId xmlns:a16="http://schemas.microsoft.com/office/drawing/2014/main" id="{06033ABC-9BAF-08F8-EACC-34C76705DFC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25D96AF-B6DA-4E4A-A230-C1A4D516FDC1}" type="slidenum">
              <a:rPr lang="en-US" altLang="en-US" sz="1000">
                <a:latin typeface="Arial Black" panose="020B0604020202020204" pitchFamily="34" charset="0"/>
              </a:rPr>
              <a:pPr>
                <a:spcBef>
                  <a:spcPct val="0"/>
                </a:spcBef>
                <a:buClrTx/>
                <a:buSzTx/>
                <a:buFontTx/>
                <a:buNone/>
              </a:pPr>
              <a:t>35</a:t>
            </a:fld>
            <a:endParaRPr lang="en-US" altLang="en-US" sz="1000">
              <a:latin typeface="Arial Black" panose="020B0604020202020204" pitchFamily="34" charset="0"/>
            </a:endParaRPr>
          </a:p>
        </p:txBody>
      </p:sp>
      <p:sp>
        <p:nvSpPr>
          <p:cNvPr id="57347" name="Date Placeholder 4">
            <a:extLst>
              <a:ext uri="{FF2B5EF4-FFF2-40B4-BE49-F238E27FC236}">
                <a16:creationId xmlns:a16="http://schemas.microsoft.com/office/drawing/2014/main" id="{A5EF969C-915B-9E07-1CF8-1FF98B1759E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EE3F49B-1338-5946-A94B-E79879508AB0}" type="datetime1">
              <a:rPr lang="en-US" altLang="en-US" sz="1200" smtClean="0"/>
              <a:pPr>
                <a:spcBef>
                  <a:spcPct val="0"/>
                </a:spcBef>
                <a:buClrTx/>
                <a:buSzTx/>
                <a:buFontTx/>
                <a:buNone/>
              </a:pPr>
              <a:t>11/22/23</a:t>
            </a:fld>
            <a:endParaRPr lang="en-US" altLang="en-US" sz="1200"/>
          </a:p>
        </p:txBody>
      </p:sp>
      <p:pic>
        <p:nvPicPr>
          <p:cNvPr id="57348" name="Picture 2">
            <a:extLst>
              <a:ext uri="{FF2B5EF4-FFF2-40B4-BE49-F238E27FC236}">
                <a16:creationId xmlns:a16="http://schemas.microsoft.com/office/drawing/2014/main" id="{7AF3019B-C471-036E-96A7-B75835DB5E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09600" y="1371600"/>
            <a:ext cx="2362200" cy="3667125"/>
          </a:xfrm>
          <a:noFill/>
        </p:spPr>
      </p:pic>
      <p:cxnSp>
        <p:nvCxnSpPr>
          <p:cNvPr id="57349" name="Straight Arrow Connector 7">
            <a:extLst>
              <a:ext uri="{FF2B5EF4-FFF2-40B4-BE49-F238E27FC236}">
                <a16:creationId xmlns:a16="http://schemas.microsoft.com/office/drawing/2014/main" id="{1EA39E43-2BE1-B9FE-BD8C-08634E229747}"/>
              </a:ext>
            </a:extLst>
          </p:cNvPr>
          <p:cNvCxnSpPr>
            <a:cxnSpLocks noChangeShapeType="1"/>
          </p:cNvCxnSpPr>
          <p:nvPr/>
        </p:nvCxnSpPr>
        <p:spPr bwMode="auto">
          <a:xfrm rot="10800000">
            <a:off x="3505200" y="1828800"/>
            <a:ext cx="12192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7350" name="TextBox 8">
            <a:extLst>
              <a:ext uri="{FF2B5EF4-FFF2-40B4-BE49-F238E27FC236}">
                <a16:creationId xmlns:a16="http://schemas.microsoft.com/office/drawing/2014/main" id="{2F9395B8-E3BB-5EBB-3C22-0DF474B148C6}"/>
              </a:ext>
            </a:extLst>
          </p:cNvPr>
          <p:cNvSpPr txBox="1">
            <a:spLocks noChangeArrowheads="1"/>
          </p:cNvSpPr>
          <p:nvPr/>
        </p:nvSpPr>
        <p:spPr bwMode="auto">
          <a:xfrm>
            <a:off x="4953000" y="1447800"/>
            <a:ext cx="2819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Our Subject class contains the one notification event.</a:t>
            </a:r>
          </a:p>
        </p:txBody>
      </p:sp>
      <p:cxnSp>
        <p:nvCxnSpPr>
          <p:cNvPr id="57351" name="Straight Arrow Connector 11">
            <a:extLst>
              <a:ext uri="{FF2B5EF4-FFF2-40B4-BE49-F238E27FC236}">
                <a16:creationId xmlns:a16="http://schemas.microsoft.com/office/drawing/2014/main" id="{0628FB83-984F-C03C-D385-0466E84CB87B}"/>
              </a:ext>
            </a:extLst>
          </p:cNvPr>
          <p:cNvCxnSpPr>
            <a:cxnSpLocks noChangeShapeType="1"/>
          </p:cNvCxnSpPr>
          <p:nvPr/>
        </p:nvCxnSpPr>
        <p:spPr bwMode="auto">
          <a:xfrm rot="10800000">
            <a:off x="3352800" y="4419600"/>
            <a:ext cx="9144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57352" name="TextBox 13">
            <a:extLst>
              <a:ext uri="{FF2B5EF4-FFF2-40B4-BE49-F238E27FC236}">
                <a16:creationId xmlns:a16="http://schemas.microsoft.com/office/drawing/2014/main" id="{05ABEC9D-0390-9BE8-D6FA-8335C76A4ED8}"/>
              </a:ext>
            </a:extLst>
          </p:cNvPr>
          <p:cNvSpPr txBox="1">
            <a:spLocks noChangeArrowheads="1"/>
          </p:cNvSpPr>
          <p:nvPr/>
        </p:nvSpPr>
        <p:spPr bwMode="auto">
          <a:xfrm>
            <a:off x="4648200" y="4114800"/>
            <a:ext cx="3581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Our ConcreteSubject gets the notification event by inheritance.</a:t>
            </a:r>
          </a:p>
        </p:txBody>
      </p:sp>
      <p:sp>
        <p:nvSpPr>
          <p:cNvPr id="57353" name="TextBox 14">
            <a:extLst>
              <a:ext uri="{FF2B5EF4-FFF2-40B4-BE49-F238E27FC236}">
                <a16:creationId xmlns:a16="http://schemas.microsoft.com/office/drawing/2014/main" id="{F11FB7E8-A7D7-9660-414B-29B865BC1E56}"/>
              </a:ext>
            </a:extLst>
          </p:cNvPr>
          <p:cNvSpPr txBox="1">
            <a:spLocks noChangeArrowheads="1"/>
          </p:cNvSpPr>
          <p:nvPr/>
        </p:nvSpPr>
        <p:spPr bwMode="auto">
          <a:xfrm>
            <a:off x="1828800" y="5638800"/>
            <a:ext cx="5791200"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We want our ConcreteSubject to contain multiple events.  Does Inheritance make sense??? Would could we use instead?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7FC93D14-8BBC-88B2-FB9E-210F80CEFA02}"/>
              </a:ext>
            </a:extLst>
          </p:cNvPr>
          <p:cNvSpPr>
            <a:spLocks noGrp="1"/>
          </p:cNvSpPr>
          <p:nvPr>
            <p:ph type="title"/>
          </p:nvPr>
        </p:nvSpPr>
        <p:spPr/>
        <p:txBody>
          <a:bodyPr/>
          <a:lstStyle/>
          <a:p>
            <a:r>
              <a:rPr lang="en-US" altLang="en-US"/>
              <a:t>Subject/SubjectEvent</a:t>
            </a:r>
          </a:p>
        </p:txBody>
      </p:sp>
      <p:sp>
        <p:nvSpPr>
          <p:cNvPr id="58370" name="Slide Number Placeholder 3">
            <a:extLst>
              <a:ext uri="{FF2B5EF4-FFF2-40B4-BE49-F238E27FC236}">
                <a16:creationId xmlns:a16="http://schemas.microsoft.com/office/drawing/2014/main" id="{3DDA838D-7B2A-266B-B50C-F9BA55DCCDD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F57429A0-3AF3-C14A-9387-15F7E1175C2D}" type="slidenum">
              <a:rPr lang="en-US" altLang="en-US" sz="1000">
                <a:latin typeface="Arial Black" panose="020B0604020202020204" pitchFamily="34" charset="0"/>
              </a:rPr>
              <a:pPr>
                <a:spcBef>
                  <a:spcPct val="0"/>
                </a:spcBef>
                <a:buClrTx/>
                <a:buSzTx/>
                <a:buFontTx/>
                <a:buNone/>
              </a:pPr>
              <a:t>36</a:t>
            </a:fld>
            <a:endParaRPr lang="en-US" altLang="en-US" sz="1000">
              <a:latin typeface="Arial Black" panose="020B0604020202020204" pitchFamily="34" charset="0"/>
            </a:endParaRPr>
          </a:p>
        </p:txBody>
      </p:sp>
      <p:sp>
        <p:nvSpPr>
          <p:cNvPr id="58371" name="Date Placeholder 4">
            <a:extLst>
              <a:ext uri="{FF2B5EF4-FFF2-40B4-BE49-F238E27FC236}">
                <a16:creationId xmlns:a16="http://schemas.microsoft.com/office/drawing/2014/main" id="{4AA15E23-1EB4-A47E-D1B3-BC4B13E28B2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7AE363B-7D94-944C-B17B-B7E6C9642C1F}" type="datetime1">
              <a:rPr lang="en-US" altLang="en-US" sz="1200" smtClean="0"/>
              <a:pPr>
                <a:spcBef>
                  <a:spcPct val="0"/>
                </a:spcBef>
                <a:buClrTx/>
                <a:buSzTx/>
                <a:buFontTx/>
                <a:buNone/>
              </a:pPr>
              <a:t>11/22/23</a:t>
            </a:fld>
            <a:endParaRPr lang="en-US" altLang="en-US" sz="1200"/>
          </a:p>
        </p:txBody>
      </p:sp>
      <p:sp>
        <p:nvSpPr>
          <p:cNvPr id="58372" name="TextBox 6">
            <a:extLst>
              <a:ext uri="{FF2B5EF4-FFF2-40B4-BE49-F238E27FC236}">
                <a16:creationId xmlns:a16="http://schemas.microsoft.com/office/drawing/2014/main" id="{973641CC-9441-087A-7AAA-C675AD95D0C8}"/>
              </a:ext>
            </a:extLst>
          </p:cNvPr>
          <p:cNvSpPr txBox="1">
            <a:spLocks noChangeArrowheads="1"/>
          </p:cNvSpPr>
          <p:nvPr/>
        </p:nvSpPr>
        <p:spPr bwMode="auto">
          <a:xfrm>
            <a:off x="5181600" y="2895600"/>
            <a:ext cx="3200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This class represents a specific event of the Subject.</a:t>
            </a:r>
          </a:p>
        </p:txBody>
      </p:sp>
      <p:pic>
        <p:nvPicPr>
          <p:cNvPr id="58373" name="Picture 7">
            <a:extLst>
              <a:ext uri="{FF2B5EF4-FFF2-40B4-BE49-F238E27FC236}">
                <a16:creationId xmlns:a16="http://schemas.microsoft.com/office/drawing/2014/main" id="{53A0451E-FADE-8788-9646-2AA2084A4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47800"/>
            <a:ext cx="7086600" cy="121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a:extLst>
              <a:ext uri="{FF2B5EF4-FFF2-40B4-BE49-F238E27FC236}">
                <a16:creationId xmlns:a16="http://schemas.microsoft.com/office/drawing/2014/main" id="{FCD376CF-D0CD-4A1A-EAC2-79D3D4643590}"/>
              </a:ext>
            </a:extLst>
          </p:cNvPr>
          <p:cNvSpPr>
            <a:spLocks noGrp="1"/>
          </p:cNvSpPr>
          <p:nvPr>
            <p:ph type="title"/>
          </p:nvPr>
        </p:nvSpPr>
        <p:spPr>
          <a:xfrm>
            <a:off x="381000" y="381000"/>
            <a:ext cx="8229600" cy="762000"/>
          </a:xfrm>
        </p:spPr>
        <p:txBody>
          <a:bodyPr/>
          <a:lstStyle/>
          <a:p>
            <a:r>
              <a:rPr lang="en-US" altLang="en-US"/>
              <a:t>SubjectEvent</a:t>
            </a:r>
          </a:p>
        </p:txBody>
      </p:sp>
      <p:sp>
        <p:nvSpPr>
          <p:cNvPr id="59394" name="Slide Number Placeholder 3">
            <a:extLst>
              <a:ext uri="{FF2B5EF4-FFF2-40B4-BE49-F238E27FC236}">
                <a16:creationId xmlns:a16="http://schemas.microsoft.com/office/drawing/2014/main" id="{3D7DD719-4016-2BA6-4E05-4229C628334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2B81833-463F-3B46-A4CC-E3177999393C}" type="slidenum">
              <a:rPr lang="en-US" altLang="en-US" sz="1000">
                <a:latin typeface="Arial Black" panose="020B0604020202020204" pitchFamily="34" charset="0"/>
              </a:rPr>
              <a:pPr>
                <a:spcBef>
                  <a:spcPct val="0"/>
                </a:spcBef>
                <a:buClrTx/>
                <a:buSzTx/>
                <a:buFontTx/>
                <a:buNone/>
              </a:pPr>
              <a:t>37</a:t>
            </a:fld>
            <a:endParaRPr lang="en-US" altLang="en-US" sz="1000">
              <a:latin typeface="Arial Black" panose="020B0604020202020204" pitchFamily="34" charset="0"/>
            </a:endParaRPr>
          </a:p>
        </p:txBody>
      </p:sp>
      <p:sp>
        <p:nvSpPr>
          <p:cNvPr id="59395" name="Date Placeholder 4">
            <a:extLst>
              <a:ext uri="{FF2B5EF4-FFF2-40B4-BE49-F238E27FC236}">
                <a16:creationId xmlns:a16="http://schemas.microsoft.com/office/drawing/2014/main" id="{0ED692BD-DBD7-1B05-0237-3EBCD798553F}"/>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6C51DED-6A60-484F-BF45-378765544ADD}" type="datetime1">
              <a:rPr lang="en-US" altLang="en-US" sz="1200" smtClean="0"/>
              <a:pPr>
                <a:spcBef>
                  <a:spcPct val="0"/>
                </a:spcBef>
                <a:buClrTx/>
                <a:buSzTx/>
                <a:buFontTx/>
                <a:buNone/>
              </a:pPr>
              <a:t>11/22/23</a:t>
            </a:fld>
            <a:endParaRPr lang="en-US" altLang="en-US" sz="1200"/>
          </a:p>
        </p:txBody>
      </p:sp>
      <p:sp>
        <p:nvSpPr>
          <p:cNvPr id="59396" name="TextBox 7">
            <a:extLst>
              <a:ext uri="{FF2B5EF4-FFF2-40B4-BE49-F238E27FC236}">
                <a16:creationId xmlns:a16="http://schemas.microsoft.com/office/drawing/2014/main" id="{EB1C473B-F861-13BE-AFC0-2EA540A8B265}"/>
              </a:ext>
            </a:extLst>
          </p:cNvPr>
          <p:cNvSpPr txBox="1">
            <a:spLocks noChangeArrowheads="1"/>
          </p:cNvSpPr>
          <p:nvPr/>
        </p:nvSpPr>
        <p:spPr bwMode="auto">
          <a:xfrm>
            <a:off x="762000" y="4572000"/>
            <a:ext cx="769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Now the SubjectEvent, not Subject, contains a reference to all of the Observers who are interested in being notified.</a:t>
            </a:r>
          </a:p>
        </p:txBody>
      </p:sp>
      <p:pic>
        <p:nvPicPr>
          <p:cNvPr id="59397" name="Picture 3">
            <a:extLst>
              <a:ext uri="{FF2B5EF4-FFF2-40B4-BE49-F238E27FC236}">
                <a16:creationId xmlns:a16="http://schemas.microsoft.com/office/drawing/2014/main" id="{7B2258DD-6904-23AC-1BC6-4F84884C7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66800"/>
            <a:ext cx="54102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8C554161-C909-B06F-173C-A9DF5B3A6C78}"/>
              </a:ext>
            </a:extLst>
          </p:cNvPr>
          <p:cNvSpPr>
            <a:spLocks noGrp="1"/>
          </p:cNvSpPr>
          <p:nvPr>
            <p:ph type="title"/>
          </p:nvPr>
        </p:nvSpPr>
        <p:spPr/>
        <p:txBody>
          <a:bodyPr/>
          <a:lstStyle/>
          <a:p>
            <a:r>
              <a:rPr lang="en-US" altLang="en-US"/>
              <a:t>Subject/SubjectEvent</a:t>
            </a:r>
          </a:p>
        </p:txBody>
      </p:sp>
      <p:sp>
        <p:nvSpPr>
          <p:cNvPr id="60418" name="Slide Number Placeholder 3">
            <a:extLst>
              <a:ext uri="{FF2B5EF4-FFF2-40B4-BE49-F238E27FC236}">
                <a16:creationId xmlns:a16="http://schemas.microsoft.com/office/drawing/2014/main" id="{65C13917-CAF0-03E5-BE9E-DE8F28F3FD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EF03E32-8DC9-BC47-8B11-79532A8AE219}" type="slidenum">
              <a:rPr lang="en-US" altLang="en-US" sz="1000">
                <a:latin typeface="Arial Black" panose="020B0604020202020204" pitchFamily="34" charset="0"/>
              </a:rPr>
              <a:pPr>
                <a:spcBef>
                  <a:spcPct val="0"/>
                </a:spcBef>
                <a:buClrTx/>
                <a:buSzTx/>
                <a:buFontTx/>
                <a:buNone/>
              </a:pPr>
              <a:t>38</a:t>
            </a:fld>
            <a:endParaRPr lang="en-US" altLang="en-US" sz="1000">
              <a:latin typeface="Arial Black" panose="020B0604020202020204" pitchFamily="34" charset="0"/>
            </a:endParaRPr>
          </a:p>
        </p:txBody>
      </p:sp>
      <p:sp>
        <p:nvSpPr>
          <p:cNvPr id="60419" name="Date Placeholder 4">
            <a:extLst>
              <a:ext uri="{FF2B5EF4-FFF2-40B4-BE49-F238E27FC236}">
                <a16:creationId xmlns:a16="http://schemas.microsoft.com/office/drawing/2014/main" id="{A8BD05CB-9146-3FE0-0754-457710807013}"/>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85607B5-AD6A-D34F-97C8-9F69A579DCF9}" type="datetime1">
              <a:rPr lang="en-US" altLang="en-US" sz="1200" smtClean="0"/>
              <a:pPr>
                <a:spcBef>
                  <a:spcPct val="0"/>
                </a:spcBef>
                <a:buClrTx/>
                <a:buSzTx/>
                <a:buFontTx/>
                <a:buNone/>
              </a:pPr>
              <a:t>11/22/23</a:t>
            </a:fld>
            <a:endParaRPr lang="en-US" altLang="en-US" sz="1200"/>
          </a:p>
        </p:txBody>
      </p:sp>
      <p:pic>
        <p:nvPicPr>
          <p:cNvPr id="60420" name="Picture 2">
            <a:extLst>
              <a:ext uri="{FF2B5EF4-FFF2-40B4-BE49-F238E27FC236}">
                <a16:creationId xmlns:a16="http://schemas.microsoft.com/office/drawing/2014/main" id="{8771E0DF-B3E2-B18D-8CD8-956CFEF16A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828800"/>
            <a:ext cx="8305800" cy="2163763"/>
          </a:xfrm>
          <a:noFill/>
        </p:spPr>
      </p:pic>
      <p:sp>
        <p:nvSpPr>
          <p:cNvPr id="60421" name="TextBox 6">
            <a:extLst>
              <a:ext uri="{FF2B5EF4-FFF2-40B4-BE49-F238E27FC236}">
                <a16:creationId xmlns:a16="http://schemas.microsoft.com/office/drawing/2014/main" id="{5D707CEE-7797-2D51-E2FC-148259EE4607}"/>
              </a:ext>
            </a:extLst>
          </p:cNvPr>
          <p:cNvSpPr txBox="1">
            <a:spLocks noChangeArrowheads="1"/>
          </p:cNvSpPr>
          <p:nvPr/>
        </p:nvSpPr>
        <p:spPr bwMode="auto">
          <a:xfrm>
            <a:off x="533400" y="4029075"/>
            <a:ext cx="3810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The constructor of WeatherData takes a SubjectEvent as parameter.</a:t>
            </a:r>
          </a:p>
        </p:txBody>
      </p:sp>
      <p:cxnSp>
        <p:nvCxnSpPr>
          <p:cNvPr id="60422" name="Straight Arrow Connector 8">
            <a:extLst>
              <a:ext uri="{FF2B5EF4-FFF2-40B4-BE49-F238E27FC236}">
                <a16:creationId xmlns:a16="http://schemas.microsoft.com/office/drawing/2014/main" id="{B9FD5601-17A4-2EC4-D045-F8D67AB1ADD0}"/>
              </a:ext>
            </a:extLst>
          </p:cNvPr>
          <p:cNvCxnSpPr>
            <a:cxnSpLocks noChangeShapeType="1"/>
          </p:cNvCxnSpPr>
          <p:nvPr/>
        </p:nvCxnSpPr>
        <p:spPr bwMode="auto">
          <a:xfrm rot="5400000" flipH="1" flipV="1">
            <a:off x="1600201" y="3657600"/>
            <a:ext cx="609600" cy="31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423347D9-4704-F318-EFA7-450C39898CCD}"/>
              </a:ext>
            </a:extLst>
          </p:cNvPr>
          <p:cNvSpPr>
            <a:spLocks noGrp="1"/>
          </p:cNvSpPr>
          <p:nvPr>
            <p:ph type="title"/>
          </p:nvPr>
        </p:nvSpPr>
        <p:spPr/>
        <p:txBody>
          <a:bodyPr/>
          <a:lstStyle/>
          <a:p>
            <a:r>
              <a:rPr lang="en-US" altLang="en-US"/>
              <a:t>WeatherData</a:t>
            </a:r>
          </a:p>
        </p:txBody>
      </p:sp>
      <p:sp>
        <p:nvSpPr>
          <p:cNvPr id="61442" name="Content Placeholder 2">
            <a:extLst>
              <a:ext uri="{FF2B5EF4-FFF2-40B4-BE49-F238E27FC236}">
                <a16:creationId xmlns:a16="http://schemas.microsoft.com/office/drawing/2014/main" id="{01B64939-759B-76ED-4D87-D2EA80A2A606}"/>
              </a:ext>
            </a:extLst>
          </p:cNvPr>
          <p:cNvSpPr>
            <a:spLocks noGrp="1"/>
          </p:cNvSpPr>
          <p:nvPr>
            <p:ph idx="1"/>
          </p:nvPr>
        </p:nvSpPr>
        <p:spPr>
          <a:xfrm>
            <a:off x="381000" y="1143000"/>
            <a:ext cx="8229600" cy="5257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public class WeatherData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private SubjectEvent subEvent;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WeatherData(</a:t>
            </a:r>
            <a:r>
              <a:rPr lang="en-US" altLang="en-US" sz="1600" b="1">
                <a:solidFill>
                  <a:srgbClr val="FF0000"/>
                </a:solidFill>
                <a:latin typeface="Courier New" panose="02070309020205020404" pitchFamily="49" charset="0"/>
                <a:cs typeface="Courier New" panose="02070309020205020404" pitchFamily="49" charset="0"/>
              </a:rPr>
              <a:t>SubjectEvent subEvent</a:t>
            </a: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this.subEvent = subEvent;</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void SetMeasurements(…)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this.temperature = temperature;</a:t>
            </a:r>
          </a:p>
          <a:p>
            <a:pPr>
              <a:buFont typeface="Wingdings" pitchFamily="2" charset="2"/>
              <a:buNone/>
            </a:pPr>
            <a:r>
              <a:rPr lang="en-US" altLang="en-US" sz="1600">
                <a:latin typeface="Courier New" panose="02070309020205020404" pitchFamily="49" charset="0"/>
                <a:cs typeface="Courier New" panose="02070309020205020404" pitchFamily="49" charset="0"/>
              </a:rPr>
              <a:t>			this.humidity = humidity;</a:t>
            </a:r>
          </a:p>
          <a:p>
            <a:pPr>
              <a:buFont typeface="Wingdings" pitchFamily="2" charset="2"/>
              <a:buNone/>
            </a:pPr>
            <a:r>
              <a:rPr lang="en-US" altLang="en-US" sz="1600">
                <a:latin typeface="Courier New" panose="02070309020205020404" pitchFamily="49" charset="0"/>
                <a:cs typeface="Courier New" panose="02070309020205020404" pitchFamily="49" charset="0"/>
              </a:rPr>
              <a:t>			this.pressure = pressure;</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this.subEvent.NotifyObserver(this);</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p:txBody>
      </p:sp>
      <p:sp>
        <p:nvSpPr>
          <p:cNvPr id="61443" name="Slide Number Placeholder 3">
            <a:extLst>
              <a:ext uri="{FF2B5EF4-FFF2-40B4-BE49-F238E27FC236}">
                <a16:creationId xmlns:a16="http://schemas.microsoft.com/office/drawing/2014/main" id="{C4B0B429-1513-0243-8996-0F70C8EF4CC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5B7AD8B-945B-A04F-A4C5-DFAD59A84652}" type="slidenum">
              <a:rPr lang="en-US" altLang="en-US" sz="1000">
                <a:latin typeface="Arial Black" panose="020B0604020202020204" pitchFamily="34" charset="0"/>
              </a:rPr>
              <a:pPr>
                <a:spcBef>
                  <a:spcPct val="0"/>
                </a:spcBef>
                <a:buClrTx/>
                <a:buSzTx/>
                <a:buFontTx/>
                <a:buNone/>
              </a:pPr>
              <a:t>39</a:t>
            </a:fld>
            <a:endParaRPr lang="en-US" altLang="en-US" sz="1000">
              <a:latin typeface="Arial Black" panose="020B0604020202020204" pitchFamily="34" charset="0"/>
            </a:endParaRPr>
          </a:p>
        </p:txBody>
      </p:sp>
      <p:sp>
        <p:nvSpPr>
          <p:cNvPr id="61444" name="Date Placeholder 4">
            <a:extLst>
              <a:ext uri="{FF2B5EF4-FFF2-40B4-BE49-F238E27FC236}">
                <a16:creationId xmlns:a16="http://schemas.microsoft.com/office/drawing/2014/main" id="{C49DFB16-9CDF-445B-5DC7-6CCC8FB0437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8B47C89-9605-2B4D-9C05-88C2A021D99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DBB548D8-1EF1-F198-9CDB-EB42DDB06D65}"/>
              </a:ext>
            </a:extLst>
          </p:cNvPr>
          <p:cNvSpPr>
            <a:spLocks noGrp="1"/>
          </p:cNvSpPr>
          <p:nvPr>
            <p:ph type="title"/>
          </p:nvPr>
        </p:nvSpPr>
        <p:spPr/>
        <p:txBody>
          <a:bodyPr/>
          <a:lstStyle/>
          <a:p>
            <a:r>
              <a:rPr lang="en-US" altLang="en-US"/>
              <a:t>SubjectEvent + Observers</a:t>
            </a:r>
          </a:p>
        </p:txBody>
      </p:sp>
      <p:sp>
        <p:nvSpPr>
          <p:cNvPr id="62466" name="Content Placeholder 2">
            <a:extLst>
              <a:ext uri="{FF2B5EF4-FFF2-40B4-BE49-F238E27FC236}">
                <a16:creationId xmlns:a16="http://schemas.microsoft.com/office/drawing/2014/main" id="{9853FC68-2BD3-49A3-5AF7-A9296DD551FA}"/>
              </a:ext>
            </a:extLst>
          </p:cNvPr>
          <p:cNvSpPr>
            <a:spLocks noGrp="1"/>
          </p:cNvSpPr>
          <p:nvPr>
            <p:ph idx="1"/>
          </p:nvPr>
        </p:nvSpPr>
        <p:spPr>
          <a:xfrm>
            <a:off x="228600" y="1371600"/>
            <a:ext cx="8686800" cy="4495800"/>
          </a:xfrm>
        </p:spPr>
        <p:txBody>
          <a:bodyPr/>
          <a:lstStyle/>
          <a:p>
            <a:r>
              <a:rPr lang="en-US" altLang="en-US"/>
              <a:t>In our prior design, what information did the Subject pass on to the Observers?</a:t>
            </a:r>
          </a:p>
          <a:p>
            <a:endParaRPr lang="en-US" altLang="en-US"/>
          </a:p>
          <a:p>
            <a:r>
              <a:rPr lang="en-US" altLang="en-US"/>
              <a:t>In this design, should the SubjectEvent pass the same information to the Observers?</a:t>
            </a:r>
          </a:p>
          <a:p>
            <a:pPr>
              <a:buFont typeface="Wingdings" pitchFamily="2" charset="2"/>
              <a:buNone/>
            </a:pPr>
            <a:endParaRPr lang="en-US" altLang="en-US"/>
          </a:p>
          <a:p>
            <a:r>
              <a:rPr lang="en-US" altLang="en-US"/>
              <a:t>What if an Observer is listening to two different events on the same Subject? The Observer will want to know which data to pull based on the Event that notified it.</a:t>
            </a:r>
          </a:p>
          <a:p>
            <a:pPr lvl="1"/>
            <a:r>
              <a:rPr lang="en-US" altLang="en-US"/>
              <a:t>So, what does the SubjectEvent also need to tell the Observers who are listening to it?</a:t>
            </a:r>
          </a:p>
        </p:txBody>
      </p:sp>
      <p:sp>
        <p:nvSpPr>
          <p:cNvPr id="62467" name="Slide Number Placeholder 3">
            <a:extLst>
              <a:ext uri="{FF2B5EF4-FFF2-40B4-BE49-F238E27FC236}">
                <a16:creationId xmlns:a16="http://schemas.microsoft.com/office/drawing/2014/main" id="{7A654FC0-150D-A775-8601-2B5848A02E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80A743A-BA43-A84A-B7CB-3FD306B927C4}" type="slidenum">
              <a:rPr lang="en-US" altLang="en-US" sz="1000">
                <a:latin typeface="Arial Black" panose="020B0604020202020204" pitchFamily="34" charset="0"/>
              </a:rPr>
              <a:pPr>
                <a:spcBef>
                  <a:spcPct val="0"/>
                </a:spcBef>
                <a:buClrTx/>
                <a:buSzTx/>
                <a:buFontTx/>
                <a:buNone/>
              </a:pPr>
              <a:t>40</a:t>
            </a:fld>
            <a:endParaRPr lang="en-US" altLang="en-US" sz="1000">
              <a:latin typeface="Arial Black" panose="020B0604020202020204" pitchFamily="34" charset="0"/>
            </a:endParaRPr>
          </a:p>
        </p:txBody>
      </p:sp>
      <p:sp>
        <p:nvSpPr>
          <p:cNvPr id="62468" name="Date Placeholder 4">
            <a:extLst>
              <a:ext uri="{FF2B5EF4-FFF2-40B4-BE49-F238E27FC236}">
                <a16:creationId xmlns:a16="http://schemas.microsoft.com/office/drawing/2014/main" id="{FF9853E9-8DF0-1DF4-F14A-7742C694DFD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0B22E17-8359-E241-9E4F-E23256A28589}"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2AD8B85E-D30A-6E76-9995-900DC513A6AB}"/>
              </a:ext>
            </a:extLst>
          </p:cNvPr>
          <p:cNvSpPr>
            <a:spLocks noGrp="1"/>
          </p:cNvSpPr>
          <p:nvPr>
            <p:ph type="title"/>
          </p:nvPr>
        </p:nvSpPr>
        <p:spPr/>
        <p:txBody>
          <a:bodyPr/>
          <a:lstStyle/>
          <a:p>
            <a:r>
              <a:rPr lang="en-US" altLang="en-US"/>
              <a:t>SubjectEvent </a:t>
            </a:r>
          </a:p>
        </p:txBody>
      </p:sp>
      <p:sp>
        <p:nvSpPr>
          <p:cNvPr id="64514" name="Slide Number Placeholder 3">
            <a:extLst>
              <a:ext uri="{FF2B5EF4-FFF2-40B4-BE49-F238E27FC236}">
                <a16:creationId xmlns:a16="http://schemas.microsoft.com/office/drawing/2014/main" id="{6FCFEEA5-6164-A271-3B3D-79C74C32BB8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E1C643C-3C82-664B-B3E1-19C67708C2E5}" type="slidenum">
              <a:rPr lang="en-US" altLang="en-US" sz="1000">
                <a:latin typeface="Arial Black" panose="020B0604020202020204" pitchFamily="34" charset="0"/>
              </a:rPr>
              <a:pPr>
                <a:spcBef>
                  <a:spcPct val="0"/>
                </a:spcBef>
                <a:buClrTx/>
                <a:buSzTx/>
                <a:buFontTx/>
                <a:buNone/>
              </a:pPr>
              <a:t>41</a:t>
            </a:fld>
            <a:endParaRPr lang="en-US" altLang="en-US" sz="1000">
              <a:latin typeface="Arial Black" panose="020B0604020202020204" pitchFamily="34" charset="0"/>
            </a:endParaRPr>
          </a:p>
        </p:txBody>
      </p:sp>
      <p:sp>
        <p:nvSpPr>
          <p:cNvPr id="64515" name="Date Placeholder 4">
            <a:extLst>
              <a:ext uri="{FF2B5EF4-FFF2-40B4-BE49-F238E27FC236}">
                <a16:creationId xmlns:a16="http://schemas.microsoft.com/office/drawing/2014/main" id="{1C1AF598-C002-AF75-D2E2-2BAAD6C18DF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234BE88-88ED-7D4E-A969-A3FA1D50377F}" type="datetime1">
              <a:rPr lang="en-US" altLang="en-US" sz="1200" smtClean="0"/>
              <a:pPr>
                <a:spcBef>
                  <a:spcPct val="0"/>
                </a:spcBef>
                <a:buClrTx/>
                <a:buSzTx/>
                <a:buFontTx/>
                <a:buNone/>
              </a:pPr>
              <a:t>11/22/23</a:t>
            </a:fld>
            <a:endParaRPr lang="en-US" altLang="en-US" sz="1200"/>
          </a:p>
        </p:txBody>
      </p:sp>
      <p:pic>
        <p:nvPicPr>
          <p:cNvPr id="64516" name="Picture 2">
            <a:extLst>
              <a:ext uri="{FF2B5EF4-FFF2-40B4-BE49-F238E27FC236}">
                <a16:creationId xmlns:a16="http://schemas.microsoft.com/office/drawing/2014/main" id="{01EF2034-3D95-AD94-E968-A1A89578A4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295400"/>
            <a:ext cx="5476875" cy="3733800"/>
          </a:xfrm>
          <a:noFill/>
        </p:spPr>
      </p:pic>
      <p:cxnSp>
        <p:nvCxnSpPr>
          <p:cNvPr id="64517" name="Straight Arrow Connector 7">
            <a:extLst>
              <a:ext uri="{FF2B5EF4-FFF2-40B4-BE49-F238E27FC236}">
                <a16:creationId xmlns:a16="http://schemas.microsoft.com/office/drawing/2014/main" id="{ED0C8549-B185-EC7F-8971-7226C8486C24}"/>
              </a:ext>
            </a:extLst>
          </p:cNvPr>
          <p:cNvCxnSpPr>
            <a:cxnSpLocks noChangeShapeType="1"/>
          </p:cNvCxnSpPr>
          <p:nvPr/>
        </p:nvCxnSpPr>
        <p:spPr bwMode="auto">
          <a:xfrm flipV="1">
            <a:off x="1371600" y="4572000"/>
            <a:ext cx="990600" cy="4572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4518" name="TextBox 8">
            <a:extLst>
              <a:ext uri="{FF2B5EF4-FFF2-40B4-BE49-F238E27FC236}">
                <a16:creationId xmlns:a16="http://schemas.microsoft.com/office/drawing/2014/main" id="{166ACC37-4002-53B6-4576-FBA02FFE9DD0}"/>
              </a:ext>
            </a:extLst>
          </p:cNvPr>
          <p:cNvSpPr txBox="1">
            <a:spLocks noChangeArrowheads="1"/>
          </p:cNvSpPr>
          <p:nvPr/>
        </p:nvSpPr>
        <p:spPr bwMode="auto">
          <a:xfrm>
            <a:off x="609600" y="5410200"/>
            <a:ext cx="792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Added name parameter to the constructor and storing it in eventName Field.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2985DFCD-25CB-BF05-BD09-9075254BB7CE}"/>
              </a:ext>
            </a:extLst>
          </p:cNvPr>
          <p:cNvSpPr>
            <a:spLocks noGrp="1"/>
          </p:cNvSpPr>
          <p:nvPr>
            <p:ph type="title"/>
          </p:nvPr>
        </p:nvSpPr>
        <p:spPr/>
        <p:txBody>
          <a:bodyPr/>
          <a:lstStyle/>
          <a:p>
            <a:r>
              <a:rPr lang="en-US" altLang="en-US"/>
              <a:t>SubjectEvent</a:t>
            </a:r>
          </a:p>
        </p:txBody>
      </p:sp>
      <p:sp>
        <p:nvSpPr>
          <p:cNvPr id="65538" name="Content Placeholder 2">
            <a:extLst>
              <a:ext uri="{FF2B5EF4-FFF2-40B4-BE49-F238E27FC236}">
                <a16:creationId xmlns:a16="http://schemas.microsoft.com/office/drawing/2014/main" id="{EE426163-3809-7CE1-3958-AE65BE003B9C}"/>
              </a:ext>
            </a:extLst>
          </p:cNvPr>
          <p:cNvSpPr>
            <a:spLocks noGrp="1"/>
          </p:cNvSpPr>
          <p:nvPr>
            <p:ph idx="1"/>
          </p:nvPr>
        </p:nvSpPr>
        <p:spPr>
          <a:xfrm>
            <a:off x="457200" y="1371600"/>
            <a:ext cx="8229600" cy="47244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 public class SubjectEvent  {</a:t>
            </a:r>
          </a:p>
          <a:p>
            <a:pPr>
              <a:buFont typeface="Wingdings" pitchFamily="2" charset="2"/>
              <a:buNone/>
            </a:pPr>
            <a:r>
              <a:rPr lang="en-US" altLang="en-US" sz="1800">
                <a:latin typeface="Courier New" panose="02070309020205020404" pitchFamily="49" charset="0"/>
                <a:cs typeface="Courier New" panose="02070309020205020404" pitchFamily="49" charset="0"/>
              </a:rPr>
              <a:t>		 private List&lt;Observer&gt; observers;</a:t>
            </a:r>
          </a:p>
          <a:p>
            <a:pPr>
              <a:buFont typeface="Wingdings" pitchFamily="2" charset="2"/>
              <a:buNone/>
            </a:pPr>
            <a:r>
              <a:rPr lang="en-US" altLang="en-US" sz="1800">
                <a:latin typeface="Courier New" panose="02070309020205020404" pitchFamily="49" charset="0"/>
                <a:cs typeface="Courier New" panose="02070309020205020404" pitchFamily="49" charset="0"/>
              </a:rPr>
              <a:t>        private string eventName;</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SubjectEvent(</a:t>
            </a:r>
            <a:r>
              <a:rPr lang="en-US" altLang="en-US" sz="1800" b="1">
                <a:solidFill>
                  <a:srgbClr val="FF0000"/>
                </a:solidFill>
                <a:latin typeface="Courier New" panose="02070309020205020404" pitchFamily="49" charset="0"/>
                <a:cs typeface="Courier New" panose="02070309020205020404" pitchFamily="49" charset="0"/>
              </a:rPr>
              <a:t>string name</a:t>
            </a: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observers = new List&lt;Observer&gt;();</a:t>
            </a:r>
          </a:p>
          <a:p>
            <a:pPr>
              <a:buFont typeface="Wingdings" pitchFamily="2" charset="2"/>
              <a:buNone/>
            </a:pPr>
            <a:r>
              <a:rPr lang="en-US" altLang="en-US" sz="1800">
                <a:latin typeface="Courier New" panose="02070309020205020404" pitchFamily="49" charset="0"/>
                <a:cs typeface="Courier New" panose="02070309020205020404" pitchFamily="49" charset="0"/>
              </a:rPr>
              <a:t>            eventName = name;</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void NotifyObserver(object subject) {</a:t>
            </a:r>
          </a:p>
          <a:p>
            <a:pPr>
              <a:buFont typeface="Wingdings" pitchFamily="2" charset="2"/>
              <a:buNone/>
            </a:pPr>
            <a:r>
              <a:rPr lang="en-US" altLang="en-US" sz="1800">
                <a:latin typeface="Courier New" panose="02070309020205020404" pitchFamily="49" charset="0"/>
                <a:cs typeface="Courier New" panose="02070309020205020404" pitchFamily="49" charset="0"/>
              </a:rPr>
              <a:t>            foreach (Observer observer in observers)</a:t>
            </a:r>
          </a:p>
          <a:p>
            <a:pPr>
              <a:buFont typeface="Wingdings" pitchFamily="2" charset="2"/>
              <a:buNone/>
            </a:pPr>
            <a:r>
              <a:rPr lang="en-US" altLang="en-US" sz="1800" b="1">
                <a:solidFill>
                  <a:srgbClr val="FF0000"/>
                </a:solidFill>
                <a:latin typeface="Courier New" panose="02070309020205020404" pitchFamily="49" charset="0"/>
                <a:cs typeface="Courier New" panose="02070309020205020404" pitchFamily="49" charset="0"/>
              </a:rPr>
              <a:t>                observer.Update(subject, eventName);</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65539" name="Slide Number Placeholder 3">
            <a:extLst>
              <a:ext uri="{FF2B5EF4-FFF2-40B4-BE49-F238E27FC236}">
                <a16:creationId xmlns:a16="http://schemas.microsoft.com/office/drawing/2014/main" id="{17E8BA78-2261-8EB1-85B3-4A9BF1DF5F2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C008E5C-DC4F-A04E-9EB8-43414279CBAC}" type="slidenum">
              <a:rPr lang="en-US" altLang="en-US" sz="1000">
                <a:latin typeface="Arial Black" panose="020B0604020202020204" pitchFamily="34" charset="0"/>
              </a:rPr>
              <a:pPr>
                <a:spcBef>
                  <a:spcPct val="0"/>
                </a:spcBef>
                <a:buClrTx/>
                <a:buSzTx/>
                <a:buFontTx/>
                <a:buNone/>
              </a:pPr>
              <a:t>42</a:t>
            </a:fld>
            <a:endParaRPr lang="en-US" altLang="en-US" sz="1000">
              <a:latin typeface="Arial Black" panose="020B0604020202020204" pitchFamily="34" charset="0"/>
            </a:endParaRPr>
          </a:p>
        </p:txBody>
      </p:sp>
      <p:sp>
        <p:nvSpPr>
          <p:cNvPr id="65540" name="Date Placeholder 4">
            <a:extLst>
              <a:ext uri="{FF2B5EF4-FFF2-40B4-BE49-F238E27FC236}">
                <a16:creationId xmlns:a16="http://schemas.microsoft.com/office/drawing/2014/main" id="{3377A4E4-139F-64F0-D074-B92DC95C3B0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B7855EA-8DDD-B54E-9B5D-1BF60F443AFF}" type="datetime1">
              <a:rPr lang="en-US" altLang="en-US" sz="1200" smtClean="0"/>
              <a:pPr>
                <a:spcBef>
                  <a:spcPct val="0"/>
                </a:spcBef>
                <a:buClrTx/>
                <a:buSzTx/>
                <a:buFontTx/>
                <a:buNone/>
              </a:pPr>
              <a:t>11/22/23</a:t>
            </a:fld>
            <a:endParaRPr lang="en-US" altLang="en-US" sz="1200"/>
          </a:p>
        </p:txBody>
      </p:sp>
      <p:cxnSp>
        <p:nvCxnSpPr>
          <p:cNvPr id="65541" name="Straight Arrow Connector 6">
            <a:extLst>
              <a:ext uri="{FF2B5EF4-FFF2-40B4-BE49-F238E27FC236}">
                <a16:creationId xmlns:a16="http://schemas.microsoft.com/office/drawing/2014/main" id="{8239D7D1-4A15-8A80-7616-9FD3B2710465}"/>
              </a:ext>
            </a:extLst>
          </p:cNvPr>
          <p:cNvCxnSpPr>
            <a:cxnSpLocks noChangeShapeType="1"/>
          </p:cNvCxnSpPr>
          <p:nvPr/>
        </p:nvCxnSpPr>
        <p:spPr bwMode="auto">
          <a:xfrm rot="10800000" flipV="1">
            <a:off x="6019800" y="3276600"/>
            <a:ext cx="1981200" cy="10668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5542" name="TextBox 7">
            <a:extLst>
              <a:ext uri="{FF2B5EF4-FFF2-40B4-BE49-F238E27FC236}">
                <a16:creationId xmlns:a16="http://schemas.microsoft.com/office/drawing/2014/main" id="{0C9DEBBD-1864-CDC9-1F58-C54F20B06678}"/>
              </a:ext>
            </a:extLst>
          </p:cNvPr>
          <p:cNvSpPr txBox="1">
            <a:spLocks noChangeArrowheads="1"/>
          </p:cNvSpPr>
          <p:nvPr/>
        </p:nvSpPr>
        <p:spPr bwMode="auto">
          <a:xfrm>
            <a:off x="7543800" y="2895600"/>
            <a:ext cx="121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1800"/>
              <a:t>Cheating</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34635295-1E17-A7D3-8611-393F451B1983}"/>
              </a:ext>
            </a:extLst>
          </p:cNvPr>
          <p:cNvSpPr>
            <a:spLocks noGrp="1"/>
          </p:cNvSpPr>
          <p:nvPr>
            <p:ph type="title"/>
          </p:nvPr>
        </p:nvSpPr>
        <p:spPr/>
        <p:txBody>
          <a:bodyPr/>
          <a:lstStyle/>
          <a:p>
            <a:r>
              <a:rPr lang="en-US" altLang="en-US"/>
              <a:t>Observer</a:t>
            </a:r>
          </a:p>
        </p:txBody>
      </p:sp>
      <p:sp>
        <p:nvSpPr>
          <p:cNvPr id="66562" name="Content Placeholder 2">
            <a:extLst>
              <a:ext uri="{FF2B5EF4-FFF2-40B4-BE49-F238E27FC236}">
                <a16:creationId xmlns:a16="http://schemas.microsoft.com/office/drawing/2014/main" id="{2D2665C8-559C-CF9F-2848-214A4B407814}"/>
              </a:ext>
            </a:extLst>
          </p:cNvPr>
          <p:cNvSpPr>
            <a:spLocks noGrp="1"/>
          </p:cNvSpPr>
          <p:nvPr>
            <p:ph idx="1"/>
          </p:nvPr>
        </p:nvSpPr>
        <p:spPr/>
        <p:txBody>
          <a:bodyPr/>
          <a:lstStyle/>
          <a:p>
            <a:r>
              <a:rPr lang="en-US" altLang="en-US"/>
              <a:t>In the prior design, the Observer was constructed with a reference to the Subject.  In this design, what should we pass in the constructor instead?</a:t>
            </a:r>
          </a:p>
          <a:p>
            <a:endParaRPr lang="en-US" altLang="en-US"/>
          </a:p>
          <a:p>
            <a:r>
              <a:rPr lang="en-US" altLang="en-US"/>
              <a:t>What should the signature of the Update() function look like?</a:t>
            </a:r>
          </a:p>
        </p:txBody>
      </p:sp>
      <p:sp>
        <p:nvSpPr>
          <p:cNvPr id="66563" name="Slide Number Placeholder 3">
            <a:extLst>
              <a:ext uri="{FF2B5EF4-FFF2-40B4-BE49-F238E27FC236}">
                <a16:creationId xmlns:a16="http://schemas.microsoft.com/office/drawing/2014/main" id="{79C2B9D7-AAF1-08C4-4D1A-96ABA5C4316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F776AA2-4E9A-6746-A28F-97B6E6760FF3}" type="slidenum">
              <a:rPr lang="en-US" altLang="en-US" sz="1000">
                <a:latin typeface="Arial Black" panose="020B0604020202020204" pitchFamily="34" charset="0"/>
              </a:rPr>
              <a:pPr>
                <a:spcBef>
                  <a:spcPct val="0"/>
                </a:spcBef>
                <a:buClrTx/>
                <a:buSzTx/>
                <a:buFontTx/>
                <a:buNone/>
              </a:pPr>
              <a:t>43</a:t>
            </a:fld>
            <a:endParaRPr lang="en-US" altLang="en-US" sz="1000">
              <a:latin typeface="Arial Black" panose="020B0604020202020204" pitchFamily="34" charset="0"/>
            </a:endParaRPr>
          </a:p>
        </p:txBody>
      </p:sp>
      <p:sp>
        <p:nvSpPr>
          <p:cNvPr id="66564" name="Date Placeholder 4">
            <a:extLst>
              <a:ext uri="{FF2B5EF4-FFF2-40B4-BE49-F238E27FC236}">
                <a16:creationId xmlns:a16="http://schemas.microsoft.com/office/drawing/2014/main" id="{30E94CBA-FB62-F862-9B78-02385E83122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CDC286C-0491-4B49-AC61-AF614EF094E2}"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0DFD5C8C-2CCE-95F5-A823-52AD67951016}"/>
              </a:ext>
            </a:extLst>
          </p:cNvPr>
          <p:cNvSpPr>
            <a:spLocks noGrp="1"/>
          </p:cNvSpPr>
          <p:nvPr>
            <p:ph type="title"/>
          </p:nvPr>
        </p:nvSpPr>
        <p:spPr/>
        <p:txBody>
          <a:bodyPr/>
          <a:lstStyle/>
          <a:p>
            <a:r>
              <a:rPr lang="en-US" altLang="en-US"/>
              <a:t>Observer</a:t>
            </a:r>
          </a:p>
        </p:txBody>
      </p:sp>
      <p:sp>
        <p:nvSpPr>
          <p:cNvPr id="67586" name="Content Placeholder 2">
            <a:extLst>
              <a:ext uri="{FF2B5EF4-FFF2-40B4-BE49-F238E27FC236}">
                <a16:creationId xmlns:a16="http://schemas.microsoft.com/office/drawing/2014/main" id="{6DF2E897-568D-DB6E-945C-EB15E5ABD5D4}"/>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 public abstract class Observer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Observer(SubjectEvent subEvent) {</a:t>
            </a:r>
          </a:p>
          <a:p>
            <a:pPr>
              <a:buFont typeface="Wingdings" pitchFamily="2" charset="2"/>
              <a:buNone/>
            </a:pPr>
            <a:r>
              <a:rPr lang="en-US" altLang="en-US" sz="1800">
                <a:latin typeface="Courier New" panose="02070309020205020404" pitchFamily="49" charset="0"/>
                <a:cs typeface="Courier New" panose="02070309020205020404" pitchFamily="49" charset="0"/>
              </a:rPr>
              <a:t>            subEvent.RegisterObserver(this);</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public abstract void Update(object data, </a:t>
            </a:r>
          </a:p>
          <a:p>
            <a:pPr>
              <a:buFont typeface="Wingdings" pitchFamily="2" charset="2"/>
              <a:buNone/>
            </a:pPr>
            <a:r>
              <a:rPr lang="en-US" altLang="en-US" sz="1800">
                <a:latin typeface="Courier New" panose="02070309020205020404" pitchFamily="49" charset="0"/>
                <a:cs typeface="Courier New" panose="02070309020205020404" pitchFamily="49" charset="0"/>
              </a:rPr>
              <a:t>					    string eventName);</a:t>
            </a:r>
          </a:p>
          <a:p>
            <a:pPr>
              <a:buFont typeface="Wingdings" pitchFamily="2" charset="2"/>
              <a:buNone/>
            </a:pPr>
            <a:r>
              <a:rPr lang="en-US" altLang="en-US" sz="1800">
                <a:latin typeface="Courier New" panose="02070309020205020404" pitchFamily="49" charset="0"/>
                <a:cs typeface="Courier New" panose="02070309020205020404" pitchFamily="49" charset="0"/>
              </a:rPr>
              <a:t>	private Observer() {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67587" name="Slide Number Placeholder 3">
            <a:extLst>
              <a:ext uri="{FF2B5EF4-FFF2-40B4-BE49-F238E27FC236}">
                <a16:creationId xmlns:a16="http://schemas.microsoft.com/office/drawing/2014/main" id="{F820E17B-8784-A389-EA32-8CC4204A454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01C5217-BB65-8149-9BBA-9218DB525BD5}" type="slidenum">
              <a:rPr lang="en-US" altLang="en-US" sz="1000">
                <a:latin typeface="Arial Black" panose="020B0604020202020204" pitchFamily="34" charset="0"/>
              </a:rPr>
              <a:pPr>
                <a:spcBef>
                  <a:spcPct val="0"/>
                </a:spcBef>
                <a:buClrTx/>
                <a:buSzTx/>
                <a:buFontTx/>
                <a:buNone/>
              </a:pPr>
              <a:t>44</a:t>
            </a:fld>
            <a:endParaRPr lang="en-US" altLang="en-US" sz="1000">
              <a:latin typeface="Arial Black" panose="020B0604020202020204" pitchFamily="34" charset="0"/>
            </a:endParaRPr>
          </a:p>
        </p:txBody>
      </p:sp>
      <p:sp>
        <p:nvSpPr>
          <p:cNvPr id="67588" name="Date Placeholder 4">
            <a:extLst>
              <a:ext uri="{FF2B5EF4-FFF2-40B4-BE49-F238E27FC236}">
                <a16:creationId xmlns:a16="http://schemas.microsoft.com/office/drawing/2014/main" id="{3D28BC92-E771-D984-C0F7-5A8ACB68B52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C8E1D4E-6FA0-0243-AD93-17C1F06BFAE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0B58893F-C86D-7318-0594-9B55F5864A4A}"/>
              </a:ext>
            </a:extLst>
          </p:cNvPr>
          <p:cNvSpPr>
            <a:spLocks noGrp="1"/>
          </p:cNvSpPr>
          <p:nvPr>
            <p:ph type="title"/>
          </p:nvPr>
        </p:nvSpPr>
        <p:spPr/>
        <p:txBody>
          <a:bodyPr/>
          <a:lstStyle/>
          <a:p>
            <a:r>
              <a:rPr lang="en-US" altLang="en-US"/>
              <a:t>CurrentConditionsDisplay</a:t>
            </a:r>
          </a:p>
        </p:txBody>
      </p:sp>
      <p:sp>
        <p:nvSpPr>
          <p:cNvPr id="68610" name="Content Placeholder 2">
            <a:extLst>
              <a:ext uri="{FF2B5EF4-FFF2-40B4-BE49-F238E27FC236}">
                <a16:creationId xmlns:a16="http://schemas.microsoft.com/office/drawing/2014/main" id="{F0B592AC-A793-FC3E-0E4A-310E5F15EC1A}"/>
              </a:ext>
            </a:extLst>
          </p:cNvPr>
          <p:cNvSpPr>
            <a:spLocks noGrp="1"/>
          </p:cNvSpPr>
          <p:nvPr>
            <p:ph idx="1"/>
          </p:nvPr>
        </p:nvSpPr>
        <p:spPr>
          <a:xfrm>
            <a:off x="152400" y="1371600"/>
            <a:ext cx="8534400" cy="5181600"/>
          </a:xfrm>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 public override void Update(object data, string name)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if (data is WeatherData) {</a:t>
            </a:r>
          </a:p>
          <a:p>
            <a:pPr>
              <a:buFont typeface="Wingdings" pitchFamily="2" charset="2"/>
              <a:buNone/>
            </a:pPr>
            <a:r>
              <a:rPr lang="en-US" altLang="en-US" sz="1800">
                <a:latin typeface="Courier New" panose="02070309020205020404" pitchFamily="49" charset="0"/>
                <a:cs typeface="Courier New" panose="02070309020205020404" pitchFamily="49" charset="0"/>
              </a:rPr>
              <a:t>                WeatherData weather = (WeatherData)data;</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if (name.Equals("WeatherChanged"))</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this.temperature = weather.getTemp();</a:t>
            </a:r>
          </a:p>
          <a:p>
            <a:pPr>
              <a:buFont typeface="Wingdings" pitchFamily="2" charset="2"/>
              <a:buNone/>
            </a:pPr>
            <a:r>
              <a:rPr lang="en-US" altLang="en-US" sz="1800">
                <a:latin typeface="Courier New" panose="02070309020205020404" pitchFamily="49" charset="0"/>
                <a:cs typeface="Courier New" panose="02070309020205020404" pitchFamily="49" charset="0"/>
              </a:rPr>
              <a:t>                    this.humidity = weather.getHumidity();</a:t>
            </a:r>
          </a:p>
          <a:p>
            <a:pPr>
              <a:buFont typeface="Wingdings" pitchFamily="2" charset="2"/>
              <a:buNone/>
            </a:pPr>
            <a:r>
              <a:rPr lang="en-US" altLang="en-US" sz="1800">
                <a:latin typeface="Courier New" panose="02070309020205020404" pitchFamily="49" charset="0"/>
                <a:cs typeface="Courier New" panose="02070309020205020404" pitchFamily="49" charset="0"/>
              </a:rPr>
              <a:t>                    this.pressure = weather.getPressure();</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a:t>
            </a:r>
          </a:p>
        </p:txBody>
      </p:sp>
      <p:sp>
        <p:nvSpPr>
          <p:cNvPr id="68611" name="Slide Number Placeholder 3">
            <a:extLst>
              <a:ext uri="{FF2B5EF4-FFF2-40B4-BE49-F238E27FC236}">
                <a16:creationId xmlns:a16="http://schemas.microsoft.com/office/drawing/2014/main" id="{6FCB6C4D-3AB0-049A-5F32-33346A84754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3FFC47A-FDA2-B947-9027-58CCD5771F58}" type="slidenum">
              <a:rPr lang="en-US" altLang="en-US" sz="1000">
                <a:latin typeface="Arial Black" panose="020B0604020202020204" pitchFamily="34" charset="0"/>
              </a:rPr>
              <a:pPr>
                <a:spcBef>
                  <a:spcPct val="0"/>
                </a:spcBef>
                <a:buClrTx/>
                <a:buSzTx/>
                <a:buFontTx/>
                <a:buNone/>
              </a:pPr>
              <a:t>45</a:t>
            </a:fld>
            <a:endParaRPr lang="en-US" altLang="en-US" sz="1000">
              <a:latin typeface="Arial Black" panose="020B0604020202020204" pitchFamily="34" charset="0"/>
            </a:endParaRPr>
          </a:p>
        </p:txBody>
      </p:sp>
      <p:sp>
        <p:nvSpPr>
          <p:cNvPr id="68612" name="Date Placeholder 4">
            <a:extLst>
              <a:ext uri="{FF2B5EF4-FFF2-40B4-BE49-F238E27FC236}">
                <a16:creationId xmlns:a16="http://schemas.microsoft.com/office/drawing/2014/main" id="{60ECC417-C4DD-41C9-7294-B6463055A8DB}"/>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BAEDE04-00C3-9F41-8102-F3AAB8129717}"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593D7A31-5773-DE63-3DE0-A170F6D68E53}"/>
              </a:ext>
            </a:extLst>
          </p:cNvPr>
          <p:cNvSpPr>
            <a:spLocks noGrp="1"/>
          </p:cNvSpPr>
          <p:nvPr>
            <p:ph type="title"/>
          </p:nvPr>
        </p:nvSpPr>
        <p:spPr/>
        <p:txBody>
          <a:bodyPr/>
          <a:lstStyle/>
          <a:p>
            <a:r>
              <a:rPr lang="en-US" altLang="en-US"/>
              <a:t>Big Picture</a:t>
            </a:r>
          </a:p>
        </p:txBody>
      </p:sp>
      <p:sp>
        <p:nvSpPr>
          <p:cNvPr id="69634" name="Slide Number Placeholder 3">
            <a:extLst>
              <a:ext uri="{FF2B5EF4-FFF2-40B4-BE49-F238E27FC236}">
                <a16:creationId xmlns:a16="http://schemas.microsoft.com/office/drawing/2014/main" id="{84C14CD9-2587-F772-7E2D-488F5A4E36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070328C-A045-384F-AB8D-686055AC9A5F}" type="slidenum">
              <a:rPr lang="en-US" altLang="en-US" sz="1000">
                <a:latin typeface="Arial Black" panose="020B0604020202020204" pitchFamily="34" charset="0"/>
              </a:rPr>
              <a:pPr>
                <a:spcBef>
                  <a:spcPct val="0"/>
                </a:spcBef>
                <a:buClrTx/>
                <a:buSzTx/>
                <a:buFontTx/>
                <a:buNone/>
              </a:pPr>
              <a:t>46</a:t>
            </a:fld>
            <a:endParaRPr lang="en-US" altLang="en-US" sz="1000">
              <a:latin typeface="Arial Black" panose="020B0604020202020204" pitchFamily="34" charset="0"/>
            </a:endParaRPr>
          </a:p>
        </p:txBody>
      </p:sp>
      <p:sp>
        <p:nvSpPr>
          <p:cNvPr id="69635" name="Date Placeholder 4">
            <a:extLst>
              <a:ext uri="{FF2B5EF4-FFF2-40B4-BE49-F238E27FC236}">
                <a16:creationId xmlns:a16="http://schemas.microsoft.com/office/drawing/2014/main" id="{C134B719-F78F-2E4A-66F6-96A335F7F8B5}"/>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1C0219B8-FCA7-FF4C-9347-F93A56A4245C}" type="datetime1">
              <a:rPr lang="en-US" altLang="en-US" sz="1200" smtClean="0"/>
              <a:pPr>
                <a:spcBef>
                  <a:spcPct val="0"/>
                </a:spcBef>
                <a:buClrTx/>
                <a:buSzTx/>
                <a:buFontTx/>
                <a:buNone/>
              </a:pPr>
              <a:t>11/22/23</a:t>
            </a:fld>
            <a:endParaRPr lang="en-US" altLang="en-US" sz="1200"/>
          </a:p>
        </p:txBody>
      </p:sp>
      <p:pic>
        <p:nvPicPr>
          <p:cNvPr id="69636" name="Picture 2">
            <a:extLst>
              <a:ext uri="{FF2B5EF4-FFF2-40B4-BE49-F238E27FC236}">
                <a16:creationId xmlns:a16="http://schemas.microsoft.com/office/drawing/2014/main" id="{17C85DD9-01BA-D9F3-4170-F925EB22F27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62000" y="1447800"/>
            <a:ext cx="6934200" cy="4821238"/>
          </a:xfr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23861A64-5061-8C91-1C0A-83202930F63B}"/>
              </a:ext>
            </a:extLst>
          </p:cNvPr>
          <p:cNvSpPr>
            <a:spLocks noGrp="1"/>
          </p:cNvSpPr>
          <p:nvPr>
            <p:ph type="title"/>
          </p:nvPr>
        </p:nvSpPr>
        <p:spPr/>
        <p:txBody>
          <a:bodyPr/>
          <a:lstStyle/>
          <a:p>
            <a:r>
              <a:rPr lang="en-US" altLang="en-US"/>
              <a:t>Client Code</a:t>
            </a:r>
          </a:p>
        </p:txBody>
      </p:sp>
      <p:sp>
        <p:nvSpPr>
          <p:cNvPr id="70658" name="Content Placeholder 2">
            <a:extLst>
              <a:ext uri="{FF2B5EF4-FFF2-40B4-BE49-F238E27FC236}">
                <a16:creationId xmlns:a16="http://schemas.microsoft.com/office/drawing/2014/main" id="{AC3E40F5-8C77-42A2-2769-9EF5449101DC}"/>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//Create SubjectEvent..with specific event name</a:t>
            </a:r>
          </a:p>
          <a:p>
            <a:pPr>
              <a:buFont typeface="Wingdings" pitchFamily="2" charset="2"/>
              <a:buNone/>
            </a:pPr>
            <a:r>
              <a:rPr lang="en-US" altLang="en-US" sz="1800">
                <a:latin typeface="Courier New" panose="02070309020205020404" pitchFamily="49" charset="0"/>
                <a:cs typeface="Courier New" panose="02070309020205020404" pitchFamily="49" charset="0"/>
              </a:rPr>
              <a:t>SubjectEvent event1 = new SubjectEvent("WeatherChanged");</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//Create Observers for that event</a:t>
            </a:r>
          </a:p>
          <a:p>
            <a:pPr>
              <a:buFont typeface="Wingdings" pitchFamily="2" charset="2"/>
              <a:buNone/>
            </a:pPr>
            <a:r>
              <a:rPr lang="en-US" altLang="en-US" sz="1800">
                <a:latin typeface="Courier New" panose="02070309020205020404" pitchFamily="49" charset="0"/>
                <a:cs typeface="Courier New" panose="02070309020205020404" pitchFamily="49" charset="0"/>
              </a:rPr>
              <a:t>CurrentConditionsDisplay observer1 = new 	CurrentConditionsDisplay(event1);</a:t>
            </a:r>
          </a:p>
          <a:p>
            <a:pPr>
              <a:buFont typeface="Wingdings" pitchFamily="2" charset="2"/>
              <a:buNone/>
            </a:pPr>
            <a:r>
              <a:rPr lang="en-US" altLang="en-US" sz="1800">
                <a:latin typeface="Courier New" panose="02070309020205020404" pitchFamily="49" charset="0"/>
                <a:cs typeface="Courier New" panose="02070309020205020404" pitchFamily="49" charset="0"/>
              </a:rPr>
              <a:t>ForcastDisplay observer2 = new ForcastDisplay(event1);</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//Create Subject (and pass in reference to the event)</a:t>
            </a:r>
          </a:p>
          <a:p>
            <a:pPr>
              <a:buFont typeface="Wingdings" pitchFamily="2" charset="2"/>
              <a:buNone/>
            </a:pPr>
            <a:r>
              <a:rPr lang="en-US" altLang="en-US" sz="1800">
                <a:latin typeface="Courier New" panose="02070309020205020404" pitchFamily="49" charset="0"/>
                <a:cs typeface="Courier New" panose="02070309020205020404" pitchFamily="49" charset="0"/>
              </a:rPr>
              <a:t>WeatherData subject = new WeatherData(event1);</a:t>
            </a:r>
          </a:p>
        </p:txBody>
      </p:sp>
      <p:sp>
        <p:nvSpPr>
          <p:cNvPr id="70659" name="Slide Number Placeholder 3">
            <a:extLst>
              <a:ext uri="{FF2B5EF4-FFF2-40B4-BE49-F238E27FC236}">
                <a16:creationId xmlns:a16="http://schemas.microsoft.com/office/drawing/2014/main" id="{DE63CC06-D9CC-9CD3-9122-BC62B2F035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0CF566F-9A36-6C4E-9E2B-5E79C847068D}" type="slidenum">
              <a:rPr lang="en-US" altLang="en-US" sz="1000">
                <a:latin typeface="Arial Black" panose="020B0604020202020204" pitchFamily="34" charset="0"/>
              </a:rPr>
              <a:pPr>
                <a:spcBef>
                  <a:spcPct val="0"/>
                </a:spcBef>
                <a:buClrTx/>
                <a:buSzTx/>
                <a:buFontTx/>
                <a:buNone/>
              </a:pPr>
              <a:t>47</a:t>
            </a:fld>
            <a:endParaRPr lang="en-US" altLang="en-US" sz="1000">
              <a:latin typeface="Arial Black" panose="020B0604020202020204" pitchFamily="34" charset="0"/>
            </a:endParaRPr>
          </a:p>
        </p:txBody>
      </p:sp>
      <p:sp>
        <p:nvSpPr>
          <p:cNvPr id="70660" name="Date Placeholder 4">
            <a:extLst>
              <a:ext uri="{FF2B5EF4-FFF2-40B4-BE49-F238E27FC236}">
                <a16:creationId xmlns:a16="http://schemas.microsoft.com/office/drawing/2014/main" id="{9661E191-90A4-B9C4-E45F-72403E2DF87D}"/>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52752D81-1475-E643-B49F-3A8805F2CC2E}"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9C60F69E-7E0C-CB5D-4B65-B95D9068EAAA}"/>
              </a:ext>
            </a:extLst>
          </p:cNvPr>
          <p:cNvSpPr>
            <a:spLocks noGrp="1"/>
          </p:cNvSpPr>
          <p:nvPr>
            <p:ph type="title"/>
          </p:nvPr>
        </p:nvSpPr>
        <p:spPr/>
        <p:txBody>
          <a:bodyPr/>
          <a:lstStyle/>
          <a:p>
            <a:r>
              <a:rPr lang="en-US" altLang="en-US"/>
              <a:t>Not done yet..</a:t>
            </a:r>
          </a:p>
        </p:txBody>
      </p:sp>
      <p:sp>
        <p:nvSpPr>
          <p:cNvPr id="71682" name="Content Placeholder 2">
            <a:extLst>
              <a:ext uri="{FF2B5EF4-FFF2-40B4-BE49-F238E27FC236}">
                <a16:creationId xmlns:a16="http://schemas.microsoft.com/office/drawing/2014/main" id="{578265F5-00A6-FD1E-4EB7-F9DF126C1C52}"/>
              </a:ext>
            </a:extLst>
          </p:cNvPr>
          <p:cNvSpPr>
            <a:spLocks noGrp="1"/>
          </p:cNvSpPr>
          <p:nvPr>
            <p:ph idx="1"/>
          </p:nvPr>
        </p:nvSpPr>
        <p:spPr/>
        <p:txBody>
          <a:bodyPr/>
          <a:lstStyle/>
          <a:p>
            <a:pPr>
              <a:buFont typeface="Wingdings" pitchFamily="2" charset="2"/>
              <a:buNone/>
            </a:pPr>
            <a:r>
              <a:rPr lang="en-US" altLang="en-US"/>
              <a:t>WeatherData just contains one event. Now we want to add a second event.</a:t>
            </a:r>
          </a:p>
          <a:p>
            <a:pPr>
              <a:buFont typeface="Wingdings" pitchFamily="2" charset="2"/>
              <a:buNone/>
            </a:pPr>
            <a:endParaRPr lang="en-US" altLang="en-US"/>
          </a:p>
          <a:p>
            <a:pPr>
              <a:buFont typeface="Wingdings" pitchFamily="2" charset="2"/>
              <a:buNone/>
            </a:pPr>
            <a:r>
              <a:rPr lang="en-US" altLang="en-US" sz="1600">
                <a:latin typeface="Courier New" panose="02070309020205020404" pitchFamily="49" charset="0"/>
                <a:cs typeface="Courier New" panose="02070309020205020404" pitchFamily="49" charset="0"/>
              </a:rPr>
              <a:t>public class WeatherData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r>
              <a:rPr lang="en-US" altLang="en-US" sz="1600" b="1">
                <a:solidFill>
                  <a:srgbClr val="FF0000"/>
                </a:solidFill>
                <a:latin typeface="Courier New" panose="02070309020205020404" pitchFamily="49" charset="0"/>
                <a:cs typeface="Courier New" panose="02070309020205020404" pitchFamily="49" charset="0"/>
              </a:rPr>
              <a:t>     SubjectEvent weatherEvent;</a:t>
            </a:r>
          </a:p>
          <a:p>
            <a:pPr>
              <a:buFont typeface="Wingdings" pitchFamily="2" charset="2"/>
              <a:buNone/>
            </a:pPr>
            <a:r>
              <a:rPr lang="en-US" altLang="en-US" sz="1600" b="1">
                <a:solidFill>
                  <a:srgbClr val="FF0000"/>
                </a:solidFill>
                <a:latin typeface="Courier New" panose="02070309020205020404" pitchFamily="49" charset="0"/>
                <a:cs typeface="Courier New" panose="02070309020205020404" pitchFamily="49" charset="0"/>
              </a:rPr>
              <a:t>        SubjectEvent disasterEvent</a:t>
            </a: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public WeatherData(SubjectEvent weatherEvent, 				    SubjectEvent disasterEvent) {</a:t>
            </a:r>
          </a:p>
          <a:p>
            <a:pPr>
              <a:buFont typeface="Wingdings" pitchFamily="2" charset="2"/>
              <a:buNone/>
            </a:pPr>
            <a:r>
              <a:rPr lang="en-US" altLang="en-US" sz="1600">
                <a:latin typeface="Courier New" panose="02070309020205020404" pitchFamily="49" charset="0"/>
                <a:cs typeface="Courier New" panose="02070309020205020404" pitchFamily="49" charset="0"/>
              </a:rPr>
              <a:t>            this.weatherEvent = weatherEvent;</a:t>
            </a:r>
          </a:p>
          <a:p>
            <a:pPr>
              <a:buFont typeface="Wingdings" pitchFamily="2" charset="2"/>
              <a:buNone/>
            </a:pPr>
            <a:r>
              <a:rPr lang="en-US" altLang="en-US" sz="1600">
                <a:latin typeface="Courier New" panose="02070309020205020404" pitchFamily="49" charset="0"/>
                <a:cs typeface="Courier New" panose="02070309020205020404" pitchFamily="49" charset="0"/>
              </a:rPr>
              <a:t>            this.disasterEvent = disasterEvent;</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p:txBody>
      </p:sp>
      <p:sp>
        <p:nvSpPr>
          <p:cNvPr id="71683" name="Slide Number Placeholder 3">
            <a:extLst>
              <a:ext uri="{FF2B5EF4-FFF2-40B4-BE49-F238E27FC236}">
                <a16:creationId xmlns:a16="http://schemas.microsoft.com/office/drawing/2014/main" id="{953E29DC-C4C5-9F2C-F1D6-715DBD83444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68835A7-FBC4-1D42-B641-066D2677D0F9}" type="slidenum">
              <a:rPr lang="en-US" altLang="en-US" sz="1000">
                <a:latin typeface="Arial Black" panose="020B0604020202020204" pitchFamily="34" charset="0"/>
              </a:rPr>
              <a:pPr>
                <a:spcBef>
                  <a:spcPct val="0"/>
                </a:spcBef>
                <a:buClrTx/>
                <a:buSzTx/>
                <a:buFontTx/>
                <a:buNone/>
              </a:pPr>
              <a:t>48</a:t>
            </a:fld>
            <a:endParaRPr lang="en-US" altLang="en-US" sz="1000">
              <a:latin typeface="Arial Black" panose="020B0604020202020204" pitchFamily="34" charset="0"/>
            </a:endParaRPr>
          </a:p>
        </p:txBody>
      </p:sp>
      <p:sp>
        <p:nvSpPr>
          <p:cNvPr id="71684" name="Date Placeholder 4">
            <a:extLst>
              <a:ext uri="{FF2B5EF4-FFF2-40B4-BE49-F238E27FC236}">
                <a16:creationId xmlns:a16="http://schemas.microsoft.com/office/drawing/2014/main" id="{F258B853-8D46-5EDD-223A-A9A2B0CC06AA}"/>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E0E7CBF8-F8B9-E04F-B8A5-36104A6451CF}"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701D1C35-902F-3B09-6365-37392F769689}"/>
              </a:ext>
            </a:extLst>
          </p:cNvPr>
          <p:cNvSpPr>
            <a:spLocks noGrp="1"/>
          </p:cNvSpPr>
          <p:nvPr>
            <p:ph type="title"/>
          </p:nvPr>
        </p:nvSpPr>
        <p:spPr/>
        <p:txBody>
          <a:bodyPr/>
          <a:lstStyle/>
          <a:p>
            <a:r>
              <a:rPr lang="en-US" altLang="en-US"/>
              <a:t>WeatherData (cont)</a:t>
            </a:r>
          </a:p>
        </p:txBody>
      </p:sp>
      <p:sp>
        <p:nvSpPr>
          <p:cNvPr id="72706" name="Content Placeholder 2">
            <a:extLst>
              <a:ext uri="{FF2B5EF4-FFF2-40B4-BE49-F238E27FC236}">
                <a16:creationId xmlns:a16="http://schemas.microsoft.com/office/drawing/2014/main" id="{97DF007A-768A-BF68-3C29-CAAF04D74092}"/>
              </a:ext>
            </a:extLst>
          </p:cNvPr>
          <p:cNvSpPr>
            <a:spLocks noGrp="1"/>
          </p:cNvSpPr>
          <p:nvPr>
            <p:ph idx="1"/>
          </p:nvPr>
        </p:nvSpPr>
        <p:spPr/>
        <p:txBody>
          <a:bodyPr/>
          <a:lstStyle/>
          <a:p>
            <a:pPr>
              <a:buFont typeface="Wingdings" pitchFamily="2" charset="2"/>
              <a:buNone/>
            </a:pPr>
            <a:r>
              <a:rPr lang="en-US" altLang="en-US" sz="1800">
                <a:latin typeface="Courier New" panose="02070309020205020404" pitchFamily="49" charset="0"/>
                <a:cs typeface="Courier New" panose="02070309020205020404" pitchFamily="49" charset="0"/>
              </a:rPr>
              <a:t>		public void WeatherMeasurementsChanged()</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this.weatherEvent.NotifyObserver(this);</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endParaRPr lang="en-US" altLang="en-US" sz="1800">
              <a:latin typeface="Courier New" panose="02070309020205020404" pitchFamily="49" charset="0"/>
              <a:cs typeface="Courier New" panose="02070309020205020404" pitchFamily="49" charset="0"/>
            </a:endParaRPr>
          </a:p>
          <a:p>
            <a:pPr>
              <a:buFont typeface="Wingdings" pitchFamily="2" charset="2"/>
              <a:buNone/>
            </a:pPr>
            <a:r>
              <a:rPr lang="en-US" altLang="en-US" sz="1800">
                <a:latin typeface="Courier New" panose="02070309020205020404" pitchFamily="49" charset="0"/>
                <a:cs typeface="Courier New" panose="02070309020205020404" pitchFamily="49" charset="0"/>
              </a:rPr>
              <a:t>        public void DisasterProbabilityChanged()</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a:p>
            <a:pPr>
              <a:buFont typeface="Wingdings" pitchFamily="2" charset="2"/>
              <a:buNone/>
            </a:pPr>
            <a:r>
              <a:rPr lang="en-US" altLang="en-US" sz="1800">
                <a:latin typeface="Courier New" panose="02070309020205020404" pitchFamily="49" charset="0"/>
                <a:cs typeface="Courier New" panose="02070309020205020404" pitchFamily="49" charset="0"/>
              </a:rPr>
              <a:t>            this.disasterEvent.NotifyObserver(this);</a:t>
            </a:r>
          </a:p>
          <a:p>
            <a:pPr>
              <a:buFont typeface="Wingdings" pitchFamily="2" charset="2"/>
              <a:buNone/>
            </a:pPr>
            <a:r>
              <a:rPr lang="en-US" altLang="en-US" sz="1800">
                <a:latin typeface="Courier New" panose="02070309020205020404" pitchFamily="49" charset="0"/>
                <a:cs typeface="Courier New" panose="02070309020205020404" pitchFamily="49" charset="0"/>
              </a:rPr>
              <a:t>        }</a:t>
            </a:r>
          </a:p>
        </p:txBody>
      </p:sp>
      <p:sp>
        <p:nvSpPr>
          <p:cNvPr id="72707" name="Slide Number Placeholder 3">
            <a:extLst>
              <a:ext uri="{FF2B5EF4-FFF2-40B4-BE49-F238E27FC236}">
                <a16:creationId xmlns:a16="http://schemas.microsoft.com/office/drawing/2014/main" id="{E0F90922-BF1E-5DDE-59B8-92257FBCF1A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4D8B793-76D1-084A-A290-91031E14B644}" type="slidenum">
              <a:rPr lang="en-US" altLang="en-US" sz="1000">
                <a:latin typeface="Arial Black" panose="020B0604020202020204" pitchFamily="34" charset="0"/>
              </a:rPr>
              <a:pPr>
                <a:spcBef>
                  <a:spcPct val="0"/>
                </a:spcBef>
                <a:buClrTx/>
                <a:buSzTx/>
                <a:buFontTx/>
                <a:buNone/>
              </a:pPr>
              <a:t>49</a:t>
            </a:fld>
            <a:endParaRPr lang="en-US" altLang="en-US" sz="1000">
              <a:latin typeface="Arial Black" panose="020B0604020202020204" pitchFamily="34" charset="0"/>
            </a:endParaRPr>
          </a:p>
        </p:txBody>
      </p:sp>
      <p:sp>
        <p:nvSpPr>
          <p:cNvPr id="72708" name="Date Placeholder 4">
            <a:extLst>
              <a:ext uri="{FF2B5EF4-FFF2-40B4-BE49-F238E27FC236}">
                <a16:creationId xmlns:a16="http://schemas.microsoft.com/office/drawing/2014/main" id="{155D9913-549D-EA83-CC09-BA8CE0E795E6}"/>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69BC1BB9-1D78-DC4B-9A77-14EE2CB1416A}"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CED3C6AE-637F-F756-C433-B72C1B113844}"/>
              </a:ext>
            </a:extLst>
          </p:cNvPr>
          <p:cNvSpPr>
            <a:spLocks noGrp="1"/>
          </p:cNvSpPr>
          <p:nvPr>
            <p:ph type="title"/>
          </p:nvPr>
        </p:nvSpPr>
        <p:spPr/>
        <p:txBody>
          <a:bodyPr/>
          <a:lstStyle/>
          <a:p>
            <a:r>
              <a:rPr lang="en-US" altLang="en-US"/>
              <a:t>ConcreteObserver</a:t>
            </a:r>
          </a:p>
        </p:txBody>
      </p:sp>
      <p:sp>
        <p:nvSpPr>
          <p:cNvPr id="73730" name="Content Placeholder 2">
            <a:extLst>
              <a:ext uri="{FF2B5EF4-FFF2-40B4-BE49-F238E27FC236}">
                <a16:creationId xmlns:a16="http://schemas.microsoft.com/office/drawing/2014/main" id="{351FE09E-6ACA-ACC4-EE15-F50DDB141758}"/>
              </a:ext>
            </a:extLst>
          </p:cNvPr>
          <p:cNvSpPr>
            <a:spLocks noGrp="1"/>
          </p:cNvSpPr>
          <p:nvPr>
            <p:ph idx="1"/>
          </p:nvPr>
        </p:nvSpPr>
        <p:spPr>
          <a:xfrm>
            <a:off x="381000" y="1371600"/>
            <a:ext cx="8229600" cy="48006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 public override void Update(object data, string name) {</a:t>
            </a:r>
          </a:p>
          <a:p>
            <a:pPr>
              <a:buFont typeface="Wingdings" pitchFamily="2" charset="2"/>
              <a:buNone/>
            </a:pPr>
            <a:r>
              <a:rPr lang="en-US" altLang="en-US" sz="1600">
                <a:latin typeface="Courier New" panose="02070309020205020404" pitchFamily="49" charset="0"/>
                <a:cs typeface="Courier New" panose="02070309020205020404" pitchFamily="49" charset="0"/>
              </a:rPr>
              <a:t>            if (data is WeatherData)</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WeatherData weather = (WeatherData)data;</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                if (name.Equals("WeatherChanged"))</a:t>
            </a:r>
          </a:p>
          <a:p>
            <a:pPr>
              <a:buFont typeface="Wingdings" pitchFamily="2" charset="2"/>
              <a:buNone/>
            </a:pPr>
            <a:r>
              <a:rPr lang="en-US" altLang="en-US" sz="1600">
                <a:latin typeface="Courier New" panose="02070309020205020404" pitchFamily="49" charset="0"/>
                <a:cs typeface="Courier New" panose="02070309020205020404" pitchFamily="49" charset="0"/>
              </a:rPr>
              <a:t>               	 {  //do weather stuff }</a:t>
            </a:r>
          </a:p>
          <a:p>
            <a:pPr>
              <a:buFont typeface="Wingdings" pitchFamily="2" charset="2"/>
              <a:buNone/>
            </a:pPr>
            <a:r>
              <a:rPr lang="en-US" altLang="en-US" sz="1600">
                <a:latin typeface="Courier New" panose="02070309020205020404" pitchFamily="49" charset="0"/>
                <a:cs typeface="Courier New" panose="02070309020205020404" pitchFamily="49" charset="0"/>
              </a:rPr>
              <a:t>                else if (name.Equals("DisasterComing"))</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this.hurricaneProbability = 						weather.getHurricaneProb();</a:t>
            </a:r>
          </a:p>
          <a:p>
            <a:pPr>
              <a:buFont typeface="Wingdings" pitchFamily="2" charset="2"/>
              <a:buNone/>
            </a:pPr>
            <a:r>
              <a:rPr lang="en-US" altLang="en-US" sz="1600">
                <a:latin typeface="Courier New" panose="02070309020205020404" pitchFamily="49" charset="0"/>
                <a:cs typeface="Courier New" panose="02070309020205020404" pitchFamily="49" charset="0"/>
              </a:rPr>
              <a:t>                    this.tornadoProbability = 					       weather.getTornadoProb();</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a:p>
            <a:pPr>
              <a:buFont typeface="Wingdings" pitchFamily="2" charset="2"/>
              <a:buNone/>
            </a:pPr>
            <a:r>
              <a:rPr lang="en-US" altLang="en-US" sz="1600">
                <a:latin typeface="Courier New" panose="02070309020205020404" pitchFamily="49" charset="0"/>
                <a:cs typeface="Courier New" panose="02070309020205020404" pitchFamily="49" charset="0"/>
              </a:rPr>
              <a:t>        }</a:t>
            </a:r>
          </a:p>
        </p:txBody>
      </p:sp>
      <p:sp>
        <p:nvSpPr>
          <p:cNvPr id="73731" name="Slide Number Placeholder 3">
            <a:extLst>
              <a:ext uri="{FF2B5EF4-FFF2-40B4-BE49-F238E27FC236}">
                <a16:creationId xmlns:a16="http://schemas.microsoft.com/office/drawing/2014/main" id="{BA28F96C-C229-6317-ECCB-2C441E4BF2E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E13CC49-3CBC-284B-A3C4-EBAC689E2599}" type="slidenum">
              <a:rPr lang="en-US" altLang="en-US" sz="1000">
                <a:latin typeface="Arial Black" panose="020B0604020202020204" pitchFamily="34" charset="0"/>
              </a:rPr>
              <a:pPr>
                <a:spcBef>
                  <a:spcPct val="0"/>
                </a:spcBef>
                <a:buClrTx/>
                <a:buSzTx/>
                <a:buFontTx/>
                <a:buNone/>
              </a:pPr>
              <a:t>50</a:t>
            </a:fld>
            <a:endParaRPr lang="en-US" altLang="en-US" sz="1000">
              <a:latin typeface="Arial Black" panose="020B0604020202020204" pitchFamily="34" charset="0"/>
            </a:endParaRPr>
          </a:p>
        </p:txBody>
      </p:sp>
      <p:sp>
        <p:nvSpPr>
          <p:cNvPr id="73732" name="Date Placeholder 4">
            <a:extLst>
              <a:ext uri="{FF2B5EF4-FFF2-40B4-BE49-F238E27FC236}">
                <a16:creationId xmlns:a16="http://schemas.microsoft.com/office/drawing/2014/main" id="{A1F50122-85B1-87DC-2D5B-4B6766A614E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06E1090-C904-844C-9730-B1E07FA35E9A}"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4DF7696A-FBD4-3EA2-2BD5-7A721B299239}"/>
              </a:ext>
            </a:extLst>
          </p:cNvPr>
          <p:cNvSpPr>
            <a:spLocks noGrp="1"/>
          </p:cNvSpPr>
          <p:nvPr>
            <p:ph type="title"/>
          </p:nvPr>
        </p:nvSpPr>
        <p:spPr/>
        <p:txBody>
          <a:bodyPr/>
          <a:lstStyle/>
          <a:p>
            <a:r>
              <a:rPr lang="en-US" altLang="en-US"/>
              <a:t>Client Code</a:t>
            </a:r>
          </a:p>
        </p:txBody>
      </p:sp>
      <p:sp>
        <p:nvSpPr>
          <p:cNvPr id="74754" name="Content Placeholder 2">
            <a:extLst>
              <a:ext uri="{FF2B5EF4-FFF2-40B4-BE49-F238E27FC236}">
                <a16:creationId xmlns:a16="http://schemas.microsoft.com/office/drawing/2014/main" id="{F6C2BCFB-82A2-B906-86FF-A87141A7FACD}"/>
              </a:ext>
            </a:extLst>
          </p:cNvPr>
          <p:cNvSpPr>
            <a:spLocks noGrp="1"/>
          </p:cNvSpPr>
          <p:nvPr>
            <p:ph idx="1"/>
          </p:nvPr>
        </p:nvSpPr>
        <p:spPr>
          <a:xfrm>
            <a:off x="457200" y="1371600"/>
            <a:ext cx="8686800" cy="4495800"/>
          </a:xfrm>
        </p:spPr>
        <p:txBody>
          <a:bodyPr/>
          <a:lstStyle/>
          <a:p>
            <a:pPr>
              <a:buFont typeface="Wingdings" pitchFamily="2" charset="2"/>
              <a:buNone/>
            </a:pPr>
            <a:r>
              <a:rPr lang="en-US" altLang="en-US" sz="1600">
                <a:latin typeface="Courier New" panose="02070309020205020404" pitchFamily="49" charset="0"/>
                <a:cs typeface="Courier New" panose="02070309020205020404" pitchFamily="49" charset="0"/>
              </a:rPr>
              <a:t>//Create Observers</a:t>
            </a:r>
          </a:p>
          <a:p>
            <a:pPr>
              <a:buFont typeface="Wingdings" pitchFamily="2" charset="2"/>
              <a:buNone/>
            </a:pPr>
            <a:r>
              <a:rPr lang="en-US" altLang="en-US" sz="1600">
                <a:latin typeface="Courier New" panose="02070309020205020404" pitchFamily="49" charset="0"/>
                <a:cs typeface="Courier New" panose="02070309020205020404" pitchFamily="49" charset="0"/>
              </a:rPr>
              <a:t>CurrentConditionsDisplay observer1 = new CurrentConditionsDisplay();</a:t>
            </a:r>
          </a:p>
          <a:p>
            <a:pPr>
              <a:buFont typeface="Wingdings" pitchFamily="2" charset="2"/>
              <a:buNone/>
            </a:pPr>
            <a:r>
              <a:rPr lang="en-US" altLang="en-US" sz="1600">
                <a:latin typeface="Courier New" panose="02070309020205020404" pitchFamily="49" charset="0"/>
                <a:cs typeface="Courier New" panose="02070309020205020404" pitchFamily="49" charset="0"/>
              </a:rPr>
              <a:t>ForcastDisplay observer2 = new ForcastDisplay(); </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//Create SubjectEvents</a:t>
            </a:r>
          </a:p>
          <a:p>
            <a:pPr>
              <a:buFont typeface="Wingdings" pitchFamily="2" charset="2"/>
              <a:buNone/>
            </a:pPr>
            <a:r>
              <a:rPr lang="en-US" altLang="en-US" sz="1600">
                <a:latin typeface="Courier New" panose="02070309020205020404" pitchFamily="49" charset="0"/>
                <a:cs typeface="Courier New" panose="02070309020205020404" pitchFamily="49" charset="0"/>
              </a:rPr>
              <a:t>SubjectEvent se1 = new SubjectEvent("WeatherChanged");</a:t>
            </a:r>
          </a:p>
          <a:p>
            <a:pPr>
              <a:buFont typeface="Wingdings" pitchFamily="2" charset="2"/>
              <a:buNone/>
            </a:pPr>
            <a:r>
              <a:rPr lang="en-US" altLang="en-US" sz="1600">
                <a:latin typeface="Courier New" panose="02070309020205020404" pitchFamily="49" charset="0"/>
                <a:cs typeface="Courier New" panose="02070309020205020404" pitchFamily="49" charset="0"/>
              </a:rPr>
              <a:t>se1.RegisterObserver(observer1);</a:t>
            </a:r>
          </a:p>
          <a:p>
            <a:pPr>
              <a:buFont typeface="Wingdings" pitchFamily="2" charset="2"/>
              <a:buNone/>
            </a:pPr>
            <a:r>
              <a:rPr lang="en-US" altLang="en-US" sz="1600">
                <a:latin typeface="Courier New" panose="02070309020205020404" pitchFamily="49" charset="0"/>
                <a:cs typeface="Courier New" panose="02070309020205020404" pitchFamily="49" charset="0"/>
              </a:rPr>
              <a:t>se1.RegisterObserver(observer2);</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SubjectEvent se2 = new SubjectEvent("DisasterComing");</a:t>
            </a:r>
          </a:p>
          <a:p>
            <a:pPr>
              <a:buFont typeface="Wingdings" pitchFamily="2" charset="2"/>
              <a:buNone/>
            </a:pPr>
            <a:r>
              <a:rPr lang="en-US" altLang="en-US" sz="1600">
                <a:latin typeface="Courier New" panose="02070309020205020404" pitchFamily="49" charset="0"/>
                <a:cs typeface="Courier New" panose="02070309020205020404" pitchFamily="49" charset="0"/>
              </a:rPr>
              <a:t>se2.RegisterObserver(observer2);</a:t>
            </a:r>
          </a:p>
          <a:p>
            <a:pPr>
              <a:buFont typeface="Wingdings" pitchFamily="2" charset="2"/>
              <a:buNone/>
            </a:pPr>
            <a:endParaRPr lang="en-US" altLang="en-US" sz="1600">
              <a:latin typeface="Courier New" panose="02070309020205020404" pitchFamily="49" charset="0"/>
              <a:cs typeface="Courier New" panose="02070309020205020404" pitchFamily="49" charset="0"/>
            </a:endParaRPr>
          </a:p>
          <a:p>
            <a:pPr>
              <a:buFont typeface="Wingdings" pitchFamily="2" charset="2"/>
              <a:buNone/>
            </a:pPr>
            <a:r>
              <a:rPr lang="en-US" altLang="en-US" sz="1600">
                <a:latin typeface="Courier New" panose="02070309020205020404" pitchFamily="49" charset="0"/>
                <a:cs typeface="Courier New" panose="02070309020205020404" pitchFamily="49" charset="0"/>
              </a:rPr>
              <a:t>//Create Subject</a:t>
            </a:r>
          </a:p>
          <a:p>
            <a:pPr>
              <a:buFont typeface="Wingdings" pitchFamily="2" charset="2"/>
              <a:buNone/>
            </a:pPr>
            <a:r>
              <a:rPr lang="en-US" altLang="en-US" sz="1600">
                <a:latin typeface="Courier New" panose="02070309020205020404" pitchFamily="49" charset="0"/>
                <a:cs typeface="Courier New" panose="02070309020205020404" pitchFamily="49" charset="0"/>
              </a:rPr>
              <a:t>WeatherData wd = new WeatherData(se1, se2)</a:t>
            </a:r>
          </a:p>
        </p:txBody>
      </p:sp>
      <p:sp>
        <p:nvSpPr>
          <p:cNvPr id="74755" name="Slide Number Placeholder 3">
            <a:extLst>
              <a:ext uri="{FF2B5EF4-FFF2-40B4-BE49-F238E27FC236}">
                <a16:creationId xmlns:a16="http://schemas.microsoft.com/office/drawing/2014/main" id="{A813427D-81AF-EA96-40D3-2FE0E43A646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D64D2025-D2AC-0144-AFA0-623CFF3AAFB2}" type="slidenum">
              <a:rPr lang="en-US" altLang="en-US" sz="1000">
                <a:latin typeface="Arial Black" panose="020B0604020202020204" pitchFamily="34" charset="0"/>
              </a:rPr>
              <a:pPr>
                <a:spcBef>
                  <a:spcPct val="0"/>
                </a:spcBef>
                <a:buClrTx/>
                <a:buSzTx/>
                <a:buFontTx/>
                <a:buNone/>
              </a:pPr>
              <a:t>51</a:t>
            </a:fld>
            <a:endParaRPr lang="en-US" altLang="en-US" sz="1000">
              <a:latin typeface="Arial Black" panose="020B0604020202020204" pitchFamily="34" charset="0"/>
            </a:endParaRPr>
          </a:p>
        </p:txBody>
      </p:sp>
      <p:sp>
        <p:nvSpPr>
          <p:cNvPr id="74756" name="Date Placeholder 4">
            <a:extLst>
              <a:ext uri="{FF2B5EF4-FFF2-40B4-BE49-F238E27FC236}">
                <a16:creationId xmlns:a16="http://schemas.microsoft.com/office/drawing/2014/main" id="{5BFBA867-E4D6-2988-332E-CB60D5AAB68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45C8F6B-DD62-9B47-AFDD-6E23A99C24E0}"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5CD4AF2-E1BF-A9A9-CCE8-5DADDF06AC4D}"/>
              </a:ext>
            </a:extLst>
          </p:cNvPr>
          <p:cNvSpPr>
            <a:spLocks noGrp="1"/>
          </p:cNvSpPr>
          <p:nvPr>
            <p:ph type="title"/>
          </p:nvPr>
        </p:nvSpPr>
        <p:spPr/>
        <p:txBody>
          <a:bodyPr/>
          <a:lstStyle/>
          <a:p>
            <a:r>
              <a:rPr lang="en-US" altLang="en-US"/>
              <a:t>Other Problems Arise..</a:t>
            </a:r>
          </a:p>
        </p:txBody>
      </p:sp>
      <p:sp>
        <p:nvSpPr>
          <p:cNvPr id="75778" name="Content Placeholder 2">
            <a:extLst>
              <a:ext uri="{FF2B5EF4-FFF2-40B4-BE49-F238E27FC236}">
                <a16:creationId xmlns:a16="http://schemas.microsoft.com/office/drawing/2014/main" id="{D085D887-9B4A-63C9-3A57-05A0AEB8DE73}"/>
              </a:ext>
            </a:extLst>
          </p:cNvPr>
          <p:cNvSpPr>
            <a:spLocks noGrp="1"/>
          </p:cNvSpPr>
          <p:nvPr>
            <p:ph idx="1"/>
          </p:nvPr>
        </p:nvSpPr>
        <p:spPr>
          <a:xfrm>
            <a:off x="457200" y="1143000"/>
            <a:ext cx="8229600" cy="5257800"/>
          </a:xfrm>
        </p:spPr>
        <p:txBody>
          <a:bodyPr/>
          <a:lstStyle/>
          <a:p>
            <a:r>
              <a:rPr lang="en-US" altLang="en-US"/>
              <a:t>Problem #1: Let’s say CurrentConditionsDisplay gets notified that WeatherData has a change in temperature. It then performs some magical actions, which result in WeatherData getting another change in temperature.  What is the impact?</a:t>
            </a:r>
          </a:p>
          <a:p>
            <a:endParaRPr lang="en-US" altLang="en-US"/>
          </a:p>
          <a:p>
            <a:r>
              <a:rPr lang="en-US" altLang="en-US"/>
              <a:t>Problem #2:  WeatherData objects are created for VA, MD, and DC regions.  The Observers should only be updated when all three WeatherData objects have an internal change. </a:t>
            </a:r>
          </a:p>
        </p:txBody>
      </p:sp>
      <p:sp>
        <p:nvSpPr>
          <p:cNvPr id="75779" name="Slide Number Placeholder 3">
            <a:extLst>
              <a:ext uri="{FF2B5EF4-FFF2-40B4-BE49-F238E27FC236}">
                <a16:creationId xmlns:a16="http://schemas.microsoft.com/office/drawing/2014/main" id="{469A32F7-30DD-BD92-12AA-98A16A8BABB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3516FEC-2A96-584B-A312-049B07ABE1DD}" type="slidenum">
              <a:rPr lang="en-US" altLang="en-US" sz="1000">
                <a:latin typeface="Arial Black" panose="020B0604020202020204" pitchFamily="34" charset="0"/>
              </a:rPr>
              <a:pPr>
                <a:spcBef>
                  <a:spcPct val="0"/>
                </a:spcBef>
                <a:buClrTx/>
                <a:buSzTx/>
                <a:buFontTx/>
                <a:buNone/>
              </a:pPr>
              <a:t>52</a:t>
            </a:fld>
            <a:endParaRPr lang="en-US" altLang="en-US" sz="1000">
              <a:latin typeface="Arial Black" panose="020B0604020202020204" pitchFamily="34" charset="0"/>
            </a:endParaRPr>
          </a:p>
        </p:txBody>
      </p:sp>
      <p:sp>
        <p:nvSpPr>
          <p:cNvPr id="75780" name="Date Placeholder 4">
            <a:extLst>
              <a:ext uri="{FF2B5EF4-FFF2-40B4-BE49-F238E27FC236}">
                <a16:creationId xmlns:a16="http://schemas.microsoft.com/office/drawing/2014/main" id="{ABB07281-C6BD-D88C-22F5-21CD0FA0724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978CD31-B6F0-FE4C-B9C6-5DF2BAA5AFCC}"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3A093EC7-5E74-5038-3DFA-B937A2C0A404}"/>
              </a:ext>
            </a:extLst>
          </p:cNvPr>
          <p:cNvSpPr>
            <a:spLocks noGrp="1"/>
          </p:cNvSpPr>
          <p:nvPr>
            <p:ph type="title"/>
          </p:nvPr>
        </p:nvSpPr>
        <p:spPr/>
        <p:txBody>
          <a:bodyPr/>
          <a:lstStyle/>
          <a:p>
            <a:r>
              <a:rPr lang="en-US" altLang="en-US"/>
              <a:t>Change Manager</a:t>
            </a:r>
          </a:p>
        </p:txBody>
      </p:sp>
      <p:sp>
        <p:nvSpPr>
          <p:cNvPr id="76802" name="Content Placeholder 2">
            <a:extLst>
              <a:ext uri="{FF2B5EF4-FFF2-40B4-BE49-F238E27FC236}">
                <a16:creationId xmlns:a16="http://schemas.microsoft.com/office/drawing/2014/main" id="{1599727C-58B5-B71D-A7F9-B7DAE45F4169}"/>
              </a:ext>
            </a:extLst>
          </p:cNvPr>
          <p:cNvSpPr>
            <a:spLocks noGrp="1"/>
          </p:cNvSpPr>
          <p:nvPr>
            <p:ph idx="1"/>
          </p:nvPr>
        </p:nvSpPr>
        <p:spPr>
          <a:xfrm>
            <a:off x="457200" y="1371600"/>
            <a:ext cx="8229600" cy="4724400"/>
          </a:xfrm>
        </p:spPr>
        <p:txBody>
          <a:bodyPr/>
          <a:lstStyle/>
          <a:p>
            <a:r>
              <a:rPr lang="en-US" altLang="en-US"/>
              <a:t>Both of these problems can be solved with another objected called the ChangeManager.</a:t>
            </a:r>
          </a:p>
          <a:p>
            <a:endParaRPr lang="en-US" altLang="en-US"/>
          </a:p>
          <a:p>
            <a:r>
              <a:rPr lang="en-US" altLang="en-US"/>
              <a:t>This object is an example of Mediator Pattern</a:t>
            </a:r>
          </a:p>
          <a:p>
            <a:pPr lvl="1"/>
            <a:r>
              <a:rPr lang="en-US" altLang="en-US"/>
              <a:t>GoF Intent: “Define an object that encapsulates how a set of objects interact. Mediator promotes loose coupling by keeping objects from referring to each other explicitly, and it lets you vary their interaction independently.”</a:t>
            </a:r>
          </a:p>
          <a:p>
            <a:endParaRPr lang="en-US" altLang="en-US"/>
          </a:p>
          <a:p>
            <a:r>
              <a:rPr lang="en-US" altLang="en-US"/>
              <a:t>It can handle complex update strategies.</a:t>
            </a:r>
          </a:p>
          <a:p>
            <a:endParaRPr lang="en-US" altLang="en-US"/>
          </a:p>
          <a:p>
            <a:r>
              <a:rPr lang="en-US" altLang="en-US"/>
              <a:t>It can also be a Singleton!</a:t>
            </a:r>
          </a:p>
        </p:txBody>
      </p:sp>
      <p:sp>
        <p:nvSpPr>
          <p:cNvPr id="76803" name="Slide Number Placeholder 3">
            <a:extLst>
              <a:ext uri="{FF2B5EF4-FFF2-40B4-BE49-F238E27FC236}">
                <a16:creationId xmlns:a16="http://schemas.microsoft.com/office/drawing/2014/main" id="{1BE71443-F17B-A773-3E5F-15B0DA6D06C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F449E8E-27DC-EE4F-8835-7E90CAD2AB10}" type="slidenum">
              <a:rPr lang="en-US" altLang="en-US" sz="1000">
                <a:latin typeface="Arial Black" panose="020B0604020202020204" pitchFamily="34" charset="0"/>
              </a:rPr>
              <a:pPr>
                <a:spcBef>
                  <a:spcPct val="0"/>
                </a:spcBef>
                <a:buClrTx/>
                <a:buSzTx/>
                <a:buFontTx/>
                <a:buNone/>
              </a:pPr>
              <a:t>53</a:t>
            </a:fld>
            <a:endParaRPr lang="en-US" altLang="en-US" sz="1000">
              <a:latin typeface="Arial Black" panose="020B0604020202020204" pitchFamily="34" charset="0"/>
            </a:endParaRPr>
          </a:p>
        </p:txBody>
      </p:sp>
      <p:sp>
        <p:nvSpPr>
          <p:cNvPr id="76804" name="Date Placeholder 4">
            <a:extLst>
              <a:ext uri="{FF2B5EF4-FFF2-40B4-BE49-F238E27FC236}">
                <a16:creationId xmlns:a16="http://schemas.microsoft.com/office/drawing/2014/main" id="{E32218FE-B2C6-5247-4A04-B05AE40DA692}"/>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B13139DA-C3B9-CB46-A3AE-AF2DB49D8F3A}"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D8B5F765-C888-73FC-2567-859CB9C0DE25}"/>
              </a:ext>
            </a:extLst>
          </p:cNvPr>
          <p:cNvSpPr>
            <a:spLocks noGrp="1"/>
          </p:cNvSpPr>
          <p:nvPr>
            <p:ph type="title"/>
          </p:nvPr>
        </p:nvSpPr>
        <p:spPr/>
        <p:txBody>
          <a:bodyPr/>
          <a:lstStyle/>
          <a:p>
            <a:r>
              <a:rPr lang="en-US" altLang="en-US"/>
              <a:t>Features of the Change Manager</a:t>
            </a:r>
          </a:p>
        </p:txBody>
      </p:sp>
      <p:sp>
        <p:nvSpPr>
          <p:cNvPr id="77826" name="Content Placeholder 2">
            <a:extLst>
              <a:ext uri="{FF2B5EF4-FFF2-40B4-BE49-F238E27FC236}">
                <a16:creationId xmlns:a16="http://schemas.microsoft.com/office/drawing/2014/main" id="{C3144B10-DA77-58EA-70CA-C59F9679D169}"/>
              </a:ext>
            </a:extLst>
          </p:cNvPr>
          <p:cNvSpPr>
            <a:spLocks noGrp="1"/>
          </p:cNvSpPr>
          <p:nvPr>
            <p:ph idx="1"/>
          </p:nvPr>
        </p:nvSpPr>
        <p:spPr>
          <a:xfrm>
            <a:off x="381000" y="1371600"/>
            <a:ext cx="8229600" cy="4495800"/>
          </a:xfrm>
        </p:spPr>
        <p:txBody>
          <a:bodyPr/>
          <a:lstStyle/>
          <a:p>
            <a:r>
              <a:rPr lang="en-US" altLang="en-US"/>
              <a:t>Contains a mapping of Subject-to-Observers.</a:t>
            </a:r>
          </a:p>
          <a:p>
            <a:endParaRPr lang="en-US" altLang="en-US"/>
          </a:p>
          <a:p>
            <a:r>
              <a:rPr lang="en-US" altLang="en-US"/>
              <a:t>Provides an interface for registering Subject to Observers.</a:t>
            </a:r>
          </a:p>
          <a:p>
            <a:endParaRPr lang="en-US" altLang="en-US"/>
          </a:p>
          <a:p>
            <a:r>
              <a:rPr lang="en-US" altLang="en-US"/>
              <a:t>Eliminates the need for Subject to maintain references to its Observers (and vica versa).</a:t>
            </a:r>
          </a:p>
          <a:p>
            <a:endParaRPr lang="en-US" altLang="en-US"/>
          </a:p>
          <a:p>
            <a:r>
              <a:rPr lang="en-US" altLang="en-US"/>
              <a:t>Defines a specific update strategy.</a:t>
            </a:r>
          </a:p>
        </p:txBody>
      </p:sp>
      <p:sp>
        <p:nvSpPr>
          <p:cNvPr id="77827" name="Slide Number Placeholder 3">
            <a:extLst>
              <a:ext uri="{FF2B5EF4-FFF2-40B4-BE49-F238E27FC236}">
                <a16:creationId xmlns:a16="http://schemas.microsoft.com/office/drawing/2014/main" id="{C6556565-7A52-B3DA-DC2F-1A066313939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ADCBC27E-E05D-0F41-9E01-7ACD50DD93E5}" type="slidenum">
              <a:rPr lang="en-US" altLang="en-US" sz="1000">
                <a:latin typeface="Arial Black" panose="020B0604020202020204" pitchFamily="34" charset="0"/>
              </a:rPr>
              <a:pPr>
                <a:spcBef>
                  <a:spcPct val="0"/>
                </a:spcBef>
                <a:buClrTx/>
                <a:buSzTx/>
                <a:buFontTx/>
                <a:buNone/>
              </a:pPr>
              <a:t>54</a:t>
            </a:fld>
            <a:endParaRPr lang="en-US" altLang="en-US" sz="1000">
              <a:latin typeface="Arial Black" panose="020B0604020202020204" pitchFamily="34" charset="0"/>
            </a:endParaRPr>
          </a:p>
        </p:txBody>
      </p:sp>
      <p:sp>
        <p:nvSpPr>
          <p:cNvPr id="77828" name="Date Placeholder 4">
            <a:extLst>
              <a:ext uri="{FF2B5EF4-FFF2-40B4-BE49-F238E27FC236}">
                <a16:creationId xmlns:a16="http://schemas.microsoft.com/office/drawing/2014/main" id="{0DDBDB17-8E8E-7A06-F55B-A7B5DB1AFF68}"/>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F7048C0-2C30-5048-A7A1-D06543AD89E0}"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F6D82C8B-DF5E-B509-EE19-D6A467981732}"/>
              </a:ext>
            </a:extLst>
          </p:cNvPr>
          <p:cNvSpPr>
            <a:spLocks noGrp="1"/>
          </p:cNvSpPr>
          <p:nvPr>
            <p:ph type="title"/>
          </p:nvPr>
        </p:nvSpPr>
        <p:spPr/>
        <p:txBody>
          <a:bodyPr/>
          <a:lstStyle/>
          <a:p>
            <a:r>
              <a:rPr lang="en-US" altLang="en-US"/>
              <a:t>Addressing Problem #2</a:t>
            </a:r>
          </a:p>
        </p:txBody>
      </p:sp>
      <p:sp>
        <p:nvSpPr>
          <p:cNvPr id="78850" name="Content Placeholder 2">
            <a:extLst>
              <a:ext uri="{FF2B5EF4-FFF2-40B4-BE49-F238E27FC236}">
                <a16:creationId xmlns:a16="http://schemas.microsoft.com/office/drawing/2014/main" id="{1B0B887A-11C8-B3A1-F28F-FDA4DDE1A8D1}"/>
              </a:ext>
            </a:extLst>
          </p:cNvPr>
          <p:cNvSpPr>
            <a:spLocks noGrp="1"/>
          </p:cNvSpPr>
          <p:nvPr>
            <p:ph idx="1"/>
          </p:nvPr>
        </p:nvSpPr>
        <p:spPr/>
        <p:txBody>
          <a:bodyPr/>
          <a:lstStyle/>
          <a:p>
            <a:pPr>
              <a:buFont typeface="Wingdings" pitchFamily="2" charset="2"/>
              <a:buNone/>
            </a:pPr>
            <a:r>
              <a:rPr lang="en-US" altLang="en-US"/>
              <a:t>ChangeManager can store the relationship between each Subject to Observers.  For example:</a:t>
            </a:r>
          </a:p>
          <a:p>
            <a:pPr>
              <a:buFont typeface="Wingdings" pitchFamily="2" charset="2"/>
              <a:buNone/>
            </a:pPr>
            <a:endParaRPr lang="en-US" altLang="en-US"/>
          </a:p>
          <a:p>
            <a:pPr lvl="1"/>
            <a:r>
              <a:rPr lang="en-US" altLang="en-US"/>
              <a:t>Subject : WeatherData (DC)</a:t>
            </a:r>
          </a:p>
          <a:p>
            <a:pPr lvl="1"/>
            <a:r>
              <a:rPr lang="en-US" altLang="en-US"/>
              <a:t>Observer(s): CurrentConditions, ForcastDisplay</a:t>
            </a:r>
          </a:p>
          <a:p>
            <a:pPr lvl="1"/>
            <a:endParaRPr lang="en-US" altLang="en-US"/>
          </a:p>
          <a:p>
            <a:pPr lvl="1"/>
            <a:r>
              <a:rPr lang="en-US" altLang="en-US"/>
              <a:t>Subject : WeatherData (VA)</a:t>
            </a:r>
          </a:p>
          <a:p>
            <a:pPr lvl="1"/>
            <a:r>
              <a:rPr lang="en-US" altLang="en-US"/>
              <a:t>Observer(s): CurrentConditions</a:t>
            </a:r>
          </a:p>
          <a:p>
            <a:pPr lvl="1"/>
            <a:endParaRPr lang="en-US" altLang="en-US"/>
          </a:p>
          <a:p>
            <a:pPr lvl="1"/>
            <a:r>
              <a:rPr lang="en-US" altLang="en-US"/>
              <a:t>Subject : WeatherData (MD)</a:t>
            </a:r>
          </a:p>
          <a:p>
            <a:pPr lvl="1"/>
            <a:r>
              <a:rPr lang="en-US" altLang="en-US"/>
              <a:t>Observer(s): CurrentConditions, StatisticsDisplay</a:t>
            </a:r>
          </a:p>
          <a:p>
            <a:pPr lvl="1"/>
            <a:endParaRPr lang="en-US" altLang="en-US"/>
          </a:p>
        </p:txBody>
      </p:sp>
      <p:sp>
        <p:nvSpPr>
          <p:cNvPr id="78851" name="Slide Number Placeholder 3">
            <a:extLst>
              <a:ext uri="{FF2B5EF4-FFF2-40B4-BE49-F238E27FC236}">
                <a16:creationId xmlns:a16="http://schemas.microsoft.com/office/drawing/2014/main" id="{AADB098C-86A2-5147-A153-188F651BE27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945EFBD-79A7-5542-8707-3F0C44802C72}" type="slidenum">
              <a:rPr lang="en-US" altLang="en-US" sz="1000">
                <a:latin typeface="Arial Black" panose="020B0604020202020204" pitchFamily="34" charset="0"/>
              </a:rPr>
              <a:pPr>
                <a:spcBef>
                  <a:spcPct val="0"/>
                </a:spcBef>
                <a:buClrTx/>
                <a:buSzTx/>
                <a:buFontTx/>
                <a:buNone/>
              </a:pPr>
              <a:t>55</a:t>
            </a:fld>
            <a:endParaRPr lang="en-US" altLang="en-US" sz="1000">
              <a:latin typeface="Arial Black" panose="020B0604020202020204" pitchFamily="34" charset="0"/>
            </a:endParaRPr>
          </a:p>
        </p:txBody>
      </p:sp>
      <p:sp>
        <p:nvSpPr>
          <p:cNvPr id="78852" name="Date Placeholder 4">
            <a:extLst>
              <a:ext uri="{FF2B5EF4-FFF2-40B4-BE49-F238E27FC236}">
                <a16:creationId xmlns:a16="http://schemas.microsoft.com/office/drawing/2014/main" id="{0C4C8147-6C49-CA36-185C-03596F9824D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DBBFED6-420B-5747-8D63-40E150CD5A69}"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5535874F-3894-2A0B-6786-A1680D4BAB76}"/>
              </a:ext>
            </a:extLst>
          </p:cNvPr>
          <p:cNvSpPr>
            <a:spLocks noGrp="1"/>
          </p:cNvSpPr>
          <p:nvPr>
            <p:ph type="title"/>
          </p:nvPr>
        </p:nvSpPr>
        <p:spPr/>
        <p:txBody>
          <a:bodyPr/>
          <a:lstStyle/>
          <a:p>
            <a:r>
              <a:rPr lang="en-US" altLang="en-US"/>
              <a:t>Addressing Problem #2 (cont)</a:t>
            </a:r>
          </a:p>
        </p:txBody>
      </p:sp>
      <p:sp>
        <p:nvSpPr>
          <p:cNvPr id="79874" name="Content Placeholder 2">
            <a:extLst>
              <a:ext uri="{FF2B5EF4-FFF2-40B4-BE49-F238E27FC236}">
                <a16:creationId xmlns:a16="http://schemas.microsoft.com/office/drawing/2014/main" id="{48ECE9EB-CD2A-A7A8-C010-41DA192C2128}"/>
              </a:ext>
            </a:extLst>
          </p:cNvPr>
          <p:cNvSpPr>
            <a:spLocks noGrp="1"/>
          </p:cNvSpPr>
          <p:nvPr>
            <p:ph idx="1"/>
          </p:nvPr>
        </p:nvSpPr>
        <p:spPr/>
        <p:txBody>
          <a:bodyPr/>
          <a:lstStyle/>
          <a:p>
            <a:r>
              <a:rPr lang="en-US" altLang="en-US"/>
              <a:t>When WeatherData(DC) has an internal update, it sends a message to ChangeManager to notify observers.</a:t>
            </a:r>
          </a:p>
          <a:p>
            <a:endParaRPr lang="en-US" altLang="en-US"/>
          </a:p>
          <a:p>
            <a:r>
              <a:rPr lang="en-US" altLang="en-US"/>
              <a:t>The ChangeManager contains an internal state that indicates if all three WeatherData objects have indicated a recent change.</a:t>
            </a:r>
          </a:p>
          <a:p>
            <a:endParaRPr lang="en-US" altLang="en-US"/>
          </a:p>
          <a:p>
            <a:r>
              <a:rPr lang="en-US" altLang="en-US"/>
              <a:t>If ChangeManager determines that all three WeatherData objects have indicted a change, it sends a message to each Observer associated with each Subject.</a:t>
            </a:r>
          </a:p>
        </p:txBody>
      </p:sp>
      <p:sp>
        <p:nvSpPr>
          <p:cNvPr id="79875" name="Slide Number Placeholder 3">
            <a:extLst>
              <a:ext uri="{FF2B5EF4-FFF2-40B4-BE49-F238E27FC236}">
                <a16:creationId xmlns:a16="http://schemas.microsoft.com/office/drawing/2014/main" id="{53C78D75-11E8-13BA-4514-10A453B976D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BE6CE67-1263-7540-9F88-87F492F177EE}" type="slidenum">
              <a:rPr lang="en-US" altLang="en-US" sz="1000">
                <a:latin typeface="Arial Black" panose="020B0604020202020204" pitchFamily="34" charset="0"/>
              </a:rPr>
              <a:pPr>
                <a:spcBef>
                  <a:spcPct val="0"/>
                </a:spcBef>
                <a:buClrTx/>
                <a:buSzTx/>
                <a:buFontTx/>
                <a:buNone/>
              </a:pPr>
              <a:t>56</a:t>
            </a:fld>
            <a:endParaRPr lang="en-US" altLang="en-US" sz="1000">
              <a:latin typeface="Arial Black" panose="020B0604020202020204" pitchFamily="34" charset="0"/>
            </a:endParaRPr>
          </a:p>
        </p:txBody>
      </p:sp>
      <p:sp>
        <p:nvSpPr>
          <p:cNvPr id="79876" name="Date Placeholder 4">
            <a:extLst>
              <a:ext uri="{FF2B5EF4-FFF2-40B4-BE49-F238E27FC236}">
                <a16:creationId xmlns:a16="http://schemas.microsoft.com/office/drawing/2014/main" id="{0C1CDEA9-AE54-703B-9604-251EA0A4F607}"/>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74131F0B-BD9C-2D4E-BA30-AA79F5204F4E}"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B9B709F8-E02D-D376-03F3-0D4A191682EC}"/>
              </a:ext>
            </a:extLst>
          </p:cNvPr>
          <p:cNvSpPr>
            <a:spLocks noGrp="1"/>
          </p:cNvSpPr>
          <p:nvPr>
            <p:ph type="title"/>
          </p:nvPr>
        </p:nvSpPr>
        <p:spPr/>
        <p:txBody>
          <a:bodyPr/>
          <a:lstStyle/>
          <a:p>
            <a:r>
              <a:rPr lang="en-US" altLang="en-US"/>
              <a:t>Using Event Infrastructure</a:t>
            </a:r>
          </a:p>
        </p:txBody>
      </p:sp>
      <p:sp>
        <p:nvSpPr>
          <p:cNvPr id="80898" name="Content Placeholder 2">
            <a:extLst>
              <a:ext uri="{FF2B5EF4-FFF2-40B4-BE49-F238E27FC236}">
                <a16:creationId xmlns:a16="http://schemas.microsoft.com/office/drawing/2014/main" id="{A66EE1C6-A802-51C4-AB7F-5172C06ECAC1}"/>
              </a:ext>
            </a:extLst>
          </p:cNvPr>
          <p:cNvSpPr>
            <a:spLocks noGrp="1"/>
          </p:cNvSpPr>
          <p:nvPr>
            <p:ph idx="1"/>
          </p:nvPr>
        </p:nvSpPr>
        <p:spPr/>
        <p:txBody>
          <a:bodyPr/>
          <a:lstStyle/>
          <a:p>
            <a:r>
              <a:rPr lang="en-US" altLang="en-US"/>
              <a:t>All of these examples have been using the Classical Definition of the Observer pattern.</a:t>
            </a:r>
          </a:p>
          <a:p>
            <a:endParaRPr lang="en-US" altLang="en-US"/>
          </a:p>
          <a:p>
            <a:r>
              <a:rPr lang="en-US" altLang="en-US"/>
              <a:t>There are language specific features of C# and Java that can be used to make this pattern much simpler to use.</a:t>
            </a:r>
          </a:p>
          <a:p>
            <a:endParaRPr lang="en-US" altLang="en-US"/>
          </a:p>
          <a:p>
            <a:r>
              <a:rPr lang="en-US" altLang="en-US"/>
              <a:t>Using the Event infrastructure:</a:t>
            </a:r>
          </a:p>
          <a:p>
            <a:pPr lvl="1"/>
            <a:r>
              <a:rPr lang="en-US" altLang="en-US"/>
              <a:t>RegisterObserver  </a:t>
            </a:r>
            <a:r>
              <a:rPr lang="en-US" altLang="en-US">
                <a:sym typeface="Wingdings" pitchFamily="2" charset="2"/>
              </a:rPr>
              <a:t> Register Event with Handler</a:t>
            </a:r>
          </a:p>
          <a:p>
            <a:pPr lvl="1"/>
            <a:r>
              <a:rPr lang="en-US" altLang="en-US">
                <a:sym typeface="Wingdings" pitchFamily="2" charset="2"/>
              </a:rPr>
              <a:t>RemoveObserver   Unregister Event with Handler</a:t>
            </a:r>
          </a:p>
          <a:p>
            <a:pPr lvl="1"/>
            <a:r>
              <a:rPr lang="en-US" altLang="en-US">
                <a:sym typeface="Wingdings" pitchFamily="2" charset="2"/>
              </a:rPr>
              <a:t>NotifyObserver   Raise Event</a:t>
            </a:r>
          </a:p>
          <a:p>
            <a:pPr lvl="1"/>
            <a:r>
              <a:rPr lang="en-US" altLang="en-US">
                <a:sym typeface="Wingdings" pitchFamily="2" charset="2"/>
              </a:rPr>
              <a:t>Special data about the Event can be passed as Event argument.</a:t>
            </a:r>
            <a:endParaRPr lang="en-US" altLang="en-US"/>
          </a:p>
        </p:txBody>
      </p:sp>
      <p:sp>
        <p:nvSpPr>
          <p:cNvPr id="80899" name="Slide Number Placeholder 3">
            <a:extLst>
              <a:ext uri="{FF2B5EF4-FFF2-40B4-BE49-F238E27FC236}">
                <a16:creationId xmlns:a16="http://schemas.microsoft.com/office/drawing/2014/main" id="{932DC1D3-655D-C20C-E8B0-50456FF3FEE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88EFE487-10EF-F642-8FE3-EB9CE69A8A81}" type="slidenum">
              <a:rPr lang="en-US" altLang="en-US" sz="1000">
                <a:latin typeface="Arial Black" panose="020B0604020202020204" pitchFamily="34" charset="0"/>
              </a:rPr>
              <a:pPr>
                <a:spcBef>
                  <a:spcPct val="0"/>
                </a:spcBef>
                <a:buClrTx/>
                <a:buSzTx/>
                <a:buFontTx/>
                <a:buNone/>
              </a:pPr>
              <a:t>57</a:t>
            </a:fld>
            <a:endParaRPr lang="en-US" altLang="en-US" sz="1000">
              <a:latin typeface="Arial Black" panose="020B0604020202020204" pitchFamily="34" charset="0"/>
            </a:endParaRPr>
          </a:p>
        </p:txBody>
      </p:sp>
      <p:sp>
        <p:nvSpPr>
          <p:cNvPr id="80900" name="Date Placeholder 4">
            <a:extLst>
              <a:ext uri="{FF2B5EF4-FFF2-40B4-BE49-F238E27FC236}">
                <a16:creationId xmlns:a16="http://schemas.microsoft.com/office/drawing/2014/main" id="{4EF48365-2AF7-7EF1-3FC3-4C46E7CB4AB9}"/>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3159BA14-363D-6145-8D4D-9BE74864EC9E}"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AD1E0B1B-E4CC-30B0-92C4-E96DCF300B7D}"/>
              </a:ext>
            </a:extLst>
          </p:cNvPr>
          <p:cNvSpPr>
            <a:spLocks noGrp="1"/>
          </p:cNvSpPr>
          <p:nvPr>
            <p:ph type="title"/>
          </p:nvPr>
        </p:nvSpPr>
        <p:spPr/>
        <p:txBody>
          <a:bodyPr/>
          <a:lstStyle/>
          <a:p>
            <a:r>
              <a:rPr lang="en-US" altLang="en-US"/>
              <a:t>Real World Examples</a:t>
            </a:r>
          </a:p>
        </p:txBody>
      </p:sp>
      <p:sp>
        <p:nvSpPr>
          <p:cNvPr id="81922" name="Content Placeholder 2">
            <a:extLst>
              <a:ext uri="{FF2B5EF4-FFF2-40B4-BE49-F238E27FC236}">
                <a16:creationId xmlns:a16="http://schemas.microsoft.com/office/drawing/2014/main" id="{10FFE9AE-6907-C1DD-4875-B71A41C1ABD0}"/>
              </a:ext>
            </a:extLst>
          </p:cNvPr>
          <p:cNvSpPr>
            <a:spLocks noGrp="1"/>
          </p:cNvSpPr>
          <p:nvPr>
            <p:ph idx="1"/>
          </p:nvPr>
        </p:nvSpPr>
        <p:spPr>
          <a:xfrm>
            <a:off x="381000" y="1295400"/>
            <a:ext cx="8229600" cy="4495800"/>
          </a:xfrm>
        </p:spPr>
        <p:txBody>
          <a:bodyPr/>
          <a:lstStyle/>
          <a:p>
            <a:r>
              <a:rPr lang="en-US" altLang="en-US"/>
              <a:t>Problem #1</a:t>
            </a:r>
          </a:p>
          <a:p>
            <a:pPr lvl="1"/>
            <a:r>
              <a:rPr lang="en-US" altLang="en-US"/>
              <a:t>Search screen that lists documents with a Status per document</a:t>
            </a:r>
          </a:p>
          <a:p>
            <a:pPr lvl="1"/>
            <a:r>
              <a:rPr lang="en-US" altLang="en-US"/>
              <a:t>From the screen, user can open one or more documents.</a:t>
            </a:r>
          </a:p>
          <a:p>
            <a:pPr lvl="1"/>
            <a:r>
              <a:rPr lang="en-US" altLang="en-US"/>
              <a:t>When a document is opened, the status is changed.</a:t>
            </a:r>
          </a:p>
          <a:p>
            <a:pPr lvl="1"/>
            <a:r>
              <a:rPr lang="en-US" altLang="en-US"/>
              <a:t>User closes document, the search screen still displays the old status.</a:t>
            </a:r>
          </a:p>
          <a:p>
            <a:pPr lvl="1"/>
            <a:endParaRPr lang="en-US" altLang="en-US"/>
          </a:p>
          <a:p>
            <a:r>
              <a:rPr lang="en-US" altLang="en-US"/>
              <a:t>Who are the Observers?</a:t>
            </a:r>
          </a:p>
          <a:p>
            <a:endParaRPr lang="en-US" altLang="en-US"/>
          </a:p>
          <a:p>
            <a:r>
              <a:rPr lang="en-US" altLang="en-US"/>
              <a:t>Who are the Subjects?</a:t>
            </a:r>
          </a:p>
        </p:txBody>
      </p:sp>
      <p:sp>
        <p:nvSpPr>
          <p:cNvPr id="81923" name="Slide Number Placeholder 3">
            <a:extLst>
              <a:ext uri="{FF2B5EF4-FFF2-40B4-BE49-F238E27FC236}">
                <a16:creationId xmlns:a16="http://schemas.microsoft.com/office/drawing/2014/main" id="{2691994D-0D44-0774-36D2-12A83220F1F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C60A4E85-13C8-884B-8BA1-4B9A07B928E1}" type="slidenum">
              <a:rPr lang="en-US" altLang="en-US" sz="1000">
                <a:latin typeface="Arial Black" panose="020B0604020202020204" pitchFamily="34" charset="0"/>
              </a:rPr>
              <a:pPr>
                <a:spcBef>
                  <a:spcPct val="0"/>
                </a:spcBef>
                <a:buClrTx/>
                <a:buSzTx/>
                <a:buFontTx/>
                <a:buNone/>
              </a:pPr>
              <a:t>58</a:t>
            </a:fld>
            <a:endParaRPr lang="en-US" altLang="en-US" sz="1000">
              <a:latin typeface="Arial Black" panose="020B0604020202020204" pitchFamily="34" charset="0"/>
            </a:endParaRPr>
          </a:p>
        </p:txBody>
      </p:sp>
      <p:sp>
        <p:nvSpPr>
          <p:cNvPr id="81924" name="Date Placeholder 4">
            <a:extLst>
              <a:ext uri="{FF2B5EF4-FFF2-40B4-BE49-F238E27FC236}">
                <a16:creationId xmlns:a16="http://schemas.microsoft.com/office/drawing/2014/main" id="{C0FE96FC-2575-1281-B806-71EA51DBD1B1}"/>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00DC38A6-5680-B844-998F-6003BF7DE341}"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FEA3D988-3BEF-5A0A-79C5-670FBC925226}"/>
              </a:ext>
            </a:extLst>
          </p:cNvPr>
          <p:cNvSpPr>
            <a:spLocks noGrp="1"/>
          </p:cNvSpPr>
          <p:nvPr>
            <p:ph type="title"/>
          </p:nvPr>
        </p:nvSpPr>
        <p:spPr/>
        <p:txBody>
          <a:bodyPr/>
          <a:lstStyle/>
          <a:p>
            <a:r>
              <a:rPr lang="en-US" altLang="en-US"/>
              <a:t>Solution #1</a:t>
            </a:r>
          </a:p>
        </p:txBody>
      </p:sp>
      <p:sp>
        <p:nvSpPr>
          <p:cNvPr id="83970" name="Content Placeholder 2">
            <a:extLst>
              <a:ext uri="{FF2B5EF4-FFF2-40B4-BE49-F238E27FC236}">
                <a16:creationId xmlns:a16="http://schemas.microsoft.com/office/drawing/2014/main" id="{61E4358C-C53B-1E65-270F-9B3DEF8BE19E}"/>
              </a:ext>
            </a:extLst>
          </p:cNvPr>
          <p:cNvSpPr>
            <a:spLocks noGrp="1"/>
          </p:cNvSpPr>
          <p:nvPr>
            <p:ph idx="1"/>
          </p:nvPr>
        </p:nvSpPr>
        <p:spPr>
          <a:xfrm>
            <a:off x="457200" y="990600"/>
            <a:ext cx="8229600" cy="5867400"/>
          </a:xfrm>
        </p:spPr>
        <p:txBody>
          <a:bodyPr/>
          <a:lstStyle/>
          <a:p>
            <a:pPr>
              <a:buFont typeface="Wingdings" pitchFamily="2" charset="2"/>
              <a:buNone/>
            </a:pPr>
            <a:r>
              <a:rPr lang="en-US" altLang="en-US"/>
              <a:t>Search Screen = Observer (Just one)</a:t>
            </a:r>
          </a:p>
          <a:p>
            <a:pPr>
              <a:buFont typeface="Wingdings" pitchFamily="2" charset="2"/>
              <a:buNone/>
            </a:pPr>
            <a:r>
              <a:rPr lang="en-US" altLang="en-US"/>
              <a:t>Each opened document = Subject</a:t>
            </a:r>
          </a:p>
          <a:p>
            <a:pPr>
              <a:buFont typeface="Wingdings" pitchFamily="2" charset="2"/>
              <a:buNone/>
            </a:pPr>
            <a:r>
              <a:rPr lang="en-US" altLang="en-US"/>
              <a:t>So we have one Observer with multiple Subjects.</a:t>
            </a:r>
          </a:p>
          <a:p>
            <a:endParaRPr lang="en-US" altLang="en-US"/>
          </a:p>
          <a:p>
            <a:r>
              <a:rPr lang="en-US" altLang="en-US"/>
              <a:t>When a document is opened, the Search screen (Observer) must register itself with the Document (Subject).</a:t>
            </a:r>
          </a:p>
          <a:p>
            <a:r>
              <a:rPr lang="en-US" altLang="en-US"/>
              <a:t>Subject must broadcast a notify message when its Status state changes.</a:t>
            </a:r>
          </a:p>
          <a:p>
            <a:r>
              <a:rPr lang="en-US" altLang="en-US"/>
              <a:t>Observer, upon receiving the message, can update its state and display the updated status.</a:t>
            </a:r>
          </a:p>
          <a:p>
            <a:r>
              <a:rPr lang="en-US" altLang="en-US"/>
              <a:t>When Subject closes, the Observer must unregister itself with the Subject. (The Subject needs to tell the Observer that it is closing)</a:t>
            </a:r>
          </a:p>
          <a:p>
            <a:endParaRPr lang="en-US" altLang="en-US"/>
          </a:p>
          <a:p>
            <a:endParaRPr lang="en-US" altLang="en-US"/>
          </a:p>
          <a:p>
            <a:endParaRPr lang="en-US" altLang="en-US"/>
          </a:p>
        </p:txBody>
      </p:sp>
      <p:sp>
        <p:nvSpPr>
          <p:cNvPr id="83971" name="Slide Number Placeholder 3">
            <a:extLst>
              <a:ext uri="{FF2B5EF4-FFF2-40B4-BE49-F238E27FC236}">
                <a16:creationId xmlns:a16="http://schemas.microsoft.com/office/drawing/2014/main" id="{E7721065-0A03-302F-DFA2-08D6FD22991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C580D5A-6B20-B848-A326-589415020625}" type="slidenum">
              <a:rPr lang="en-US" altLang="en-US" sz="1000">
                <a:latin typeface="Arial Black" panose="020B0604020202020204" pitchFamily="34" charset="0"/>
              </a:rPr>
              <a:pPr>
                <a:spcBef>
                  <a:spcPct val="0"/>
                </a:spcBef>
                <a:buClrTx/>
                <a:buSzTx/>
                <a:buFontTx/>
                <a:buNone/>
              </a:pPr>
              <a:t>59</a:t>
            </a:fld>
            <a:endParaRPr lang="en-US" altLang="en-US" sz="1000">
              <a:latin typeface="Arial Black"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869F6264-C563-97C4-3426-3CB34E0F7FF4}"/>
              </a:ext>
            </a:extLst>
          </p:cNvPr>
          <p:cNvSpPr>
            <a:spLocks noGrp="1"/>
          </p:cNvSpPr>
          <p:nvPr>
            <p:ph type="title"/>
          </p:nvPr>
        </p:nvSpPr>
        <p:spPr/>
        <p:txBody>
          <a:bodyPr/>
          <a:lstStyle/>
          <a:p>
            <a:r>
              <a:rPr lang="en-US" altLang="en-US"/>
              <a:t>Problem #2</a:t>
            </a:r>
          </a:p>
        </p:txBody>
      </p:sp>
      <p:sp>
        <p:nvSpPr>
          <p:cNvPr id="84994" name="Content Placeholder 2">
            <a:extLst>
              <a:ext uri="{FF2B5EF4-FFF2-40B4-BE49-F238E27FC236}">
                <a16:creationId xmlns:a16="http://schemas.microsoft.com/office/drawing/2014/main" id="{0BA3EEA6-3887-0623-B98C-257A574C6242}"/>
              </a:ext>
            </a:extLst>
          </p:cNvPr>
          <p:cNvSpPr>
            <a:spLocks noGrp="1"/>
          </p:cNvSpPr>
          <p:nvPr>
            <p:ph idx="1"/>
          </p:nvPr>
        </p:nvSpPr>
        <p:spPr/>
        <p:txBody>
          <a:bodyPr/>
          <a:lstStyle/>
          <a:p>
            <a:r>
              <a:rPr lang="en-US" altLang="en-US"/>
              <a:t>Document structure that contains Parent and Child nodes.</a:t>
            </a:r>
          </a:p>
          <a:p>
            <a:endParaRPr lang="en-US" altLang="en-US"/>
          </a:p>
          <a:p>
            <a:r>
              <a:rPr lang="en-US" altLang="en-US"/>
              <a:t>When a Parent Node changes, all of the Child Nodes need to be re-validated.</a:t>
            </a:r>
          </a:p>
          <a:p>
            <a:endParaRPr lang="en-US" altLang="en-US"/>
          </a:p>
          <a:p>
            <a:r>
              <a:rPr lang="en-US" altLang="en-US"/>
              <a:t>Currently, we simply re-validate all Child Nodes for all Parents. There is no direct relationship between a change in Parent affecting the Child Nodes.</a:t>
            </a:r>
          </a:p>
          <a:p>
            <a:endParaRPr lang="en-US" altLang="en-US"/>
          </a:p>
          <a:p>
            <a:r>
              <a:rPr lang="en-US" altLang="en-US"/>
              <a:t>Who are Observers? Subjects?</a:t>
            </a:r>
          </a:p>
          <a:p>
            <a:pPr>
              <a:buFont typeface="Wingdings" pitchFamily="2" charset="2"/>
              <a:buNone/>
            </a:pPr>
            <a:endParaRPr lang="en-US" altLang="en-US"/>
          </a:p>
          <a:p>
            <a:pPr>
              <a:buFont typeface="Wingdings" pitchFamily="2" charset="2"/>
              <a:buNone/>
            </a:pPr>
            <a:endParaRPr lang="en-US" altLang="en-US"/>
          </a:p>
        </p:txBody>
      </p:sp>
      <p:sp>
        <p:nvSpPr>
          <p:cNvPr id="84995" name="Slide Number Placeholder 3">
            <a:extLst>
              <a:ext uri="{FF2B5EF4-FFF2-40B4-BE49-F238E27FC236}">
                <a16:creationId xmlns:a16="http://schemas.microsoft.com/office/drawing/2014/main" id="{615CE223-9C75-A7ED-F50D-C45A9C1196A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953FBD3A-99AC-2D42-8D87-BB76E3EA26CA}" type="slidenum">
              <a:rPr lang="en-US" altLang="en-US" sz="1000">
                <a:latin typeface="Arial Black" panose="020B0604020202020204" pitchFamily="34" charset="0"/>
              </a:rPr>
              <a:pPr>
                <a:spcBef>
                  <a:spcPct val="0"/>
                </a:spcBef>
                <a:buClrTx/>
                <a:buSzTx/>
                <a:buFontTx/>
                <a:buNone/>
              </a:pPr>
              <a:t>60</a:t>
            </a:fld>
            <a:endParaRPr lang="en-US" altLang="en-US" sz="1000">
              <a:latin typeface="Arial Black" panose="020B0604020202020204" pitchFamily="34" charset="0"/>
            </a:endParaRPr>
          </a:p>
        </p:txBody>
      </p:sp>
      <p:sp>
        <p:nvSpPr>
          <p:cNvPr id="84996" name="Date Placeholder 4">
            <a:extLst>
              <a:ext uri="{FF2B5EF4-FFF2-40B4-BE49-F238E27FC236}">
                <a16:creationId xmlns:a16="http://schemas.microsoft.com/office/drawing/2014/main" id="{2D9C77E7-6E34-D105-A072-BF7ED32C76D4}"/>
              </a:ext>
            </a:extLst>
          </p:cNvPr>
          <p:cNvSpPr>
            <a:spLocks noGrp="1"/>
          </p:cNvSpPr>
          <p:nvPr>
            <p:ph type="dt"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404262AF-4D0E-3E4C-AE6E-C7975371B613}" type="datetime1">
              <a:rPr lang="en-US" altLang="en-US" sz="1200" smtClean="0"/>
              <a:pPr>
                <a:spcBef>
                  <a:spcPct val="0"/>
                </a:spcBef>
                <a:buClrTx/>
                <a:buSzTx/>
                <a:buFontTx/>
                <a:buNone/>
              </a:pPr>
              <a:t>11/22/23</a:t>
            </a:fld>
            <a:endParaRPr lang="en-US" altLang="en-US" sz="12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6644F3AB-BA19-6B6A-4CBB-707C6DA82756}"/>
              </a:ext>
            </a:extLst>
          </p:cNvPr>
          <p:cNvSpPr>
            <a:spLocks noGrp="1"/>
          </p:cNvSpPr>
          <p:nvPr>
            <p:ph type="title"/>
          </p:nvPr>
        </p:nvSpPr>
        <p:spPr/>
        <p:txBody>
          <a:bodyPr/>
          <a:lstStyle/>
          <a:p>
            <a:r>
              <a:rPr lang="en-US" altLang="en-US"/>
              <a:t>Solution #2</a:t>
            </a:r>
          </a:p>
        </p:txBody>
      </p:sp>
      <p:sp>
        <p:nvSpPr>
          <p:cNvPr id="87042" name="Content Placeholder 2">
            <a:extLst>
              <a:ext uri="{FF2B5EF4-FFF2-40B4-BE49-F238E27FC236}">
                <a16:creationId xmlns:a16="http://schemas.microsoft.com/office/drawing/2014/main" id="{822796EB-7D97-B36A-2A5C-0554D94AA71D}"/>
              </a:ext>
            </a:extLst>
          </p:cNvPr>
          <p:cNvSpPr>
            <a:spLocks noGrp="1"/>
          </p:cNvSpPr>
          <p:nvPr>
            <p:ph idx="1"/>
          </p:nvPr>
        </p:nvSpPr>
        <p:spPr>
          <a:xfrm>
            <a:off x="381000" y="1066800"/>
            <a:ext cx="8229600" cy="5638800"/>
          </a:xfrm>
        </p:spPr>
        <p:txBody>
          <a:bodyPr/>
          <a:lstStyle/>
          <a:p>
            <a:r>
              <a:rPr lang="en-US" altLang="en-US"/>
              <a:t>Observers – All Child Nodes for a single Parent</a:t>
            </a:r>
          </a:p>
          <a:p>
            <a:r>
              <a:rPr lang="en-US" altLang="en-US"/>
              <a:t>Subject – Single Parent Node</a:t>
            </a:r>
          </a:p>
          <a:p>
            <a:r>
              <a:rPr lang="en-US" altLang="en-US"/>
              <a:t>So multiple Observers with one Subject.</a:t>
            </a:r>
          </a:p>
          <a:p>
            <a:endParaRPr lang="en-US" altLang="en-US"/>
          </a:p>
          <a:p>
            <a:pPr>
              <a:buFont typeface="Wingdings" pitchFamily="2" charset="2"/>
              <a:buNone/>
            </a:pPr>
            <a:r>
              <a:rPr lang="en-US" altLang="en-US"/>
              <a:t>All Observers must register themselves with a data change event for the Subject.</a:t>
            </a:r>
          </a:p>
          <a:p>
            <a:pPr>
              <a:buFont typeface="Wingdings" pitchFamily="2" charset="2"/>
              <a:buNone/>
            </a:pPr>
            <a:endParaRPr lang="en-US" altLang="en-US"/>
          </a:p>
          <a:p>
            <a:pPr>
              <a:buFont typeface="Wingdings" pitchFamily="2" charset="2"/>
              <a:buNone/>
            </a:pPr>
            <a:r>
              <a:rPr lang="en-US" altLang="en-US"/>
              <a:t>When the Subject changes it state, a data change notification is sent.</a:t>
            </a:r>
          </a:p>
          <a:p>
            <a:pPr>
              <a:buFont typeface="Wingdings" pitchFamily="2" charset="2"/>
              <a:buNone/>
            </a:pPr>
            <a:endParaRPr lang="en-US" altLang="en-US"/>
          </a:p>
          <a:p>
            <a:pPr>
              <a:buFont typeface="Wingdings" pitchFamily="2" charset="2"/>
              <a:buNone/>
            </a:pPr>
            <a:r>
              <a:rPr lang="en-US" altLang="en-US"/>
              <a:t>Each Subject re-validates itself.</a:t>
            </a:r>
          </a:p>
          <a:p>
            <a:pPr>
              <a:buFont typeface="Wingdings" pitchFamily="2" charset="2"/>
              <a:buNone/>
            </a:pPr>
            <a:endParaRPr lang="en-US" altLang="en-US"/>
          </a:p>
          <a:p>
            <a:pPr>
              <a:buFont typeface="Wingdings" pitchFamily="2" charset="2"/>
              <a:buNone/>
            </a:pPr>
            <a:r>
              <a:rPr lang="en-US" altLang="en-US" i="1"/>
              <a:t>Also: </a:t>
            </a:r>
            <a:r>
              <a:rPr lang="en-US" altLang="en-US"/>
              <a:t>See Composite Pattern. </a:t>
            </a:r>
          </a:p>
        </p:txBody>
      </p:sp>
      <p:sp>
        <p:nvSpPr>
          <p:cNvPr id="87043" name="Slide Number Placeholder 3">
            <a:extLst>
              <a:ext uri="{FF2B5EF4-FFF2-40B4-BE49-F238E27FC236}">
                <a16:creationId xmlns:a16="http://schemas.microsoft.com/office/drawing/2014/main" id="{E8E13B8E-80CA-F111-3365-4A8EFA48F47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itchFamily="2" charset="2"/>
              <a:buChar char="n"/>
              <a:defRPr sz="2400">
                <a:solidFill>
                  <a:schemeClr val="tx1"/>
                </a:solidFill>
                <a:latin typeface="Arial" panose="020B0604020202020204" pitchFamily="34" charset="0"/>
              </a:defRPr>
            </a:lvl1pPr>
            <a:lvl2pPr marL="742950" indent="-285750">
              <a:spcBef>
                <a:spcPct val="20000"/>
              </a:spcBef>
              <a:buClr>
                <a:schemeClr val="accent2"/>
              </a:buClr>
              <a:buSzPct val="80000"/>
              <a:buFont typeface="Wingdings" pitchFamily="2" charset="2"/>
              <a:buChar char="¨"/>
              <a:defRPr sz="2000">
                <a:solidFill>
                  <a:schemeClr val="tx1"/>
                </a:solidFill>
                <a:latin typeface="Arial" panose="020B0604020202020204"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itchFamily="2" charset="2"/>
              <a:buChar char="¨"/>
              <a:defRPr sz="1600">
                <a:solidFill>
                  <a:schemeClr val="tx1"/>
                </a:solidFill>
                <a:latin typeface="Arial" panose="020B0604020202020204" pitchFamily="34" charset="0"/>
              </a:defRPr>
            </a:lvl4pPr>
            <a:lvl5pPr marL="2057400" indent="-228600">
              <a:spcBef>
                <a:spcPct val="20000"/>
              </a:spcBef>
              <a:buClr>
                <a:schemeClr val="bg2"/>
              </a:buClr>
              <a:buFont typeface="Wingdings" pitchFamily="2" charset="2"/>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fld id="{28DB68E4-FB67-F74C-92FB-01B23F0941B1}" type="slidenum">
              <a:rPr lang="en-US" altLang="en-US" sz="1000">
                <a:latin typeface="Arial Black" panose="020B0604020202020204" pitchFamily="34" charset="0"/>
              </a:rPr>
              <a:pPr>
                <a:spcBef>
                  <a:spcPct val="0"/>
                </a:spcBef>
                <a:buClrTx/>
                <a:buSzTx/>
                <a:buFontTx/>
                <a:buNone/>
              </a:pPr>
              <a:t>61</a:t>
            </a:fld>
            <a:endParaRPr lang="en-US" altLang="en-US" sz="1000">
              <a:latin typeface="Arial Black" panose="020B0604020202020204" pitchFamily="34" charset="0"/>
            </a:endParaRPr>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TDA Elaboration Session I Nov 5</Template>
  <TotalTime>4077</TotalTime>
  <Words>3977</Words>
  <Application>Microsoft Macintosh PowerPoint</Application>
  <PresentationFormat>On-screen Show (4:3)</PresentationFormat>
  <Paragraphs>705</Paragraphs>
  <Slides>61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Arial</vt:lpstr>
      <vt:lpstr>Arial Black</vt:lpstr>
      <vt:lpstr>Courier New</vt:lpstr>
      <vt:lpstr>Times New Roman</vt:lpstr>
      <vt:lpstr>Wingdings</vt:lpstr>
      <vt:lpstr>Pixel</vt:lpstr>
      <vt:lpstr>Design Patterns</vt:lpstr>
      <vt:lpstr>Weather Monitoring Application</vt:lpstr>
      <vt:lpstr>Observer Pattern</vt:lpstr>
      <vt:lpstr>PowerPoint Presentation</vt:lpstr>
      <vt:lpstr>PowerPoint Presentation</vt:lpstr>
      <vt:lpstr>Definitions</vt:lpstr>
      <vt:lpstr>Interfaces</vt:lpstr>
      <vt:lpstr>WeatherData (Subject)</vt:lpstr>
      <vt:lpstr>WeatherData (Subject; Pt 1)</vt:lpstr>
      <vt:lpstr>WeatherData (Subject; Pt2)</vt:lpstr>
      <vt:lpstr>Current Conditions Display (Observer)</vt:lpstr>
      <vt:lpstr>CurrentConditionsDisplay (Observer)</vt:lpstr>
      <vt:lpstr>WeatherStation</vt:lpstr>
      <vt:lpstr>Lab - Push</vt:lpstr>
      <vt:lpstr>Lab - Pull</vt:lpstr>
      <vt:lpstr>Lab – Refactor WeatherData</vt:lpstr>
      <vt:lpstr>Refactoring WeatherData </vt:lpstr>
      <vt:lpstr>Subject</vt:lpstr>
      <vt:lpstr>Subject</vt:lpstr>
      <vt:lpstr>Subject</vt:lpstr>
      <vt:lpstr>Observer</vt:lpstr>
      <vt:lpstr>Observer</vt:lpstr>
      <vt:lpstr>So far…</vt:lpstr>
      <vt:lpstr>Concrete Subject</vt:lpstr>
      <vt:lpstr>ConcreteSubject</vt:lpstr>
      <vt:lpstr>Concrete Observer</vt:lpstr>
      <vt:lpstr>ConcreteObserver</vt:lpstr>
      <vt:lpstr>Client Code</vt:lpstr>
      <vt:lpstr>The Big Picture</vt:lpstr>
      <vt:lpstr>In Class Lab</vt:lpstr>
      <vt:lpstr>Multiple Events</vt:lpstr>
      <vt:lpstr>Problem</vt:lpstr>
      <vt:lpstr>Analysis</vt:lpstr>
      <vt:lpstr>Analysis</vt:lpstr>
      <vt:lpstr>Subject (Current Implementation)</vt:lpstr>
      <vt:lpstr>Subject/SubjectEvent</vt:lpstr>
      <vt:lpstr>SubjectEvent</vt:lpstr>
      <vt:lpstr>Subject/SubjectEvent</vt:lpstr>
      <vt:lpstr>WeatherData</vt:lpstr>
      <vt:lpstr>SubjectEvent + Observers</vt:lpstr>
      <vt:lpstr>SubjectEvent </vt:lpstr>
      <vt:lpstr>SubjectEvent</vt:lpstr>
      <vt:lpstr>Observer</vt:lpstr>
      <vt:lpstr>Observer</vt:lpstr>
      <vt:lpstr>CurrentConditionsDisplay</vt:lpstr>
      <vt:lpstr>Big Picture</vt:lpstr>
      <vt:lpstr>Client Code</vt:lpstr>
      <vt:lpstr>Not done yet..</vt:lpstr>
      <vt:lpstr>WeatherData (cont)</vt:lpstr>
      <vt:lpstr>ConcreteObserver</vt:lpstr>
      <vt:lpstr>Client Code</vt:lpstr>
      <vt:lpstr>Other Problems Arise..</vt:lpstr>
      <vt:lpstr>Change Manager</vt:lpstr>
      <vt:lpstr>Features of the Change Manager</vt:lpstr>
      <vt:lpstr>Addressing Problem #2</vt:lpstr>
      <vt:lpstr>Addressing Problem #2 (cont)</vt:lpstr>
      <vt:lpstr>Using Event Infrastructure</vt:lpstr>
      <vt:lpstr>Real World Examples</vt:lpstr>
      <vt:lpstr>Solution #1</vt:lpstr>
      <vt:lpstr>Problem #2</vt:lpstr>
      <vt:lpstr>Solution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Induwara Rajapaksha</cp:lastModifiedBy>
  <cp:revision>1672</cp:revision>
  <cp:lastPrinted>1601-01-01T00:00:00Z</cp:lastPrinted>
  <dcterms:created xsi:type="dcterms:W3CDTF">1601-01-01T00:00:00Z</dcterms:created>
  <dcterms:modified xsi:type="dcterms:W3CDTF">2023-11-21T21:04:19Z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